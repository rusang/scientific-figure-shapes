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MMER_B_banner"/>
          <p:cNvSpPr/>
          <p:nvPr/>
        </p:nvSpPr>
        <p:spPr>
          <a:xfrm>
            <a:off x="31750" y="31750"/>
            <a:ext cx="12128500" cy="476250"/>
          </a:xfrm>
          <a:prstGeom prst="roundRect">
            <a:avLst>
              <a:gd name="adj" fmla="val 18000"/>
            </a:avLst>
          </a:prstGeom>
          <a:solidFill>
            <a:srgbClr val="011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MMER_T_banner"/>
          <p:cNvSpPr txBox="1"/>
          <p:nvPr/>
        </p:nvSpPr>
        <p:spPr>
          <a:xfrm>
            <a:off x="79375" y="63500"/>
            <a:ext cx="12033250" cy="396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MPHF-Net 工业表面缺陷检测网络结构设计图</a:t>
            </a:r>
          </a:p>
        </p:txBody>
      </p:sp>
      <p:sp>
        <p:nvSpPr>
          <p:cNvPr id="4" name="SUMMER_E_panel_input"/>
          <p:cNvSpPr/>
          <p:nvPr/>
        </p:nvSpPr>
        <p:spPr>
          <a:xfrm>
            <a:off x="95250" y="619125"/>
            <a:ext cx="1571625" cy="3690937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MMER_E_panel_backbone"/>
          <p:cNvSpPr/>
          <p:nvPr/>
        </p:nvSpPr>
        <p:spPr>
          <a:xfrm>
            <a:off x="1793875" y="619125"/>
            <a:ext cx="2039937" cy="3690937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MMER_E_panel_neck"/>
          <p:cNvSpPr/>
          <p:nvPr/>
        </p:nvSpPr>
        <p:spPr>
          <a:xfrm>
            <a:off x="3944937" y="619125"/>
            <a:ext cx="4484687" cy="3690937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MMER_E_panel_head"/>
          <p:cNvSpPr/>
          <p:nvPr/>
        </p:nvSpPr>
        <p:spPr>
          <a:xfrm>
            <a:off x="8540750" y="619125"/>
            <a:ext cx="1992312" cy="3690937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MMER_E_panel_legend"/>
          <p:cNvSpPr/>
          <p:nvPr/>
        </p:nvSpPr>
        <p:spPr>
          <a:xfrm>
            <a:off x="10644187" y="619125"/>
            <a:ext cx="1436687" cy="3690937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MMER_T_input_title"/>
          <p:cNvSpPr txBox="1"/>
          <p:nvPr/>
        </p:nvSpPr>
        <p:spPr>
          <a:xfrm>
            <a:off x="95250" y="682625"/>
            <a:ext cx="1587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82C3C"/>
                </a:solidFill>
                <a:latin typeface="PingFang SC"/>
              </a:rPr>
              <a:t>输入图像</a:t>
            </a:r>
          </a:p>
        </p:txBody>
      </p:sp>
      <p:pic>
        <p:nvPicPr>
          <p:cNvPr id="10" name="SUMMER_R1_pcb" descr="01_R1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285875"/>
            <a:ext cx="1357312" cy="1936750"/>
          </a:xfrm>
          <a:prstGeom prst="rect">
            <a:avLst/>
          </a:prstGeom>
        </p:spPr>
      </p:pic>
      <p:sp>
        <p:nvSpPr>
          <p:cNvPr id="11" name="SUMMER_T_input_size"/>
          <p:cNvSpPr txBox="1"/>
          <p:nvPr/>
        </p:nvSpPr>
        <p:spPr>
          <a:xfrm>
            <a:off x="95250" y="3413125"/>
            <a:ext cx="1587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100" b="0">
                <a:solidFill>
                  <a:srgbClr val="282C3C"/>
                </a:solidFill>
                <a:latin typeface="PingFang SC"/>
              </a:rPr>
              <a:t>640 × 640 × 3</a:t>
            </a:r>
          </a:p>
        </p:txBody>
      </p:sp>
      <p:sp>
        <p:nvSpPr>
          <p:cNvPr id="12" name="SUMMER_T_backbone_title"/>
          <p:cNvSpPr txBox="1"/>
          <p:nvPr/>
        </p:nvSpPr>
        <p:spPr>
          <a:xfrm>
            <a:off x="1809750" y="682625"/>
            <a:ext cx="2047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550D8"/>
                </a:solidFill>
                <a:latin typeface="PingFang SC"/>
              </a:rPr>
              <a:t>Backbone: CSP-MEEM</a:t>
            </a:r>
          </a:p>
        </p:txBody>
      </p:sp>
      <p:sp>
        <p:nvSpPr>
          <p:cNvPr id="13" name="SUMMER_T_backbone_sub"/>
          <p:cNvSpPr txBox="1"/>
          <p:nvPr/>
        </p:nvSpPr>
        <p:spPr>
          <a:xfrm>
            <a:off x="1809750" y="857250"/>
            <a:ext cx="2047875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787E8C"/>
                </a:solidFill>
                <a:latin typeface="PingFang SC"/>
              </a:rPr>
              <a:t>多尺度细粒度特征提取</a:t>
            </a:r>
          </a:p>
        </p:txBody>
      </p:sp>
      <p:sp>
        <p:nvSpPr>
          <p:cNvPr id="14" name="SUMMER_E_bb1_top"/>
          <p:cNvSpPr/>
          <p:nvPr/>
        </p:nvSpPr>
        <p:spPr>
          <a:xfrm>
            <a:off x="2222500" y="1282700"/>
            <a:ext cx="368300" cy="63500"/>
          </a:xfrm>
          <a:custGeom>
            <a:avLst/>
            <a:gdLst/>
            <a:ahLst/>
            <a:cxnLst/>
            <a:rect l="l" t="t" r="r" b="b"/>
            <a:pathLst>
              <a:path w="29" h="5">
                <a:moveTo>
                  <a:pt x="0" y="5"/>
                </a:moveTo>
                <a:lnTo>
                  <a:pt x="5" y="0"/>
                </a:lnTo>
                <a:lnTo>
                  <a:pt x="29" y="0"/>
                </a:lnTo>
                <a:lnTo>
                  <a:pt x="24" y="5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UMMER_E_bb1_front"/>
          <p:cNvSpPr/>
          <p:nvPr/>
        </p:nvSpPr>
        <p:spPr>
          <a:xfrm>
            <a:off x="2222500" y="1346200"/>
            <a:ext cx="304800" cy="279400"/>
          </a:xfrm>
          <a:custGeom>
            <a:avLst/>
            <a:gdLst/>
            <a:ahLst/>
            <a:cxnLst/>
            <a:rect l="l" t="t" r="r" b="b"/>
            <a:pathLst>
              <a:path w="24" h="22">
                <a:moveTo>
                  <a:pt x="0" y="0"/>
                </a:moveTo>
                <a:lnTo>
                  <a:pt x="24" y="0"/>
                </a:lnTo>
                <a:lnTo>
                  <a:pt x="24" y="22"/>
                </a:lnTo>
                <a:lnTo>
                  <a:pt x="0" y="22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MMER_E_bb1_right"/>
          <p:cNvSpPr/>
          <p:nvPr/>
        </p:nvSpPr>
        <p:spPr>
          <a:xfrm>
            <a:off x="2527300" y="1282700"/>
            <a:ext cx="63500" cy="342900"/>
          </a:xfrm>
          <a:custGeom>
            <a:avLst/>
            <a:gdLst/>
            <a:ahLst/>
            <a:cxnLst/>
            <a:rect l="l" t="t" r="r" b="b"/>
            <a:pathLst>
              <a:path w="5" h="27">
                <a:moveTo>
                  <a:pt x="0" y="5"/>
                </a:moveTo>
                <a:lnTo>
                  <a:pt x="5" y="0"/>
                </a:lnTo>
                <a:lnTo>
                  <a:pt x="5" y="22"/>
                </a:lnTo>
                <a:lnTo>
                  <a:pt x="0" y="27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UMMER_E_bb2_top"/>
          <p:cNvSpPr/>
          <p:nvPr/>
        </p:nvSpPr>
        <p:spPr>
          <a:xfrm>
            <a:off x="2171700" y="1892300"/>
            <a:ext cx="482600" cy="127000"/>
          </a:xfrm>
          <a:custGeom>
            <a:avLst/>
            <a:gdLst/>
            <a:ahLst/>
            <a:cxnLst/>
            <a:rect l="l" t="t" r="r" b="b"/>
            <a:pathLst>
              <a:path w="38" h="10">
                <a:moveTo>
                  <a:pt x="0" y="10"/>
                </a:moveTo>
                <a:lnTo>
                  <a:pt x="10" y="0"/>
                </a:lnTo>
                <a:lnTo>
                  <a:pt x="38" y="0"/>
                </a:lnTo>
                <a:lnTo>
                  <a:pt x="29" y="10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UMMER_E_bb2_front"/>
          <p:cNvSpPr/>
          <p:nvPr/>
        </p:nvSpPr>
        <p:spPr>
          <a:xfrm>
            <a:off x="2171700" y="2019300"/>
            <a:ext cx="368300" cy="469900"/>
          </a:xfrm>
          <a:custGeom>
            <a:avLst/>
            <a:gdLst/>
            <a:ahLst/>
            <a:cxnLst/>
            <a:rect l="l" t="t" r="r" b="b"/>
            <a:pathLst>
              <a:path w="29" h="37">
                <a:moveTo>
                  <a:pt x="0" y="0"/>
                </a:moveTo>
                <a:lnTo>
                  <a:pt x="29" y="0"/>
                </a:lnTo>
                <a:lnTo>
                  <a:pt x="29" y="37"/>
                </a:lnTo>
                <a:lnTo>
                  <a:pt x="0" y="37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UMMER_E_bb2_right"/>
          <p:cNvSpPr/>
          <p:nvPr/>
        </p:nvSpPr>
        <p:spPr>
          <a:xfrm>
            <a:off x="2540000" y="1892300"/>
            <a:ext cx="114300" cy="596900"/>
          </a:xfrm>
          <a:custGeom>
            <a:avLst/>
            <a:gdLst/>
            <a:ahLst/>
            <a:cxnLst/>
            <a:rect l="l" t="t" r="r" b="b"/>
            <a:pathLst>
              <a:path w="9" h="47">
                <a:moveTo>
                  <a:pt x="0" y="10"/>
                </a:moveTo>
                <a:lnTo>
                  <a:pt x="9" y="0"/>
                </a:lnTo>
                <a:lnTo>
                  <a:pt x="9" y="38"/>
                </a:lnTo>
                <a:lnTo>
                  <a:pt x="0" y="47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UMMER_E_bb3_top"/>
          <p:cNvSpPr/>
          <p:nvPr/>
        </p:nvSpPr>
        <p:spPr>
          <a:xfrm>
            <a:off x="2095500" y="2311400"/>
            <a:ext cx="647700" cy="165100"/>
          </a:xfrm>
          <a:custGeom>
            <a:avLst/>
            <a:gdLst/>
            <a:ahLst/>
            <a:cxnLst/>
            <a:rect l="l" t="t" r="r" b="b"/>
            <a:pathLst>
              <a:path w="51" h="13">
                <a:moveTo>
                  <a:pt x="0" y="13"/>
                </a:moveTo>
                <a:lnTo>
                  <a:pt x="13" y="0"/>
                </a:lnTo>
                <a:lnTo>
                  <a:pt x="51" y="0"/>
                </a:lnTo>
                <a:lnTo>
                  <a:pt x="37" y="13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UMMER_E_bb3_front"/>
          <p:cNvSpPr/>
          <p:nvPr/>
        </p:nvSpPr>
        <p:spPr>
          <a:xfrm>
            <a:off x="2095500" y="247650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37" h="37">
                <a:moveTo>
                  <a:pt x="0" y="0"/>
                </a:moveTo>
                <a:lnTo>
                  <a:pt x="37" y="0"/>
                </a:lnTo>
                <a:lnTo>
                  <a:pt x="37" y="37"/>
                </a:lnTo>
                <a:lnTo>
                  <a:pt x="0" y="37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UMMER_E_bb3_right"/>
          <p:cNvSpPr/>
          <p:nvPr/>
        </p:nvSpPr>
        <p:spPr>
          <a:xfrm>
            <a:off x="2565400" y="2311400"/>
            <a:ext cx="177800" cy="635000"/>
          </a:xfrm>
          <a:custGeom>
            <a:avLst/>
            <a:gdLst/>
            <a:ahLst/>
            <a:cxnLst/>
            <a:rect l="l" t="t" r="r" b="b"/>
            <a:pathLst>
              <a:path w="14" h="50">
                <a:moveTo>
                  <a:pt x="0" y="13"/>
                </a:moveTo>
                <a:lnTo>
                  <a:pt x="14" y="0"/>
                </a:lnTo>
                <a:lnTo>
                  <a:pt x="14" y="37"/>
                </a:lnTo>
                <a:lnTo>
                  <a:pt x="0" y="50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UMMER_E_bb4_top"/>
          <p:cNvSpPr/>
          <p:nvPr/>
        </p:nvSpPr>
        <p:spPr>
          <a:xfrm>
            <a:off x="1981200" y="2781300"/>
            <a:ext cx="762000" cy="215900"/>
          </a:xfrm>
          <a:custGeom>
            <a:avLst/>
            <a:gdLst/>
            <a:ahLst/>
            <a:cxnLst/>
            <a:rect l="l" t="t" r="r" b="b"/>
            <a:pathLst>
              <a:path w="60" h="17">
                <a:moveTo>
                  <a:pt x="0" y="17"/>
                </a:moveTo>
                <a:lnTo>
                  <a:pt x="17" y="0"/>
                </a:lnTo>
                <a:lnTo>
                  <a:pt x="60" y="0"/>
                </a:lnTo>
                <a:lnTo>
                  <a:pt x="43" y="17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UMMER_E_bb4_front"/>
          <p:cNvSpPr/>
          <p:nvPr/>
        </p:nvSpPr>
        <p:spPr>
          <a:xfrm>
            <a:off x="1981200" y="2997200"/>
            <a:ext cx="546100" cy="495300"/>
          </a:xfrm>
          <a:custGeom>
            <a:avLst/>
            <a:gdLst/>
            <a:ahLst/>
            <a:cxnLst/>
            <a:rect l="l" t="t" r="r" b="b"/>
            <a:pathLst>
              <a:path w="43" h="39">
                <a:moveTo>
                  <a:pt x="0" y="0"/>
                </a:moveTo>
                <a:lnTo>
                  <a:pt x="43" y="0"/>
                </a:lnTo>
                <a:lnTo>
                  <a:pt x="43" y="39"/>
                </a:lnTo>
                <a:lnTo>
                  <a:pt x="0" y="39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UMMER_E_bb4_right"/>
          <p:cNvSpPr/>
          <p:nvPr/>
        </p:nvSpPr>
        <p:spPr>
          <a:xfrm>
            <a:off x="2527300" y="2781300"/>
            <a:ext cx="215900" cy="711200"/>
          </a:xfrm>
          <a:custGeom>
            <a:avLst/>
            <a:gdLst/>
            <a:ahLst/>
            <a:cxnLst/>
            <a:rect l="l" t="t" r="r" b="b"/>
            <a:pathLst>
              <a:path w="17" h="56">
                <a:moveTo>
                  <a:pt x="0" y="17"/>
                </a:moveTo>
                <a:lnTo>
                  <a:pt x="17" y="0"/>
                </a:lnTo>
                <a:lnTo>
                  <a:pt x="17" y="39"/>
                </a:lnTo>
                <a:lnTo>
                  <a:pt x="0" y="56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UMMER_T_backbone_dots"/>
          <p:cNvSpPr txBox="1"/>
          <p:nvPr/>
        </p:nvSpPr>
        <p:spPr>
          <a:xfrm>
            <a:off x="2143125" y="3587750"/>
            <a:ext cx="31750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100" b="1">
                <a:solidFill>
                  <a:srgbClr val="787E8C"/>
                </a:solidFill>
                <a:latin typeface="PingFang SC"/>
              </a:rPr>
              <a:t>⋮</a:t>
            </a:r>
          </a:p>
        </p:txBody>
      </p:sp>
      <p:sp>
        <p:nvSpPr>
          <p:cNvPr id="27" name="SUMMER_E_bb_c5"/>
          <p:cNvSpPr/>
          <p:nvPr/>
        </p:nvSpPr>
        <p:spPr>
          <a:xfrm>
            <a:off x="3135312" y="1587500"/>
            <a:ext cx="484187" cy="428625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270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UMMER_T_bb_c5"/>
          <p:cNvSpPr txBox="1"/>
          <p:nvPr/>
        </p:nvSpPr>
        <p:spPr>
          <a:xfrm>
            <a:off x="3135312" y="1619250"/>
            <a:ext cx="484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C5</a:t>
            </a:r>
          </a:p>
        </p:txBody>
      </p:sp>
      <p:sp>
        <p:nvSpPr>
          <p:cNvPr id="29" name="SUMMER_T_bb_c5_dim"/>
          <p:cNvSpPr txBox="1"/>
          <p:nvPr/>
        </p:nvSpPr>
        <p:spPr>
          <a:xfrm>
            <a:off x="3135312" y="1809750"/>
            <a:ext cx="484187" cy="1746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  <a:latin typeface="PingFang SC"/>
              </a:rPr>
              <a:t>20×C</a:t>
            </a:r>
          </a:p>
        </p:txBody>
      </p:sp>
      <p:cxnSp>
        <p:nvCxnSpPr>
          <p:cNvPr id="30" name="SUMMER_L_bb_to_spine"/>
          <p:cNvCxnSpPr/>
          <p:nvPr/>
        </p:nvCxnSpPr>
        <p:spPr>
          <a:xfrm>
            <a:off x="2595562" y="1452562"/>
            <a:ext cx="349250" cy="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UMMER_L_bb_output_spine"/>
          <p:cNvCxnSpPr/>
          <p:nvPr/>
        </p:nvCxnSpPr>
        <p:spPr>
          <a:xfrm>
            <a:off x="2944812" y="1452562"/>
            <a:ext cx="0" cy="1833563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UMMER_L_bb_down_1"/>
          <p:cNvCxnSpPr/>
          <p:nvPr/>
        </p:nvCxnSpPr>
        <p:spPr>
          <a:xfrm>
            <a:off x="2413000" y="1627187"/>
            <a:ext cx="0" cy="269875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UMMER_L_bb_down_2"/>
          <p:cNvCxnSpPr/>
          <p:nvPr/>
        </p:nvCxnSpPr>
        <p:spPr>
          <a:xfrm>
            <a:off x="2413000" y="2381250"/>
            <a:ext cx="0" cy="190500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UMMER_L_bb_down_3"/>
          <p:cNvCxnSpPr/>
          <p:nvPr/>
        </p:nvCxnSpPr>
        <p:spPr>
          <a:xfrm>
            <a:off x="2413000" y="2786062"/>
            <a:ext cx="0" cy="230188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UMMER_L_bb_to_c5"/>
          <p:cNvCxnSpPr/>
          <p:nvPr/>
        </p:nvCxnSpPr>
        <p:spPr>
          <a:xfrm>
            <a:off x="2944812" y="1801812"/>
            <a:ext cx="1905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MMER_E_bb_c4"/>
          <p:cNvSpPr/>
          <p:nvPr/>
        </p:nvSpPr>
        <p:spPr>
          <a:xfrm>
            <a:off x="3135312" y="2333625"/>
            <a:ext cx="484187" cy="428625"/>
          </a:xfrm>
          <a:prstGeom prst="roundRect">
            <a:avLst>
              <a:gd name="adj" fmla="val 8000"/>
            </a:avLst>
          </a:prstGeom>
          <a:solidFill>
            <a:srgbClr val="F5FCF2"/>
          </a:solidFill>
          <a:ln w="1270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MMER_T_bb_c4"/>
          <p:cNvSpPr txBox="1"/>
          <p:nvPr/>
        </p:nvSpPr>
        <p:spPr>
          <a:xfrm>
            <a:off x="3135312" y="2365375"/>
            <a:ext cx="484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1C9454"/>
                </a:solidFill>
                <a:latin typeface="PingFang SC"/>
              </a:rPr>
              <a:t>C4</a:t>
            </a:r>
          </a:p>
        </p:txBody>
      </p:sp>
      <p:sp>
        <p:nvSpPr>
          <p:cNvPr id="38" name="SUMMER_T_bb_c4_dim"/>
          <p:cNvSpPr txBox="1"/>
          <p:nvPr/>
        </p:nvSpPr>
        <p:spPr>
          <a:xfrm>
            <a:off x="3135312" y="2555875"/>
            <a:ext cx="484187" cy="1746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1C9454"/>
                </a:solidFill>
                <a:latin typeface="PingFang SC"/>
              </a:rPr>
              <a:t>40×C</a:t>
            </a:r>
          </a:p>
        </p:txBody>
      </p:sp>
      <p:cxnSp>
        <p:nvCxnSpPr>
          <p:cNvPr id="39" name="SUMMER_L_bb_to_c4"/>
          <p:cNvCxnSpPr/>
          <p:nvPr/>
        </p:nvCxnSpPr>
        <p:spPr>
          <a:xfrm>
            <a:off x="2944812" y="2547937"/>
            <a:ext cx="1905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MMER_E_bb_c3"/>
          <p:cNvSpPr/>
          <p:nvPr/>
        </p:nvSpPr>
        <p:spPr>
          <a:xfrm>
            <a:off x="3135312" y="3071812"/>
            <a:ext cx="484187" cy="428625"/>
          </a:xfrm>
          <a:prstGeom prst="roundRect">
            <a:avLst>
              <a:gd name="adj" fmla="val 8000"/>
            </a:avLst>
          </a:prstGeom>
          <a:solidFill>
            <a:srgbClr val="FFF8F3"/>
          </a:solidFill>
          <a:ln w="1270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MMER_T_bb_c3"/>
          <p:cNvSpPr txBox="1"/>
          <p:nvPr/>
        </p:nvSpPr>
        <p:spPr>
          <a:xfrm>
            <a:off x="3135312" y="3103562"/>
            <a:ext cx="484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C3</a:t>
            </a:r>
          </a:p>
        </p:txBody>
      </p:sp>
      <p:sp>
        <p:nvSpPr>
          <p:cNvPr id="42" name="SUMMER_T_bb_c3_dim"/>
          <p:cNvSpPr txBox="1"/>
          <p:nvPr/>
        </p:nvSpPr>
        <p:spPr>
          <a:xfrm>
            <a:off x="3135312" y="3294062"/>
            <a:ext cx="484187" cy="1746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  <a:latin typeface="PingFang SC"/>
              </a:rPr>
              <a:t>80×C</a:t>
            </a:r>
          </a:p>
        </p:txBody>
      </p:sp>
      <p:cxnSp>
        <p:nvCxnSpPr>
          <p:cNvPr id="43" name="SUMMER_L_bb_to_c3"/>
          <p:cNvCxnSpPr/>
          <p:nvPr/>
        </p:nvCxnSpPr>
        <p:spPr>
          <a:xfrm>
            <a:off x="2944812" y="3286125"/>
            <a:ext cx="1905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UMMER_E_bb_outbar"/>
          <p:cNvSpPr/>
          <p:nvPr/>
        </p:nvSpPr>
        <p:spPr>
          <a:xfrm>
            <a:off x="1905000" y="3968750"/>
            <a:ext cx="1714500" cy="254000"/>
          </a:xfrm>
          <a:prstGeom prst="roundRect">
            <a:avLst>
              <a:gd name="adj" fmla="val 8000"/>
            </a:avLst>
          </a:prstGeom>
          <a:solidFill>
            <a:srgbClr val="EBF1FF"/>
          </a:solidFill>
          <a:ln w="12700">
            <a:solidFill>
              <a:srgbClr val="D6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UMMER_T_bb_outbar"/>
          <p:cNvSpPr txBox="1"/>
          <p:nvPr/>
        </p:nvSpPr>
        <p:spPr>
          <a:xfrm>
            <a:off x="1905000" y="4000500"/>
            <a:ext cx="1714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  <a:latin typeface="PingFang SC"/>
              </a:rPr>
              <a:t>输出多尺度特征</a:t>
            </a:r>
          </a:p>
        </p:txBody>
      </p:sp>
      <p:sp>
        <p:nvSpPr>
          <p:cNvPr id="46" name="SUMMER_T_neck_title"/>
          <p:cNvSpPr txBox="1"/>
          <p:nvPr/>
        </p:nvSpPr>
        <p:spPr>
          <a:xfrm>
            <a:off x="3952875" y="682625"/>
            <a:ext cx="455612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C9454"/>
                </a:solidFill>
                <a:latin typeface="PingFang SC"/>
              </a:rPr>
              <a:t>Neck: FPN-PAN （LOSC + CGAFusion）</a:t>
            </a:r>
          </a:p>
        </p:txBody>
      </p:sp>
      <p:sp>
        <p:nvSpPr>
          <p:cNvPr id="47" name="SUMMER_E_neck_td"/>
          <p:cNvSpPr/>
          <p:nvPr/>
        </p:nvSpPr>
        <p:spPr>
          <a:xfrm>
            <a:off x="4286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DA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UMMER_T_neck_td"/>
          <p:cNvSpPr txBox="1"/>
          <p:nvPr/>
        </p:nvSpPr>
        <p:spPr>
          <a:xfrm>
            <a:off x="4286250" y="944562"/>
            <a:ext cx="10318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1">
                <a:solidFill>
                  <a:srgbClr val="282C3C"/>
                </a:solidFill>
                <a:latin typeface="PingFang SC"/>
              </a:rPr>
              <a:t>Top-Down 路径</a:t>
            </a:r>
          </a:p>
        </p:txBody>
      </p:sp>
      <p:sp>
        <p:nvSpPr>
          <p:cNvPr id="49" name="SUMMER_E_neck_bu"/>
          <p:cNvSpPr/>
          <p:nvPr/>
        </p:nvSpPr>
        <p:spPr>
          <a:xfrm>
            <a:off x="6572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DA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UMMER_T_neck_bu"/>
          <p:cNvSpPr txBox="1"/>
          <p:nvPr/>
        </p:nvSpPr>
        <p:spPr>
          <a:xfrm>
            <a:off x="6572250" y="944562"/>
            <a:ext cx="10318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1">
                <a:solidFill>
                  <a:srgbClr val="282C3C"/>
                </a:solidFill>
                <a:latin typeface="PingFang SC"/>
              </a:rPr>
              <a:t>Bottom-Up 路径</a:t>
            </a:r>
          </a:p>
        </p:txBody>
      </p:sp>
      <p:sp>
        <p:nvSpPr>
          <p:cNvPr id="51" name="SUMMER_E_neck_c5"/>
          <p:cNvSpPr/>
          <p:nvPr/>
        </p:nvSpPr>
        <p:spPr>
          <a:xfrm>
            <a:off x="4445000" y="1206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UMMER_T_neck_c5"/>
          <p:cNvSpPr txBox="1"/>
          <p:nvPr/>
        </p:nvSpPr>
        <p:spPr>
          <a:xfrm>
            <a:off x="4445000" y="1238250"/>
            <a:ext cx="3175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  <a:latin typeface="PingFang SC"/>
              </a:rPr>
              <a:t>C5</a:t>
            </a:r>
          </a:p>
        </p:txBody>
      </p:sp>
      <p:sp>
        <p:nvSpPr>
          <p:cNvPr id="53" name="SUMMER_E_neck_c4"/>
          <p:cNvSpPr/>
          <p:nvPr/>
        </p:nvSpPr>
        <p:spPr>
          <a:xfrm>
            <a:off x="4000500" y="2111375"/>
            <a:ext cx="317500" cy="222250"/>
          </a:xfrm>
          <a:prstGeom prst="roundRect">
            <a:avLst>
              <a:gd name="adj" fmla="val 8000"/>
            </a:avLst>
          </a:prstGeom>
          <a:solidFill>
            <a:srgbClr val="EEF9E9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UMMER_T_neck_c4"/>
          <p:cNvSpPr txBox="1"/>
          <p:nvPr/>
        </p:nvSpPr>
        <p:spPr>
          <a:xfrm>
            <a:off x="4000500" y="2143125"/>
            <a:ext cx="3175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1">
                <a:solidFill>
                  <a:srgbClr val="1C9454"/>
                </a:solidFill>
                <a:latin typeface="PingFang SC"/>
              </a:rPr>
              <a:t>C4</a:t>
            </a:r>
          </a:p>
        </p:txBody>
      </p:sp>
      <p:sp>
        <p:nvSpPr>
          <p:cNvPr id="55" name="SUMMER_E_neck_c3"/>
          <p:cNvSpPr/>
          <p:nvPr/>
        </p:nvSpPr>
        <p:spPr>
          <a:xfrm>
            <a:off x="4000500" y="3238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FEFE0"/>
          </a:solidFill>
          <a:ln w="1143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UMMER_T_neck_c3"/>
          <p:cNvSpPr txBox="1"/>
          <p:nvPr/>
        </p:nvSpPr>
        <p:spPr>
          <a:xfrm>
            <a:off x="4000500" y="3270250"/>
            <a:ext cx="3175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1">
                <a:solidFill>
                  <a:srgbClr val="E03A26"/>
                </a:solidFill>
                <a:latin typeface="PingFang SC"/>
              </a:rPr>
              <a:t>C3</a:t>
            </a:r>
          </a:p>
        </p:txBody>
      </p:sp>
      <p:sp>
        <p:nvSpPr>
          <p:cNvPr id="57" name="SUMMER_E_neck_up1"/>
          <p:cNvSpPr/>
          <p:nvPr/>
        </p:nvSpPr>
        <p:spPr>
          <a:xfrm>
            <a:off x="4460875" y="1603375"/>
            <a:ext cx="317500" cy="317500"/>
          </a:xfrm>
          <a:prstGeom prst="ellipse">
            <a:avLst/>
          </a:prstGeom>
          <a:solidFill>
            <a:srgbClr val="D1C1F6"/>
          </a:solidFill>
          <a:ln w="10160">
            <a:solidFill>
              <a:srgbClr val="693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UMMER_E_neck_up1_text"/>
          <p:cNvSpPr txBox="1"/>
          <p:nvPr/>
        </p:nvSpPr>
        <p:spPr>
          <a:xfrm>
            <a:off x="4460875" y="1603375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59" name="SUMMER_E_neck_up2"/>
          <p:cNvSpPr/>
          <p:nvPr/>
        </p:nvSpPr>
        <p:spPr>
          <a:xfrm>
            <a:off x="4460875" y="2571750"/>
            <a:ext cx="317500" cy="317500"/>
          </a:xfrm>
          <a:prstGeom prst="ellipse">
            <a:avLst/>
          </a:prstGeom>
          <a:solidFill>
            <a:srgbClr val="D1C1F6"/>
          </a:solidFill>
          <a:ln w="10160">
            <a:solidFill>
              <a:srgbClr val="693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UMMER_E_neck_up2_text"/>
          <p:cNvSpPr txBox="1"/>
          <p:nvPr/>
        </p:nvSpPr>
        <p:spPr>
          <a:xfrm>
            <a:off x="4460875" y="257175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61" name="SUMMER_E_neck_add_td1"/>
          <p:cNvSpPr/>
          <p:nvPr/>
        </p:nvSpPr>
        <p:spPr>
          <a:xfrm>
            <a:off x="4460875" y="2063750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UMMER_E_neck_add_td1_text"/>
          <p:cNvSpPr txBox="1"/>
          <p:nvPr/>
        </p:nvSpPr>
        <p:spPr>
          <a:xfrm>
            <a:off x="4460875" y="206375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63" name="SUMMER_E_neck_add_td2"/>
          <p:cNvSpPr/>
          <p:nvPr/>
        </p:nvSpPr>
        <p:spPr>
          <a:xfrm>
            <a:off x="4460875" y="3175000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UMMER_E_neck_add_td2_text"/>
          <p:cNvSpPr txBox="1"/>
          <p:nvPr/>
        </p:nvSpPr>
        <p:spPr>
          <a:xfrm>
            <a:off x="4460875" y="317500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65" name="SUMMER_E_neck_fusion1"/>
          <p:cNvSpPr/>
          <p:nvPr/>
        </p:nvSpPr>
        <p:spPr>
          <a:xfrm>
            <a:off x="5159375" y="210343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UMMER_T_neck_fusion1"/>
          <p:cNvSpPr txBox="1"/>
          <p:nvPr/>
        </p:nvSpPr>
        <p:spPr>
          <a:xfrm>
            <a:off x="5159375" y="2143125"/>
            <a:ext cx="73025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67" name="SUMMER_E_neck_fusion2"/>
          <p:cNvSpPr/>
          <p:nvPr/>
        </p:nvSpPr>
        <p:spPr>
          <a:xfrm>
            <a:off x="5159375" y="321468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UMMER_T_neck_fusion2"/>
          <p:cNvSpPr txBox="1"/>
          <p:nvPr/>
        </p:nvSpPr>
        <p:spPr>
          <a:xfrm>
            <a:off x="5159375" y="3254375"/>
            <a:ext cx="73025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69" name="SUMMER_E_neck_add_p5"/>
          <p:cNvSpPr/>
          <p:nvPr/>
        </p:nvSpPr>
        <p:spPr>
          <a:xfrm>
            <a:off x="6921500" y="1285875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UMMER_E_neck_add_p5_text"/>
          <p:cNvSpPr txBox="1"/>
          <p:nvPr/>
        </p:nvSpPr>
        <p:spPr>
          <a:xfrm>
            <a:off x="6921500" y="1285875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71" name="SUMMER_E_neck_add_p4"/>
          <p:cNvSpPr/>
          <p:nvPr/>
        </p:nvSpPr>
        <p:spPr>
          <a:xfrm>
            <a:off x="6921500" y="2555875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UMMER_E_neck_add_p4_text"/>
          <p:cNvSpPr txBox="1"/>
          <p:nvPr/>
        </p:nvSpPr>
        <p:spPr>
          <a:xfrm>
            <a:off x="6921500" y="2555875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73" name="SUMMER_E_neck_add_p3"/>
          <p:cNvSpPr/>
          <p:nvPr/>
        </p:nvSpPr>
        <p:spPr>
          <a:xfrm>
            <a:off x="6921500" y="3556000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UMMER_E_neck_add_p3_text"/>
          <p:cNvSpPr txBox="1"/>
          <p:nvPr/>
        </p:nvSpPr>
        <p:spPr>
          <a:xfrm>
            <a:off x="6921500" y="355600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75" name="SUMMER_E_neck_down1"/>
          <p:cNvSpPr/>
          <p:nvPr/>
        </p:nvSpPr>
        <p:spPr>
          <a:xfrm>
            <a:off x="6921500" y="1762125"/>
            <a:ext cx="317500" cy="31750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UMMER_E_neck_down1_text"/>
          <p:cNvSpPr txBox="1"/>
          <p:nvPr/>
        </p:nvSpPr>
        <p:spPr>
          <a:xfrm>
            <a:off x="6921500" y="1762125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77" name="SUMMER_E_neck_down2"/>
          <p:cNvSpPr/>
          <p:nvPr/>
        </p:nvSpPr>
        <p:spPr>
          <a:xfrm>
            <a:off x="6921500" y="3048000"/>
            <a:ext cx="317500" cy="31750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UMMER_E_neck_down2_text"/>
          <p:cNvSpPr txBox="1"/>
          <p:nvPr/>
        </p:nvSpPr>
        <p:spPr>
          <a:xfrm>
            <a:off x="6921500" y="304800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79" name="SUMMER_E_neck_losc"/>
          <p:cNvSpPr/>
          <p:nvPr/>
        </p:nvSpPr>
        <p:spPr>
          <a:xfrm>
            <a:off x="6794500" y="2286000"/>
            <a:ext cx="571500" cy="206375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524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UMMER_T_neck_losc"/>
          <p:cNvSpPr txBox="1"/>
          <p:nvPr/>
        </p:nvSpPr>
        <p:spPr>
          <a:xfrm>
            <a:off x="6794500" y="2309812"/>
            <a:ext cx="5715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1">
                <a:solidFill>
                  <a:srgbClr val="CE5A1E"/>
                </a:solidFill>
                <a:latin typeface="PingFang SC"/>
              </a:rPr>
              <a:t>LOSC</a:t>
            </a:r>
          </a:p>
        </p:txBody>
      </p:sp>
      <p:sp>
        <p:nvSpPr>
          <p:cNvPr id="81" name="SUMMER_E_neck_p5_top"/>
          <p:cNvSpPr/>
          <p:nvPr/>
        </p:nvSpPr>
        <p:spPr>
          <a:xfrm>
            <a:off x="7721600" y="12827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0" h="5">
                <a:moveTo>
                  <a:pt x="0" y="5"/>
                </a:moveTo>
                <a:lnTo>
                  <a:pt x="4" y="0"/>
                </a:lnTo>
                <a:lnTo>
                  <a:pt x="20" y="0"/>
                </a:lnTo>
                <a:lnTo>
                  <a:pt x="14" y="5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UMMER_E_neck_p5_front"/>
          <p:cNvSpPr/>
          <p:nvPr/>
        </p:nvSpPr>
        <p:spPr>
          <a:xfrm>
            <a:off x="7721600" y="13462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14" h="20">
                <a:moveTo>
                  <a:pt x="0" y="0"/>
                </a:moveTo>
                <a:lnTo>
                  <a:pt x="14" y="0"/>
                </a:lnTo>
                <a:lnTo>
                  <a:pt x="14" y="20"/>
                </a:lnTo>
                <a:lnTo>
                  <a:pt x="0" y="20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UMMER_E_neck_p5_right"/>
          <p:cNvSpPr/>
          <p:nvPr/>
        </p:nvSpPr>
        <p:spPr>
          <a:xfrm>
            <a:off x="7899400" y="1282700"/>
            <a:ext cx="76200" cy="317500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5"/>
                </a:moveTo>
                <a:lnTo>
                  <a:pt x="6" y="0"/>
                </a:lnTo>
                <a:lnTo>
                  <a:pt x="6" y="20"/>
                </a:lnTo>
                <a:lnTo>
                  <a:pt x="0" y="25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UMMER_T_neck_p5"/>
          <p:cNvSpPr txBox="1"/>
          <p:nvPr/>
        </p:nvSpPr>
        <p:spPr>
          <a:xfrm>
            <a:off x="8032750" y="1222375"/>
            <a:ext cx="41275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P5</a:t>
            </a:r>
          </a:p>
        </p:txBody>
      </p:sp>
      <p:sp>
        <p:nvSpPr>
          <p:cNvPr id="85" name="SUMMER_T_neck_p5_dim"/>
          <p:cNvSpPr txBox="1"/>
          <p:nvPr/>
        </p:nvSpPr>
        <p:spPr>
          <a:xfrm>
            <a:off x="8032750" y="1365250"/>
            <a:ext cx="412750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  <a:latin typeface="PingFang SC"/>
              </a:rPr>
              <a:t>20×C</a:t>
            </a:r>
          </a:p>
        </p:txBody>
      </p:sp>
      <p:sp>
        <p:nvSpPr>
          <p:cNvPr id="86" name="SUMMER_E_neck_p4_top"/>
          <p:cNvSpPr/>
          <p:nvPr/>
        </p:nvSpPr>
        <p:spPr>
          <a:xfrm>
            <a:off x="7721600" y="25146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0" h="5">
                <a:moveTo>
                  <a:pt x="0" y="5"/>
                </a:moveTo>
                <a:lnTo>
                  <a:pt x="4" y="0"/>
                </a:lnTo>
                <a:lnTo>
                  <a:pt x="20" y="0"/>
                </a:lnTo>
                <a:lnTo>
                  <a:pt x="14" y="5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UMMER_E_neck_p4_front"/>
          <p:cNvSpPr/>
          <p:nvPr/>
        </p:nvSpPr>
        <p:spPr>
          <a:xfrm>
            <a:off x="7721600" y="2578100"/>
            <a:ext cx="177800" cy="241300"/>
          </a:xfrm>
          <a:custGeom>
            <a:avLst/>
            <a:gdLst/>
            <a:ahLst/>
            <a:cxnLst/>
            <a:rect l="l" t="t" r="r" b="b"/>
            <a:pathLst>
              <a:path w="14" h="19">
                <a:moveTo>
                  <a:pt x="0" y="0"/>
                </a:moveTo>
                <a:lnTo>
                  <a:pt x="14" y="0"/>
                </a:lnTo>
                <a:lnTo>
                  <a:pt x="14" y="19"/>
                </a:lnTo>
                <a:lnTo>
                  <a:pt x="0" y="19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UMMER_E_neck_p4_right"/>
          <p:cNvSpPr/>
          <p:nvPr/>
        </p:nvSpPr>
        <p:spPr>
          <a:xfrm>
            <a:off x="7899400" y="25146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6" h="24">
                <a:moveTo>
                  <a:pt x="0" y="5"/>
                </a:moveTo>
                <a:lnTo>
                  <a:pt x="6" y="0"/>
                </a:lnTo>
                <a:lnTo>
                  <a:pt x="6" y="20"/>
                </a:lnTo>
                <a:lnTo>
                  <a:pt x="0" y="24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UMMER_T_neck_p4"/>
          <p:cNvSpPr txBox="1"/>
          <p:nvPr/>
        </p:nvSpPr>
        <p:spPr>
          <a:xfrm>
            <a:off x="8032750" y="2492375"/>
            <a:ext cx="41275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1C9454"/>
                </a:solidFill>
                <a:latin typeface="PingFang SC"/>
              </a:rPr>
              <a:t>P4</a:t>
            </a:r>
          </a:p>
        </p:txBody>
      </p:sp>
      <p:sp>
        <p:nvSpPr>
          <p:cNvPr id="90" name="SUMMER_T_neck_p4_dim"/>
          <p:cNvSpPr txBox="1"/>
          <p:nvPr/>
        </p:nvSpPr>
        <p:spPr>
          <a:xfrm>
            <a:off x="8032750" y="2635250"/>
            <a:ext cx="412750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1C9454"/>
                </a:solidFill>
                <a:latin typeface="PingFang SC"/>
              </a:rPr>
              <a:t>40×C</a:t>
            </a:r>
          </a:p>
        </p:txBody>
      </p:sp>
      <p:sp>
        <p:nvSpPr>
          <p:cNvPr id="91" name="SUMMER_E_neck_p3_top"/>
          <p:cNvSpPr/>
          <p:nvPr/>
        </p:nvSpPr>
        <p:spPr>
          <a:xfrm>
            <a:off x="7721600" y="35306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4"/>
                </a:moveTo>
                <a:lnTo>
                  <a:pt x="4" y="0"/>
                </a:lnTo>
                <a:lnTo>
                  <a:pt x="20" y="0"/>
                </a:lnTo>
                <a:lnTo>
                  <a:pt x="14" y="4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MER_E_neck_p3_front"/>
          <p:cNvSpPr/>
          <p:nvPr/>
        </p:nvSpPr>
        <p:spPr>
          <a:xfrm>
            <a:off x="7721600" y="3581400"/>
            <a:ext cx="177800" cy="241300"/>
          </a:xfrm>
          <a:custGeom>
            <a:avLst/>
            <a:gdLst/>
            <a:ahLst/>
            <a:cxnLst/>
            <a:rect l="l" t="t" r="r" b="b"/>
            <a:pathLst>
              <a:path w="14" h="19">
                <a:moveTo>
                  <a:pt x="0" y="0"/>
                </a:moveTo>
                <a:lnTo>
                  <a:pt x="14" y="0"/>
                </a:lnTo>
                <a:lnTo>
                  <a:pt x="14" y="19"/>
                </a:lnTo>
                <a:lnTo>
                  <a:pt x="0" y="19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UMMER_E_neck_p3_right"/>
          <p:cNvSpPr/>
          <p:nvPr/>
        </p:nvSpPr>
        <p:spPr>
          <a:xfrm>
            <a:off x="7899400" y="35306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6" h="23">
                <a:moveTo>
                  <a:pt x="0" y="4"/>
                </a:moveTo>
                <a:lnTo>
                  <a:pt x="6" y="0"/>
                </a:lnTo>
                <a:lnTo>
                  <a:pt x="6" y="18"/>
                </a:lnTo>
                <a:lnTo>
                  <a:pt x="0" y="23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UMMER_T_neck_p3"/>
          <p:cNvSpPr txBox="1"/>
          <p:nvPr/>
        </p:nvSpPr>
        <p:spPr>
          <a:xfrm>
            <a:off x="8032750" y="3492500"/>
            <a:ext cx="41275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P3</a:t>
            </a:r>
          </a:p>
        </p:txBody>
      </p:sp>
      <p:sp>
        <p:nvSpPr>
          <p:cNvPr id="95" name="SUMMER_T_neck_p3_dim"/>
          <p:cNvSpPr txBox="1"/>
          <p:nvPr/>
        </p:nvSpPr>
        <p:spPr>
          <a:xfrm>
            <a:off x="8032750" y="3635375"/>
            <a:ext cx="412750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  <a:latin typeface="PingFang SC"/>
              </a:rPr>
              <a:t>80×C</a:t>
            </a:r>
          </a:p>
        </p:txBody>
      </p:sp>
      <p:cxnSp>
        <p:nvCxnSpPr>
          <p:cNvPr id="96" name="SUMMER_L_neck_c5_up"/>
          <p:cNvCxnSpPr/>
          <p:nvPr/>
        </p:nvCxnSpPr>
        <p:spPr>
          <a:xfrm flipH="1" flipV="1">
            <a:off x="4603750" y="1428750"/>
            <a:ext cx="15875" cy="174625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UMMER_L_neck_up1_add"/>
          <p:cNvCxnSpPr/>
          <p:nvPr/>
        </p:nvCxnSpPr>
        <p:spPr>
          <a:xfrm>
            <a:off x="4619625" y="1920875"/>
            <a:ext cx="0" cy="142875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UMMER_L_neck_c4_add"/>
          <p:cNvCxnSpPr/>
          <p:nvPr/>
        </p:nvCxnSpPr>
        <p:spPr>
          <a:xfrm flipH="1">
            <a:off x="4318000" y="2222500"/>
            <a:ext cx="127000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UMMER_L_neck_add1_fusion"/>
          <p:cNvCxnSpPr/>
          <p:nvPr/>
        </p:nvCxnSpPr>
        <p:spPr>
          <a:xfrm>
            <a:off x="4794250" y="2222500"/>
            <a:ext cx="365125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UMMER_L_neck_up2_add"/>
          <p:cNvCxnSpPr/>
          <p:nvPr/>
        </p:nvCxnSpPr>
        <p:spPr>
          <a:xfrm>
            <a:off x="4619625" y="2889250"/>
            <a:ext cx="0" cy="28575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UMMER_L_neck_c3_add"/>
          <p:cNvCxnSpPr/>
          <p:nvPr/>
        </p:nvCxnSpPr>
        <p:spPr>
          <a:xfrm>
            <a:off x="4318000" y="3341687"/>
            <a:ext cx="127000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UMMER_L_neck_add2_fusion"/>
          <p:cNvCxnSpPr/>
          <p:nvPr/>
        </p:nvCxnSpPr>
        <p:spPr>
          <a:xfrm>
            <a:off x="4794250" y="3333750"/>
            <a:ext cx="365125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UMMER_L_neck_fusion1_add_seg1"/>
          <p:cNvCxnSpPr/>
          <p:nvPr/>
        </p:nvCxnSpPr>
        <p:spPr>
          <a:xfrm>
            <a:off x="5889625" y="2222500"/>
            <a:ext cx="317500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UMMER_L_neck_fusion1_add_seg2"/>
          <p:cNvCxnSpPr/>
          <p:nvPr/>
        </p:nvCxnSpPr>
        <p:spPr>
          <a:xfrm flipV="1">
            <a:off x="6207125" y="1444625"/>
            <a:ext cx="0" cy="777875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UMMER_L_neck_fusion1_add_seg3"/>
          <p:cNvCxnSpPr/>
          <p:nvPr/>
        </p:nvCxnSpPr>
        <p:spPr>
          <a:xfrm>
            <a:off x="6207125" y="1444625"/>
            <a:ext cx="698500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UMMER_L_neck_fusion2_p4_seg1"/>
          <p:cNvCxnSpPr/>
          <p:nvPr/>
        </p:nvCxnSpPr>
        <p:spPr>
          <a:xfrm>
            <a:off x="5889625" y="3333750"/>
            <a:ext cx="317500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UMMER_L_neck_fusion2_p4_seg2"/>
          <p:cNvCxnSpPr/>
          <p:nvPr/>
        </p:nvCxnSpPr>
        <p:spPr>
          <a:xfrm flipV="1">
            <a:off x="6207125" y="2714625"/>
            <a:ext cx="0" cy="619125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UMMER_L_neck_fusion2_p4_seg3"/>
          <p:cNvCxnSpPr/>
          <p:nvPr/>
        </p:nvCxnSpPr>
        <p:spPr>
          <a:xfrm>
            <a:off x="6207125" y="2714625"/>
            <a:ext cx="698500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UMMER_L_neck_fusion2_add_seg1"/>
          <p:cNvCxnSpPr/>
          <p:nvPr/>
        </p:nvCxnSpPr>
        <p:spPr>
          <a:xfrm>
            <a:off x="5524500" y="3460750"/>
            <a:ext cx="0" cy="254000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UMMER_L_neck_fusion2_add_seg2"/>
          <p:cNvCxnSpPr/>
          <p:nvPr/>
        </p:nvCxnSpPr>
        <p:spPr>
          <a:xfrm>
            <a:off x="5524500" y="3714750"/>
            <a:ext cx="1381125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UMMER_L_neck_addp5_cube"/>
          <p:cNvCxnSpPr/>
          <p:nvPr/>
        </p:nvCxnSpPr>
        <p:spPr>
          <a:xfrm>
            <a:off x="7254875" y="1444625"/>
            <a:ext cx="460375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UMMER_L_neck_addp4_cube"/>
          <p:cNvCxnSpPr/>
          <p:nvPr/>
        </p:nvCxnSpPr>
        <p:spPr>
          <a:xfrm>
            <a:off x="7254875" y="2714625"/>
            <a:ext cx="460375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UMMER_L_neck_addp3_cube"/>
          <p:cNvCxnSpPr/>
          <p:nvPr/>
        </p:nvCxnSpPr>
        <p:spPr>
          <a:xfrm>
            <a:off x="7254875" y="3714750"/>
            <a:ext cx="460375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UMMER_L_neck_addp5_down"/>
          <p:cNvCxnSpPr/>
          <p:nvPr/>
        </p:nvCxnSpPr>
        <p:spPr>
          <a:xfrm>
            <a:off x="7080250" y="1603375"/>
            <a:ext cx="0" cy="15875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UMMER_L_neck_down_losc"/>
          <p:cNvCxnSpPr/>
          <p:nvPr/>
        </p:nvCxnSpPr>
        <p:spPr>
          <a:xfrm>
            <a:off x="7080250" y="2087562"/>
            <a:ext cx="0" cy="198438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UMMER_L_neck_losc_addp4"/>
          <p:cNvCxnSpPr/>
          <p:nvPr/>
        </p:nvCxnSpPr>
        <p:spPr>
          <a:xfrm>
            <a:off x="7080250" y="2492375"/>
            <a:ext cx="0" cy="6350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UMMER_L_neck_addp4_down2"/>
          <p:cNvCxnSpPr/>
          <p:nvPr/>
        </p:nvCxnSpPr>
        <p:spPr>
          <a:xfrm>
            <a:off x="7080250" y="2873375"/>
            <a:ext cx="0" cy="174625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UMMER_L_neck_down2_addp3"/>
          <p:cNvCxnSpPr/>
          <p:nvPr/>
        </p:nvCxnSpPr>
        <p:spPr>
          <a:xfrm>
            <a:off x="7080250" y="3365500"/>
            <a:ext cx="0" cy="19050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UMMER_L_neck_fusion1_up2_seg1"/>
          <p:cNvCxnSpPr/>
          <p:nvPr/>
        </p:nvCxnSpPr>
        <p:spPr>
          <a:xfrm>
            <a:off x="5524500" y="2349500"/>
            <a:ext cx="0" cy="381000"/>
          </a:xfrm>
          <a:prstGeom prst="line">
            <a:avLst/>
          </a:prstGeom>
          <a:ln w="13970">
            <a:solidFill>
              <a:srgbClr val="373A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UMMER_L_neck_fusion1_up2_seg2"/>
          <p:cNvCxnSpPr/>
          <p:nvPr/>
        </p:nvCxnSpPr>
        <p:spPr>
          <a:xfrm flipH="1">
            <a:off x="4786312" y="2730500"/>
            <a:ext cx="738188" cy="0"/>
          </a:xfrm>
          <a:prstGeom prst="line">
            <a:avLst/>
          </a:prstGeom>
          <a:ln w="13970">
            <a:solidFill>
              <a:srgbClr val="373A4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SUMMER_E_neck_note_cga"/>
          <p:cNvSpPr/>
          <p:nvPr/>
        </p:nvSpPr>
        <p:spPr>
          <a:xfrm>
            <a:off x="401637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E0ECFC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UMMER_T_neck_note_cga"/>
          <p:cNvSpPr txBox="1"/>
          <p:nvPr/>
        </p:nvSpPr>
        <p:spPr>
          <a:xfrm>
            <a:off x="4016375" y="4064000"/>
            <a:ext cx="19843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0">
                <a:solidFill>
                  <a:srgbClr val="2550D8"/>
                </a:solidFill>
                <a:latin typeface="PingFang SC"/>
              </a:rPr>
              <a:t>CGAFusion（高低频自适应融合）</a:t>
            </a:r>
          </a:p>
        </p:txBody>
      </p:sp>
      <p:sp>
        <p:nvSpPr>
          <p:cNvPr id="123" name="SUMMER_E_neck_note_losc"/>
          <p:cNvSpPr/>
          <p:nvPr/>
        </p:nvSpPr>
        <p:spPr>
          <a:xfrm>
            <a:off x="614362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FCE6DC"/>
          </a:solidFill>
          <a:ln w="1016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UMMER_T_neck_note_losc"/>
          <p:cNvSpPr txBox="1"/>
          <p:nvPr/>
        </p:nvSpPr>
        <p:spPr>
          <a:xfrm>
            <a:off x="6143625" y="4064000"/>
            <a:ext cx="19843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0">
                <a:solidFill>
                  <a:srgbClr val="E03A26"/>
                </a:solidFill>
                <a:latin typeface="PingFang SC"/>
              </a:rPr>
              <a:t>LOSC（方向性下采样建模）</a:t>
            </a:r>
          </a:p>
        </p:txBody>
      </p:sp>
      <p:sp>
        <p:nvSpPr>
          <p:cNvPr id="125" name="SUMMER_T_head_title"/>
          <p:cNvSpPr txBox="1"/>
          <p:nvPr/>
        </p:nvSpPr>
        <p:spPr>
          <a:xfrm>
            <a:off x="8540750" y="730250"/>
            <a:ext cx="1992312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03EC8"/>
                </a:solidFill>
                <a:latin typeface="PingFang SC"/>
              </a:rPr>
              <a:t>Head: RT-DETR 原始检测头</a:t>
            </a:r>
          </a:p>
        </p:txBody>
      </p:sp>
      <p:sp>
        <p:nvSpPr>
          <p:cNvPr id="126" name="SUMMER_E_head_iou"/>
          <p:cNvSpPr/>
          <p:nvPr/>
        </p:nvSpPr>
        <p:spPr>
          <a:xfrm>
            <a:off x="8628062" y="1143000"/>
            <a:ext cx="1817687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UMMER_T_head_iou_line1"/>
          <p:cNvSpPr txBox="1"/>
          <p:nvPr/>
        </p:nvSpPr>
        <p:spPr>
          <a:xfrm>
            <a:off x="8628062" y="1270000"/>
            <a:ext cx="1817687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  <a:latin typeface="PingFang SC"/>
              </a:rPr>
              <a:t>IoU-Aware</a:t>
            </a:r>
          </a:p>
        </p:txBody>
      </p:sp>
      <p:sp>
        <p:nvSpPr>
          <p:cNvPr id="128" name="SUMMER_T_head_iou"/>
          <p:cNvSpPr txBox="1"/>
          <p:nvPr/>
        </p:nvSpPr>
        <p:spPr>
          <a:xfrm>
            <a:off x="8628062" y="1436687"/>
            <a:ext cx="1817687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  <a:latin typeface="PingFang SC"/>
              </a:rPr>
              <a:t>Query Selection</a:t>
            </a:r>
          </a:p>
        </p:txBody>
      </p:sp>
      <p:sp>
        <p:nvSpPr>
          <p:cNvPr id="129" name="SUMMER_E_head_iou_sq_0"/>
          <p:cNvSpPr/>
          <p:nvPr/>
        </p:nvSpPr>
        <p:spPr>
          <a:xfrm>
            <a:off x="8890000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UMMER_E_head_iou_sq_1"/>
          <p:cNvSpPr/>
          <p:nvPr/>
        </p:nvSpPr>
        <p:spPr>
          <a:xfrm>
            <a:off x="9088437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UMMER_E_head_iou_sq_2"/>
          <p:cNvSpPr/>
          <p:nvPr/>
        </p:nvSpPr>
        <p:spPr>
          <a:xfrm>
            <a:off x="9286875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UMMER_E_head_iou_sq_3"/>
          <p:cNvSpPr/>
          <p:nvPr/>
        </p:nvSpPr>
        <p:spPr>
          <a:xfrm>
            <a:off x="9485312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UMMER_E_head_iou_sq_4"/>
          <p:cNvSpPr/>
          <p:nvPr/>
        </p:nvSpPr>
        <p:spPr>
          <a:xfrm>
            <a:off x="9683750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UMMER_E_head_iou_sq_5"/>
          <p:cNvSpPr/>
          <p:nvPr/>
        </p:nvSpPr>
        <p:spPr>
          <a:xfrm>
            <a:off x="9882187" y="1730375"/>
            <a:ext cx="134937" cy="134937"/>
          </a:xfrm>
          <a:prstGeom prst="rect">
            <a:avLst/>
          </a:prstGeom>
          <a:solidFill>
            <a:srgbClr val="C6B2EF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UMMER_E_head_iou_sq_dots"/>
          <p:cNvSpPr txBox="1"/>
          <p:nvPr/>
        </p:nvSpPr>
        <p:spPr>
          <a:xfrm>
            <a:off x="10096500" y="1714500"/>
            <a:ext cx="238125" cy="166687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cxnSp>
        <p:nvCxnSpPr>
          <p:cNvPr id="136" name="SUMMER_L_head_iou_dec"/>
          <p:cNvCxnSpPr/>
          <p:nvPr/>
        </p:nvCxnSpPr>
        <p:spPr>
          <a:xfrm>
            <a:off x="9572625" y="2095500"/>
            <a:ext cx="0" cy="206375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SUMMER_E_head_dec"/>
          <p:cNvSpPr/>
          <p:nvPr/>
        </p:nvSpPr>
        <p:spPr>
          <a:xfrm>
            <a:off x="8628062" y="2301875"/>
            <a:ext cx="1817687" cy="10556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UMMER_T_head_dec"/>
          <p:cNvSpPr txBox="1"/>
          <p:nvPr/>
        </p:nvSpPr>
        <p:spPr>
          <a:xfrm>
            <a:off x="8628062" y="2428875"/>
            <a:ext cx="18176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  <a:latin typeface="PingFang SC"/>
              </a:rPr>
              <a:t>Transformer Decoder × 6 层</a:t>
            </a:r>
          </a:p>
        </p:txBody>
      </p:sp>
      <p:cxnSp>
        <p:nvCxnSpPr>
          <p:cNvPr id="139" name="SUMMER_L_head_dec_top_bus"/>
          <p:cNvCxnSpPr/>
          <p:nvPr/>
        </p:nvCxnSpPr>
        <p:spPr>
          <a:xfrm>
            <a:off x="8826500" y="2809875"/>
            <a:ext cx="1428750" cy="0"/>
          </a:xfrm>
          <a:prstGeom prst="line">
            <a:avLst/>
          </a:prstGeom>
          <a:ln w="8890">
            <a:solidFill>
              <a:srgbClr val="703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SUMMER_E_head_dec_sq_0"/>
          <p:cNvSpPr/>
          <p:nvPr/>
        </p:nvSpPr>
        <p:spPr>
          <a:xfrm>
            <a:off x="8747125" y="2928937"/>
            <a:ext cx="158750" cy="222250"/>
          </a:xfrm>
          <a:prstGeom prst="roundRect">
            <a:avLst>
              <a:gd name="adj" fmla="val 8000"/>
            </a:avLst>
          </a:prstGeom>
          <a:solidFill>
            <a:srgbClr val="9678DC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SUMMER_L_head_dec_stem_top_0"/>
          <p:cNvCxnSpPr/>
          <p:nvPr/>
        </p:nvCxnSpPr>
        <p:spPr>
          <a:xfrm>
            <a:off x="8826500" y="2809875"/>
            <a:ext cx="0" cy="119062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UMMER_L_head_dec_stem_bottom_0"/>
          <p:cNvCxnSpPr/>
          <p:nvPr/>
        </p:nvCxnSpPr>
        <p:spPr>
          <a:xfrm>
            <a:off x="8826500" y="3151187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SUMMER_E_head_dec_sq_1"/>
          <p:cNvSpPr/>
          <p:nvPr/>
        </p:nvSpPr>
        <p:spPr>
          <a:xfrm>
            <a:off x="9112250" y="2928937"/>
            <a:ext cx="158750" cy="222250"/>
          </a:xfrm>
          <a:prstGeom prst="roundRect">
            <a:avLst>
              <a:gd name="adj" fmla="val 8000"/>
            </a:avLst>
          </a:prstGeom>
          <a:solidFill>
            <a:srgbClr val="9678DC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SUMMER_L_head_dec_stem_top_1"/>
          <p:cNvCxnSpPr/>
          <p:nvPr/>
        </p:nvCxnSpPr>
        <p:spPr>
          <a:xfrm>
            <a:off x="9191625" y="2809875"/>
            <a:ext cx="0" cy="119062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UMMER_L_head_dec_stem_bottom_1"/>
          <p:cNvCxnSpPr/>
          <p:nvPr/>
        </p:nvCxnSpPr>
        <p:spPr>
          <a:xfrm>
            <a:off x="9191625" y="3151187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SUMMER_E_head_dec_sq_2"/>
          <p:cNvSpPr/>
          <p:nvPr/>
        </p:nvSpPr>
        <p:spPr>
          <a:xfrm>
            <a:off x="9477375" y="2928937"/>
            <a:ext cx="158750" cy="222250"/>
          </a:xfrm>
          <a:prstGeom prst="roundRect">
            <a:avLst>
              <a:gd name="adj" fmla="val 8000"/>
            </a:avLst>
          </a:prstGeom>
          <a:solidFill>
            <a:srgbClr val="9678DC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SUMMER_L_head_dec_stem_top_2"/>
          <p:cNvCxnSpPr/>
          <p:nvPr/>
        </p:nvCxnSpPr>
        <p:spPr>
          <a:xfrm>
            <a:off x="9556750" y="2809875"/>
            <a:ext cx="0" cy="119062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UMMER_L_head_dec_stem_bottom_2"/>
          <p:cNvCxnSpPr/>
          <p:nvPr/>
        </p:nvCxnSpPr>
        <p:spPr>
          <a:xfrm>
            <a:off x="9556750" y="3151187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SUMMER_E_head_dec_sq_3"/>
          <p:cNvSpPr/>
          <p:nvPr/>
        </p:nvSpPr>
        <p:spPr>
          <a:xfrm>
            <a:off x="10175875" y="2928937"/>
            <a:ext cx="158750" cy="222250"/>
          </a:xfrm>
          <a:prstGeom prst="roundRect">
            <a:avLst>
              <a:gd name="adj" fmla="val 8000"/>
            </a:avLst>
          </a:prstGeom>
          <a:solidFill>
            <a:srgbClr val="9678DC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SUMMER_L_head_dec_stem_top_3"/>
          <p:cNvCxnSpPr/>
          <p:nvPr/>
        </p:nvCxnSpPr>
        <p:spPr>
          <a:xfrm>
            <a:off x="10255250" y="2809875"/>
            <a:ext cx="0" cy="119062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UMMER_L_head_dec_stem_bottom_3"/>
          <p:cNvCxnSpPr/>
          <p:nvPr/>
        </p:nvCxnSpPr>
        <p:spPr>
          <a:xfrm>
            <a:off x="10255250" y="3151187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UMMER_L_head_dec_chain_0"/>
          <p:cNvCxnSpPr/>
          <p:nvPr/>
        </p:nvCxnSpPr>
        <p:spPr>
          <a:xfrm>
            <a:off x="8905875" y="3040062"/>
            <a:ext cx="206375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UMMER_L_head_dec_chain_1"/>
          <p:cNvCxnSpPr/>
          <p:nvPr/>
        </p:nvCxnSpPr>
        <p:spPr>
          <a:xfrm>
            <a:off x="9271000" y="3040062"/>
            <a:ext cx="206375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UMMER_L_head_dec_chain_2"/>
          <p:cNvCxnSpPr/>
          <p:nvPr/>
        </p:nvCxnSpPr>
        <p:spPr>
          <a:xfrm>
            <a:off x="9636125" y="3040062"/>
            <a:ext cx="127000" cy="0"/>
          </a:xfrm>
          <a:prstGeom prst="line">
            <a:avLst/>
          </a:prstGeom>
          <a:ln w="8890">
            <a:solidFill>
              <a:srgbClr val="703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UMMER_L_head_dec_chain_3"/>
          <p:cNvCxnSpPr/>
          <p:nvPr/>
        </p:nvCxnSpPr>
        <p:spPr>
          <a:xfrm>
            <a:off x="10001250" y="3040062"/>
            <a:ext cx="174625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SUMMER_E_head_dec_sq_dots"/>
          <p:cNvSpPr txBox="1"/>
          <p:nvPr/>
        </p:nvSpPr>
        <p:spPr>
          <a:xfrm>
            <a:off x="9747250" y="2960687"/>
            <a:ext cx="2698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282C3C"/>
                </a:solidFill>
                <a:latin typeface="PingFang SC"/>
              </a:rPr>
              <a:t>••••</a:t>
            </a:r>
          </a:p>
        </p:txBody>
      </p:sp>
      <p:cxnSp>
        <p:nvCxnSpPr>
          <p:cNvPr id="157" name="SUMMER_L_head_dec_out"/>
          <p:cNvCxnSpPr/>
          <p:nvPr/>
        </p:nvCxnSpPr>
        <p:spPr>
          <a:xfrm>
            <a:off x="9572625" y="3357562"/>
            <a:ext cx="0" cy="12700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SUMMER_E_head_out"/>
          <p:cNvSpPr/>
          <p:nvPr/>
        </p:nvSpPr>
        <p:spPr>
          <a:xfrm>
            <a:off x="8628062" y="3484562"/>
            <a:ext cx="1817687" cy="793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C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UMMER_T_head_out"/>
          <p:cNvSpPr txBox="1"/>
          <p:nvPr/>
        </p:nvSpPr>
        <p:spPr>
          <a:xfrm>
            <a:off x="8715375" y="3548062"/>
            <a:ext cx="1643062" cy="3016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输出：
类别概率 + 归一化边界框坐标</a:t>
            </a:r>
          </a:p>
        </p:txBody>
      </p:sp>
      <p:cxnSp>
        <p:nvCxnSpPr>
          <p:cNvPr id="160" name="SUMMER_E_head_bars_axis_x"/>
          <p:cNvCxnSpPr/>
          <p:nvPr/>
        </p:nvCxnSpPr>
        <p:spPr>
          <a:xfrm>
            <a:off x="8969375" y="4262437"/>
            <a:ext cx="412750" cy="0"/>
          </a:xfrm>
          <a:prstGeom prst="line">
            <a:avLst/>
          </a:prstGeom>
          <a:ln w="12700">
            <a:solidFill>
              <a:srgbClr val="255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UMMER_E_head_bars_axis_y"/>
          <p:cNvCxnSpPr/>
          <p:nvPr/>
        </p:nvCxnSpPr>
        <p:spPr>
          <a:xfrm flipV="1">
            <a:off x="8969375" y="3913187"/>
            <a:ext cx="0" cy="349250"/>
          </a:xfrm>
          <a:prstGeom prst="line">
            <a:avLst/>
          </a:prstGeom>
          <a:ln w="12700">
            <a:solidFill>
              <a:srgbClr val="255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SUMMER_E_head_bars_0"/>
          <p:cNvSpPr/>
          <p:nvPr/>
        </p:nvSpPr>
        <p:spPr>
          <a:xfrm>
            <a:off x="9001125" y="4008437"/>
            <a:ext cx="55562" cy="25400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UMMER_E_head_bars_1"/>
          <p:cNvSpPr/>
          <p:nvPr/>
        </p:nvSpPr>
        <p:spPr>
          <a:xfrm>
            <a:off x="9088437" y="4119562"/>
            <a:ext cx="55562" cy="1428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UMMER_E_head_bars_2"/>
          <p:cNvSpPr/>
          <p:nvPr/>
        </p:nvSpPr>
        <p:spPr>
          <a:xfrm>
            <a:off x="9175750" y="4056062"/>
            <a:ext cx="55562" cy="2063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UMMER_E_head_bars_3"/>
          <p:cNvSpPr/>
          <p:nvPr/>
        </p:nvSpPr>
        <p:spPr>
          <a:xfrm>
            <a:off x="9263062" y="3929062"/>
            <a:ext cx="55562" cy="3333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UMMER_E_head_bbox"/>
          <p:cNvSpPr/>
          <p:nvPr/>
        </p:nvSpPr>
        <p:spPr>
          <a:xfrm>
            <a:off x="9636125" y="3889375"/>
            <a:ext cx="365125" cy="333375"/>
          </a:xfrm>
          <a:prstGeom prst="rect">
            <a:avLst/>
          </a:prstGeom>
          <a:noFill/>
          <a:ln w="15240">
            <a:solidFill>
              <a:srgbClr val="255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UMMER_T_legend_title"/>
          <p:cNvSpPr txBox="1"/>
          <p:nvPr/>
        </p:nvSpPr>
        <p:spPr>
          <a:xfrm>
            <a:off x="10636250" y="682625"/>
            <a:ext cx="1476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82C3C"/>
                </a:solidFill>
                <a:latin typeface="PingFang SC"/>
              </a:rPr>
              <a:t>图例说明</a:t>
            </a:r>
          </a:p>
        </p:txBody>
      </p:sp>
      <p:sp>
        <p:nvSpPr>
          <p:cNvPr id="168" name="SUMMER_E_lg_p5_top"/>
          <p:cNvSpPr/>
          <p:nvPr/>
        </p:nvSpPr>
        <p:spPr>
          <a:xfrm>
            <a:off x="10795000" y="939800"/>
            <a:ext cx="165100" cy="38100"/>
          </a:xfrm>
          <a:custGeom>
            <a:avLst/>
            <a:gdLst/>
            <a:ahLst/>
            <a:cxnLst/>
            <a:rect l="l" t="t" r="r" b="b"/>
            <a:pathLst>
              <a:path w="13" h="3">
                <a:moveTo>
                  <a:pt x="0" y="3"/>
                </a:moveTo>
                <a:lnTo>
                  <a:pt x="3" y="0"/>
                </a:lnTo>
                <a:lnTo>
                  <a:pt x="13" y="0"/>
                </a:lnTo>
                <a:lnTo>
                  <a:pt x="10" y="3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UMMER_E_lg_p5_front"/>
          <p:cNvSpPr/>
          <p:nvPr/>
        </p:nvSpPr>
        <p:spPr>
          <a:xfrm>
            <a:off x="10795000" y="9779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UMMER_E_lg_p5_right"/>
          <p:cNvSpPr/>
          <p:nvPr/>
        </p:nvSpPr>
        <p:spPr>
          <a:xfrm>
            <a:off x="10922000" y="9398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0" y="3"/>
                </a:moveTo>
                <a:lnTo>
                  <a:pt x="3" y="0"/>
                </a:lnTo>
                <a:lnTo>
                  <a:pt x="3" y="9"/>
                </a:lnTo>
                <a:lnTo>
                  <a:pt x="0" y="12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UMMER_T_lg_p5"/>
          <p:cNvSpPr txBox="1"/>
          <p:nvPr/>
        </p:nvSpPr>
        <p:spPr>
          <a:xfrm>
            <a:off x="11072812" y="920750"/>
            <a:ext cx="992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P5 / C5 （20×C）</a:t>
            </a:r>
          </a:p>
        </p:txBody>
      </p:sp>
      <p:sp>
        <p:nvSpPr>
          <p:cNvPr id="172" name="SUMMER_E_lg_p4_top"/>
          <p:cNvSpPr/>
          <p:nvPr/>
        </p:nvSpPr>
        <p:spPr>
          <a:xfrm>
            <a:off x="10795000" y="1219200"/>
            <a:ext cx="165100" cy="38100"/>
          </a:xfrm>
          <a:custGeom>
            <a:avLst/>
            <a:gdLst/>
            <a:ahLst/>
            <a:cxnLst/>
            <a:rect l="l" t="t" r="r" b="b"/>
            <a:pathLst>
              <a:path w="13" h="3">
                <a:moveTo>
                  <a:pt x="0" y="3"/>
                </a:moveTo>
                <a:lnTo>
                  <a:pt x="3" y="0"/>
                </a:lnTo>
                <a:lnTo>
                  <a:pt x="13" y="0"/>
                </a:lnTo>
                <a:lnTo>
                  <a:pt x="10" y="3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UMMER_E_lg_p4_front"/>
          <p:cNvSpPr/>
          <p:nvPr/>
        </p:nvSpPr>
        <p:spPr>
          <a:xfrm>
            <a:off x="10795000" y="12573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10" y="0"/>
                </a:lnTo>
                <a:lnTo>
                  <a:pt x="10" y="10"/>
                </a:lnTo>
                <a:lnTo>
                  <a:pt x="0" y="10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UMMER_E_lg_p4_right"/>
          <p:cNvSpPr/>
          <p:nvPr/>
        </p:nvSpPr>
        <p:spPr>
          <a:xfrm>
            <a:off x="10922000" y="12192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0" y="3"/>
                </a:moveTo>
                <a:lnTo>
                  <a:pt x="3" y="0"/>
                </a:lnTo>
                <a:lnTo>
                  <a:pt x="3" y="10"/>
                </a:lnTo>
                <a:lnTo>
                  <a:pt x="0" y="13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UMMER_T_lg_p4"/>
          <p:cNvSpPr txBox="1"/>
          <p:nvPr/>
        </p:nvSpPr>
        <p:spPr>
          <a:xfrm>
            <a:off x="11072812" y="1206500"/>
            <a:ext cx="992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P4 / C4 （40×C）</a:t>
            </a:r>
          </a:p>
        </p:txBody>
      </p:sp>
      <p:sp>
        <p:nvSpPr>
          <p:cNvPr id="176" name="SUMMER_E_lg_p3_top"/>
          <p:cNvSpPr/>
          <p:nvPr/>
        </p:nvSpPr>
        <p:spPr>
          <a:xfrm>
            <a:off x="10795000" y="1511300"/>
            <a:ext cx="165100" cy="38100"/>
          </a:xfrm>
          <a:custGeom>
            <a:avLst/>
            <a:gdLst/>
            <a:ahLst/>
            <a:cxnLst/>
            <a:rect l="l" t="t" r="r" b="b"/>
            <a:pathLst>
              <a:path w="13" h="3">
                <a:moveTo>
                  <a:pt x="0" y="3"/>
                </a:moveTo>
                <a:lnTo>
                  <a:pt x="3" y="0"/>
                </a:lnTo>
                <a:lnTo>
                  <a:pt x="13" y="0"/>
                </a:lnTo>
                <a:lnTo>
                  <a:pt x="10" y="3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UMMER_E_lg_p3_front"/>
          <p:cNvSpPr/>
          <p:nvPr/>
        </p:nvSpPr>
        <p:spPr>
          <a:xfrm>
            <a:off x="10795000" y="15494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UMMER_E_lg_p3_right"/>
          <p:cNvSpPr/>
          <p:nvPr/>
        </p:nvSpPr>
        <p:spPr>
          <a:xfrm>
            <a:off x="10922000" y="15113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0" y="3"/>
                </a:moveTo>
                <a:lnTo>
                  <a:pt x="3" y="0"/>
                </a:lnTo>
                <a:lnTo>
                  <a:pt x="3" y="9"/>
                </a:lnTo>
                <a:lnTo>
                  <a:pt x="0" y="12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UMMER_T_lg_p3"/>
          <p:cNvSpPr txBox="1"/>
          <p:nvPr/>
        </p:nvSpPr>
        <p:spPr>
          <a:xfrm>
            <a:off x="11072812" y="1492250"/>
            <a:ext cx="992187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P3 / C3 （80×C）</a:t>
            </a:r>
          </a:p>
        </p:txBody>
      </p:sp>
      <p:sp>
        <p:nvSpPr>
          <p:cNvPr id="180" name="SUMMER_E_lg_up"/>
          <p:cNvSpPr/>
          <p:nvPr/>
        </p:nvSpPr>
        <p:spPr>
          <a:xfrm>
            <a:off x="10755312" y="1865312"/>
            <a:ext cx="206375" cy="206375"/>
          </a:xfrm>
          <a:prstGeom prst="ellipse">
            <a:avLst/>
          </a:prstGeom>
          <a:solidFill>
            <a:srgbClr val="D1C1F6"/>
          </a:solidFill>
          <a:ln w="10160">
            <a:solidFill>
              <a:srgbClr val="6937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UMMER_E_lg_up_text"/>
          <p:cNvSpPr txBox="1"/>
          <p:nvPr/>
        </p:nvSpPr>
        <p:spPr>
          <a:xfrm>
            <a:off x="10755312" y="1865312"/>
            <a:ext cx="206375" cy="2063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182" name="SUMMER_T_lg_up"/>
          <p:cNvSpPr txBox="1"/>
          <p:nvPr/>
        </p:nvSpPr>
        <p:spPr>
          <a:xfrm>
            <a:off x="11096625" y="1889125"/>
            <a:ext cx="968375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上采样 （× 2）</a:t>
            </a:r>
          </a:p>
        </p:txBody>
      </p:sp>
      <p:sp>
        <p:nvSpPr>
          <p:cNvPr id="183" name="SUMMER_E_lg_down"/>
          <p:cNvSpPr/>
          <p:nvPr/>
        </p:nvSpPr>
        <p:spPr>
          <a:xfrm>
            <a:off x="10755312" y="2214562"/>
            <a:ext cx="206375" cy="206375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UMMER_E_lg_down_text"/>
          <p:cNvSpPr txBox="1"/>
          <p:nvPr/>
        </p:nvSpPr>
        <p:spPr>
          <a:xfrm>
            <a:off x="10755312" y="2214562"/>
            <a:ext cx="206375" cy="2063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185" name="SUMMER_T_lg_down"/>
          <p:cNvSpPr txBox="1"/>
          <p:nvPr/>
        </p:nvSpPr>
        <p:spPr>
          <a:xfrm>
            <a:off x="11096625" y="2222500"/>
            <a:ext cx="968375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下采样 （× 2）</a:t>
            </a:r>
          </a:p>
        </p:txBody>
      </p:sp>
      <p:sp>
        <p:nvSpPr>
          <p:cNvPr id="186" name="SUMMER_E_lg_add"/>
          <p:cNvSpPr/>
          <p:nvPr/>
        </p:nvSpPr>
        <p:spPr>
          <a:xfrm>
            <a:off x="10755312" y="2547937"/>
            <a:ext cx="206375" cy="206375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UMMER_E_lg_add_text"/>
          <p:cNvSpPr txBox="1"/>
          <p:nvPr/>
        </p:nvSpPr>
        <p:spPr>
          <a:xfrm>
            <a:off x="10755312" y="2547937"/>
            <a:ext cx="206375" cy="2063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188" name="SUMMER_T_lg_add"/>
          <p:cNvSpPr txBox="1"/>
          <p:nvPr/>
        </p:nvSpPr>
        <p:spPr>
          <a:xfrm>
            <a:off x="11096625" y="2555875"/>
            <a:ext cx="968375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拼接 （Concat）</a:t>
            </a:r>
          </a:p>
        </p:txBody>
      </p:sp>
      <p:sp>
        <p:nvSpPr>
          <p:cNvPr id="189" name="SUMMER_E_lg_losc"/>
          <p:cNvSpPr/>
          <p:nvPr/>
        </p:nvSpPr>
        <p:spPr>
          <a:xfrm>
            <a:off x="10763250" y="2889250"/>
            <a:ext cx="301625" cy="142875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016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UMMER_T_lg_losc_tag"/>
          <p:cNvSpPr txBox="1"/>
          <p:nvPr/>
        </p:nvSpPr>
        <p:spPr>
          <a:xfrm>
            <a:off x="10763250" y="2897187"/>
            <a:ext cx="301625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550" b="1">
                <a:solidFill>
                  <a:srgbClr val="CE5A1E"/>
                </a:solidFill>
                <a:latin typeface="PingFang SC"/>
              </a:rPr>
              <a:t>LOSC</a:t>
            </a:r>
          </a:p>
        </p:txBody>
      </p:sp>
      <p:sp>
        <p:nvSpPr>
          <p:cNvPr id="191" name="SUMMER_T_lg_losc"/>
          <p:cNvSpPr txBox="1"/>
          <p:nvPr/>
        </p:nvSpPr>
        <p:spPr>
          <a:xfrm>
            <a:off x="11112500" y="2857500"/>
            <a:ext cx="952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方向性下采样建模</a:t>
            </a:r>
          </a:p>
        </p:txBody>
      </p:sp>
      <p:sp>
        <p:nvSpPr>
          <p:cNvPr id="192" name="SUMMER_E_lg_cga"/>
          <p:cNvSpPr/>
          <p:nvPr/>
        </p:nvSpPr>
        <p:spPr>
          <a:xfrm>
            <a:off x="10747375" y="3206750"/>
            <a:ext cx="333375" cy="142875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UMMER_T_lg_cga_tag"/>
          <p:cNvSpPr txBox="1"/>
          <p:nvPr/>
        </p:nvSpPr>
        <p:spPr>
          <a:xfrm>
            <a:off x="10747375" y="3214687"/>
            <a:ext cx="333375" cy="127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30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194" name="SUMMER_T_lg_cga"/>
          <p:cNvSpPr txBox="1"/>
          <p:nvPr/>
        </p:nvSpPr>
        <p:spPr>
          <a:xfrm>
            <a:off x="11112500" y="3175000"/>
            <a:ext cx="952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高低频自适应融合</a:t>
            </a:r>
          </a:p>
        </p:txBody>
      </p:sp>
      <p:cxnSp>
        <p:nvCxnSpPr>
          <p:cNvPr id="195" name="SUMMER_LD_lg_solid"/>
          <p:cNvCxnSpPr/>
          <p:nvPr/>
        </p:nvCxnSpPr>
        <p:spPr>
          <a:xfrm>
            <a:off x="10779125" y="3730625"/>
            <a:ext cx="254000" cy="0"/>
          </a:xfrm>
          <a:prstGeom prst="line">
            <a:avLst/>
          </a:prstGeom>
          <a:ln w="1778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SUMMER_T_lg_solid"/>
          <p:cNvSpPr txBox="1"/>
          <p:nvPr/>
        </p:nvSpPr>
        <p:spPr>
          <a:xfrm>
            <a:off x="11112500" y="3643312"/>
            <a:ext cx="952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数据流向</a:t>
            </a:r>
          </a:p>
        </p:txBody>
      </p:sp>
      <p:cxnSp>
        <p:nvCxnSpPr>
          <p:cNvPr id="197" name="SUMMER_LD_lg_dash"/>
          <p:cNvCxnSpPr/>
          <p:nvPr/>
        </p:nvCxnSpPr>
        <p:spPr>
          <a:xfrm>
            <a:off x="10779125" y="4016375"/>
            <a:ext cx="254000" cy="0"/>
          </a:xfrm>
          <a:prstGeom prst="line">
            <a:avLst/>
          </a:prstGeom>
          <a:ln w="17780">
            <a:solidFill>
              <a:srgbClr val="282C3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SUMMER_T_lg_dash"/>
          <p:cNvSpPr txBox="1"/>
          <p:nvPr/>
        </p:nvSpPr>
        <p:spPr>
          <a:xfrm>
            <a:off x="11112500" y="3929062"/>
            <a:ext cx="9525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跨层连接</a:t>
            </a:r>
          </a:p>
        </p:txBody>
      </p:sp>
      <p:cxnSp>
        <p:nvCxnSpPr>
          <p:cNvPr id="199" name="SUMMER_L_input_backbone"/>
          <p:cNvCxnSpPr/>
          <p:nvPr/>
        </p:nvCxnSpPr>
        <p:spPr>
          <a:xfrm>
            <a:off x="1666875" y="2349500"/>
            <a:ext cx="127000" cy="0"/>
          </a:xfrm>
          <a:prstGeom prst="line">
            <a:avLst/>
          </a:prstGeom>
          <a:ln w="3175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SUMMER_E_panel_m1"/>
          <p:cNvSpPr/>
          <p:nvPr/>
        </p:nvSpPr>
        <p:spPr>
          <a:xfrm>
            <a:off x="103187" y="4429125"/>
            <a:ext cx="3770312" cy="2206625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UMMER_E_panel_m2"/>
          <p:cNvSpPr/>
          <p:nvPr/>
        </p:nvSpPr>
        <p:spPr>
          <a:xfrm>
            <a:off x="3944937" y="4429125"/>
            <a:ext cx="3254375" cy="2206625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0160">
            <a:solidFill>
              <a:srgbClr val="FF6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UMMER_E_panel_m3"/>
          <p:cNvSpPr/>
          <p:nvPr/>
        </p:nvSpPr>
        <p:spPr>
          <a:xfrm>
            <a:off x="7270750" y="4429125"/>
            <a:ext cx="4810125" cy="2206625"/>
          </a:xfrm>
          <a:prstGeom prst="roundRect">
            <a:avLst>
              <a:gd name="adj" fmla="val 4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SUMMER_T_m1_title"/>
          <p:cNvSpPr txBox="1"/>
          <p:nvPr/>
        </p:nvSpPr>
        <p:spPr>
          <a:xfrm>
            <a:off x="95250" y="4492625"/>
            <a:ext cx="3762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模块一：CSP-MEEM（多尺度细粒度特征提取）</a:t>
            </a:r>
          </a:p>
        </p:txBody>
      </p:sp>
      <p:sp>
        <p:nvSpPr>
          <p:cNvPr id="204" name="SUMMER_T_m1_in"/>
          <p:cNvSpPr txBox="1"/>
          <p:nvPr/>
        </p:nvSpPr>
        <p:spPr>
          <a:xfrm>
            <a:off x="754062" y="4714875"/>
            <a:ext cx="7143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输入图像</a:t>
            </a:r>
          </a:p>
        </p:txBody>
      </p:sp>
      <p:sp>
        <p:nvSpPr>
          <p:cNvPr id="205" name="SUMMER_E_m1_csp"/>
          <p:cNvSpPr/>
          <p:nvPr/>
        </p:nvSpPr>
        <p:spPr>
          <a:xfrm>
            <a:off x="873125" y="4897437"/>
            <a:ext cx="476250" cy="325437"/>
          </a:xfrm>
          <a:prstGeom prst="roundRect">
            <a:avLst>
              <a:gd name="adj" fmla="val 8000"/>
            </a:avLst>
          </a:prstGeom>
          <a:solidFill>
            <a:srgbClr val="E4EEFD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UMMER_T_m1_csp"/>
          <p:cNvSpPr txBox="1"/>
          <p:nvPr/>
        </p:nvSpPr>
        <p:spPr>
          <a:xfrm>
            <a:off x="873125" y="4937125"/>
            <a:ext cx="476250" cy="2381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CSP
分割</a:t>
            </a:r>
          </a:p>
        </p:txBody>
      </p:sp>
      <p:sp>
        <p:nvSpPr>
          <p:cNvPr id="207" name="SUMMER_E_m1_b0"/>
          <p:cNvSpPr/>
          <p:nvPr/>
        </p:nvSpPr>
        <p:spPr>
          <a:xfrm>
            <a:off x="317500" y="5373687"/>
            <a:ext cx="357187" cy="198437"/>
          </a:xfrm>
          <a:prstGeom prst="roundRect">
            <a:avLst>
              <a:gd name="adj" fmla="val 8000"/>
            </a:avLst>
          </a:prstGeom>
          <a:solidFill>
            <a:srgbClr val="E8F5E1"/>
          </a:solidFill>
          <a:ln w="1016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UMMER_T_m1_b0"/>
          <p:cNvSpPr txBox="1"/>
          <p:nvPr/>
        </p:nvSpPr>
        <p:spPr>
          <a:xfrm>
            <a:off x="317500" y="5397500"/>
            <a:ext cx="357187" cy="150812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分支1</a:t>
            </a:r>
          </a:p>
        </p:txBody>
      </p:sp>
      <p:sp>
        <p:nvSpPr>
          <p:cNvPr id="209" name="SUMMER_E_m1_b1"/>
          <p:cNvSpPr/>
          <p:nvPr/>
        </p:nvSpPr>
        <p:spPr>
          <a:xfrm>
            <a:off x="920750" y="5373687"/>
            <a:ext cx="357187" cy="198437"/>
          </a:xfrm>
          <a:prstGeom prst="roundRect">
            <a:avLst>
              <a:gd name="adj" fmla="val 8000"/>
            </a:avLst>
          </a:prstGeom>
          <a:solidFill>
            <a:srgbClr val="E8F5E1"/>
          </a:solidFill>
          <a:ln w="1016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UMMER_T_m1_b1"/>
          <p:cNvSpPr txBox="1"/>
          <p:nvPr/>
        </p:nvSpPr>
        <p:spPr>
          <a:xfrm>
            <a:off x="920750" y="5397500"/>
            <a:ext cx="357187" cy="150812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分支2</a:t>
            </a:r>
          </a:p>
        </p:txBody>
      </p:sp>
      <p:sp>
        <p:nvSpPr>
          <p:cNvPr id="211" name="SUMMER_E_m1_b2"/>
          <p:cNvSpPr/>
          <p:nvPr/>
        </p:nvSpPr>
        <p:spPr>
          <a:xfrm>
            <a:off x="1492250" y="5373687"/>
            <a:ext cx="357187" cy="198437"/>
          </a:xfrm>
          <a:prstGeom prst="roundRect">
            <a:avLst>
              <a:gd name="adj" fmla="val 8000"/>
            </a:avLst>
          </a:prstGeom>
          <a:solidFill>
            <a:srgbClr val="E8F5E1"/>
          </a:solidFill>
          <a:ln w="1016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UMMER_T_m1_b2"/>
          <p:cNvSpPr txBox="1"/>
          <p:nvPr/>
        </p:nvSpPr>
        <p:spPr>
          <a:xfrm>
            <a:off x="1492250" y="5397500"/>
            <a:ext cx="357187" cy="150812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分支n</a:t>
            </a:r>
          </a:p>
        </p:txBody>
      </p:sp>
      <p:sp>
        <p:nvSpPr>
          <p:cNvPr id="213" name="SUMMER_T_m1_bdots"/>
          <p:cNvSpPr txBox="1"/>
          <p:nvPr/>
        </p:nvSpPr>
        <p:spPr>
          <a:xfrm>
            <a:off x="1277937" y="5381625"/>
            <a:ext cx="214312" cy="166687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1000" b="0">
                <a:solidFill>
                  <a:srgbClr val="282C3C"/>
                </a:solidFill>
                <a:latin typeface="PingFang SC"/>
              </a:rPr>
              <a:t>···</a:t>
            </a:r>
          </a:p>
        </p:txBody>
      </p:sp>
      <p:sp>
        <p:nvSpPr>
          <p:cNvPr id="214" name="SUMMER_E_m1_fuse"/>
          <p:cNvSpPr/>
          <p:nvPr/>
        </p:nvSpPr>
        <p:spPr>
          <a:xfrm>
            <a:off x="666750" y="5699125"/>
            <a:ext cx="889000" cy="198437"/>
          </a:xfrm>
          <a:prstGeom prst="roundRect">
            <a:avLst>
              <a:gd name="adj" fmla="val 8000"/>
            </a:avLst>
          </a:prstGeom>
          <a:solidFill>
            <a:srgbClr val="E2EDFC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UMMER_T_m1_fuse"/>
          <p:cNvSpPr txBox="1"/>
          <p:nvPr/>
        </p:nvSpPr>
        <p:spPr>
          <a:xfrm>
            <a:off x="666750" y="5715000"/>
            <a:ext cx="8890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融合</a:t>
            </a:r>
          </a:p>
        </p:txBody>
      </p:sp>
      <p:sp>
        <p:nvSpPr>
          <p:cNvPr id="216" name="SUMMER_E_m1_ema"/>
          <p:cNvSpPr/>
          <p:nvPr/>
        </p:nvSpPr>
        <p:spPr>
          <a:xfrm>
            <a:off x="666750" y="6016625"/>
            <a:ext cx="889000" cy="206375"/>
          </a:xfrm>
          <a:prstGeom prst="roundRect">
            <a:avLst>
              <a:gd name="adj" fmla="val 8000"/>
            </a:avLst>
          </a:prstGeom>
          <a:solidFill>
            <a:srgbClr val="FFEDD7"/>
          </a:solidFill>
          <a:ln w="10160">
            <a:solidFill>
              <a:srgbClr val="E6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UMMER_T_m1_ema"/>
          <p:cNvSpPr txBox="1"/>
          <p:nvPr/>
        </p:nvSpPr>
        <p:spPr>
          <a:xfrm>
            <a:off x="666750" y="6040437"/>
            <a:ext cx="889000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C8641E"/>
                </a:solidFill>
                <a:latin typeface="PingFang SC"/>
              </a:rPr>
              <a:t>EMA 注意力</a:t>
            </a:r>
          </a:p>
        </p:txBody>
      </p:sp>
      <p:sp>
        <p:nvSpPr>
          <p:cNvPr id="218" name="SUMMER_T_m1_out"/>
          <p:cNvSpPr txBox="1"/>
          <p:nvPr/>
        </p:nvSpPr>
        <p:spPr>
          <a:xfrm>
            <a:off x="754062" y="6310312"/>
            <a:ext cx="71437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19" name="SUMMER_L_m1_f1"/>
          <p:cNvCxnSpPr/>
          <p:nvPr/>
        </p:nvCxnSpPr>
        <p:spPr>
          <a:xfrm>
            <a:off x="1111250" y="4873625"/>
            <a:ext cx="0" cy="23812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UMMER_L_m1_branch_bus"/>
          <p:cNvCxnSpPr/>
          <p:nvPr/>
        </p:nvCxnSpPr>
        <p:spPr>
          <a:xfrm>
            <a:off x="492125" y="5254625"/>
            <a:ext cx="1182687" cy="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UMMER_L_m1_branch_drop_0"/>
          <p:cNvCxnSpPr/>
          <p:nvPr/>
        </p:nvCxnSpPr>
        <p:spPr>
          <a:xfrm>
            <a:off x="492125" y="5254625"/>
            <a:ext cx="0" cy="119062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UMMER_L_m1_branch_drop_1"/>
          <p:cNvCxnSpPr/>
          <p:nvPr/>
        </p:nvCxnSpPr>
        <p:spPr>
          <a:xfrm>
            <a:off x="1111250" y="5254625"/>
            <a:ext cx="0" cy="119062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UMMER_L_m1_branch_drop_2"/>
          <p:cNvCxnSpPr/>
          <p:nvPr/>
        </p:nvCxnSpPr>
        <p:spPr>
          <a:xfrm>
            <a:off x="1674812" y="5254625"/>
            <a:ext cx="0" cy="119062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UMMER_L_m1_fanin_left_v"/>
          <p:cNvCxnSpPr/>
          <p:nvPr/>
        </p:nvCxnSpPr>
        <p:spPr>
          <a:xfrm>
            <a:off x="492125" y="5572125"/>
            <a:ext cx="0" cy="22225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UMMER_L_m1_fanin_left_h"/>
          <p:cNvCxnSpPr/>
          <p:nvPr/>
        </p:nvCxnSpPr>
        <p:spPr>
          <a:xfrm>
            <a:off x="492125" y="5794375"/>
            <a:ext cx="174625" cy="0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UMMER_L_m1_fanin_right_v"/>
          <p:cNvCxnSpPr/>
          <p:nvPr/>
        </p:nvCxnSpPr>
        <p:spPr>
          <a:xfrm>
            <a:off x="1674812" y="5572125"/>
            <a:ext cx="0" cy="22225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UMMER_L_m1_fanin_right_h"/>
          <p:cNvCxnSpPr/>
          <p:nvPr/>
        </p:nvCxnSpPr>
        <p:spPr>
          <a:xfrm flipH="1">
            <a:off x="1555750" y="5794375"/>
            <a:ext cx="119062" cy="0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UMMER_L_m1_f2"/>
          <p:cNvCxnSpPr/>
          <p:nvPr/>
        </p:nvCxnSpPr>
        <p:spPr>
          <a:xfrm>
            <a:off x="1111250" y="5222875"/>
            <a:ext cx="0" cy="3175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UMMER_L_m1_f3"/>
          <p:cNvCxnSpPr/>
          <p:nvPr/>
        </p:nvCxnSpPr>
        <p:spPr>
          <a:xfrm>
            <a:off x="1111250" y="5572125"/>
            <a:ext cx="0" cy="127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UMMER_L_m1_f4"/>
          <p:cNvCxnSpPr/>
          <p:nvPr/>
        </p:nvCxnSpPr>
        <p:spPr>
          <a:xfrm>
            <a:off x="1111250" y="5897562"/>
            <a:ext cx="0" cy="119063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UMMER_L_m1_f5"/>
          <p:cNvCxnSpPr/>
          <p:nvPr/>
        </p:nvCxnSpPr>
        <p:spPr>
          <a:xfrm>
            <a:off x="1111250" y="6223000"/>
            <a:ext cx="0" cy="9525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SUMMER_T_m1_p0"/>
          <p:cNvSpPr txBox="1"/>
          <p:nvPr/>
        </p:nvSpPr>
        <p:spPr>
          <a:xfrm>
            <a:off x="2063750" y="4810125"/>
            <a:ext cx="1952625" cy="444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多尺度并行感知，捕获不同
大小的缺陷信息</a:t>
            </a:r>
          </a:p>
        </p:txBody>
      </p:sp>
      <p:sp>
        <p:nvSpPr>
          <p:cNvPr id="233" name="SUMMER_T_m1_p1"/>
          <p:cNvSpPr txBox="1"/>
          <p:nvPr/>
        </p:nvSpPr>
        <p:spPr>
          <a:xfrm>
            <a:off x="2063750" y="5334000"/>
            <a:ext cx="1952625" cy="444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增强细节特征表达，保留
边缘和纹理</a:t>
            </a:r>
          </a:p>
        </p:txBody>
      </p:sp>
      <p:sp>
        <p:nvSpPr>
          <p:cNvPr id="234" name="SUMMER_T_m1_p2"/>
          <p:cNvSpPr txBox="1"/>
          <p:nvPr/>
        </p:nvSpPr>
        <p:spPr>
          <a:xfrm>
            <a:off x="2063750" y="5857875"/>
            <a:ext cx="1952625" cy="444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EMA 注意力增强关键特征，
抑制冗余信息</a:t>
            </a:r>
          </a:p>
        </p:txBody>
      </p:sp>
      <p:sp>
        <p:nvSpPr>
          <p:cNvPr id="235" name="SUMMER_T_m2_title"/>
          <p:cNvSpPr txBox="1"/>
          <p:nvPr/>
        </p:nvSpPr>
        <p:spPr>
          <a:xfrm>
            <a:off x="3952875" y="4492625"/>
            <a:ext cx="3238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模块二：LOSC（方向性下采样建模）</a:t>
            </a:r>
          </a:p>
        </p:txBody>
      </p:sp>
      <p:sp>
        <p:nvSpPr>
          <p:cNvPr id="236" name="SUMMER_T_m2_in"/>
          <p:cNvSpPr txBox="1"/>
          <p:nvPr/>
        </p:nvSpPr>
        <p:spPr>
          <a:xfrm>
            <a:off x="4127500" y="4714875"/>
            <a:ext cx="95250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输入特征</a:t>
            </a:r>
          </a:p>
        </p:txBody>
      </p:sp>
      <p:sp>
        <p:nvSpPr>
          <p:cNvPr id="237" name="SUMMER_G_m2_in_bg"/>
          <p:cNvSpPr/>
          <p:nvPr/>
        </p:nvSpPr>
        <p:spPr>
          <a:xfrm>
            <a:off x="4294187" y="4897437"/>
            <a:ext cx="587375" cy="3810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SUMMER_G_m2_in_v1"/>
          <p:cNvCxnSpPr/>
          <p:nvPr/>
        </p:nvCxnSpPr>
        <p:spPr>
          <a:xfrm>
            <a:off x="4441031" y="4897437"/>
            <a:ext cx="0" cy="3810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UMMER_G_m2_in_v2"/>
          <p:cNvCxnSpPr/>
          <p:nvPr/>
        </p:nvCxnSpPr>
        <p:spPr>
          <a:xfrm>
            <a:off x="4587875" y="4897437"/>
            <a:ext cx="0" cy="3810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UMMER_G_m2_in_v3"/>
          <p:cNvCxnSpPr/>
          <p:nvPr/>
        </p:nvCxnSpPr>
        <p:spPr>
          <a:xfrm>
            <a:off x="4734718" y="4897437"/>
            <a:ext cx="0" cy="3810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UMMER_G_m2_in_h1"/>
          <p:cNvCxnSpPr/>
          <p:nvPr/>
        </p:nvCxnSpPr>
        <p:spPr>
          <a:xfrm>
            <a:off x="4294187" y="5024437"/>
            <a:ext cx="587375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UMMER_G_m2_in_h2"/>
          <p:cNvCxnSpPr/>
          <p:nvPr/>
        </p:nvCxnSpPr>
        <p:spPr>
          <a:xfrm>
            <a:off x="4294187" y="5151437"/>
            <a:ext cx="587375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SUMMER_E_m2_down"/>
          <p:cNvSpPr/>
          <p:nvPr/>
        </p:nvSpPr>
        <p:spPr>
          <a:xfrm>
            <a:off x="4413250" y="5508625"/>
            <a:ext cx="349250" cy="349250"/>
          </a:xfrm>
          <a:prstGeom prst="ellipse">
            <a:avLst/>
          </a:prstGeom>
          <a:solidFill>
            <a:srgbClr val="F4A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UMMER_E_m2_down_text"/>
          <p:cNvSpPr txBox="1"/>
          <p:nvPr/>
        </p:nvSpPr>
        <p:spPr>
          <a:xfrm>
            <a:off x="4413250" y="5508625"/>
            <a:ext cx="349250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245" name="SUMMER_G_m2_out_bg"/>
          <p:cNvSpPr/>
          <p:nvPr/>
        </p:nvSpPr>
        <p:spPr>
          <a:xfrm>
            <a:off x="4365625" y="6111875"/>
            <a:ext cx="460375" cy="269875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SUMMER_G_m2_out_v1"/>
          <p:cNvCxnSpPr/>
          <p:nvPr/>
        </p:nvCxnSpPr>
        <p:spPr>
          <a:xfrm>
            <a:off x="4519083" y="6111875"/>
            <a:ext cx="0" cy="26987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UMMER_G_m2_out_v2"/>
          <p:cNvCxnSpPr/>
          <p:nvPr/>
        </p:nvCxnSpPr>
        <p:spPr>
          <a:xfrm>
            <a:off x="4672541" y="6111875"/>
            <a:ext cx="0" cy="26987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UMMER_G_m2_out_h1"/>
          <p:cNvCxnSpPr/>
          <p:nvPr/>
        </p:nvCxnSpPr>
        <p:spPr>
          <a:xfrm>
            <a:off x="4365625" y="6246812"/>
            <a:ext cx="460375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UMMER_T_m2_out"/>
          <p:cNvSpPr txBox="1"/>
          <p:nvPr/>
        </p:nvSpPr>
        <p:spPr>
          <a:xfrm>
            <a:off x="4127500" y="6397625"/>
            <a:ext cx="95250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50" name="SUMMER_L_m2_f1"/>
          <p:cNvCxnSpPr/>
          <p:nvPr/>
        </p:nvCxnSpPr>
        <p:spPr>
          <a:xfrm>
            <a:off x="4587875" y="5278437"/>
            <a:ext cx="0" cy="230188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UMMER_L_m2_f2"/>
          <p:cNvCxnSpPr/>
          <p:nvPr/>
        </p:nvCxnSpPr>
        <p:spPr>
          <a:xfrm>
            <a:off x="4587875" y="5857875"/>
            <a:ext cx="0" cy="254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SUMMER_T_m2_p0"/>
          <p:cNvSpPr txBox="1"/>
          <p:nvPr/>
        </p:nvSpPr>
        <p:spPr>
          <a:xfrm>
            <a:off x="5357812" y="4953000"/>
            <a:ext cx="1873250" cy="381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19" b="0">
                <a:solidFill>
                  <a:srgbClr val="0C0C0C"/>
                </a:solidFill>
                <a:latin typeface="PingFang SC"/>
              </a:rPr>
              <a:t>•  引入方向性卷积核</a:t>
            </a:r>
          </a:p>
        </p:txBody>
      </p:sp>
      <p:sp>
        <p:nvSpPr>
          <p:cNvPr id="253" name="SUMMER_T_m2_p1"/>
          <p:cNvSpPr txBox="1"/>
          <p:nvPr/>
        </p:nvSpPr>
        <p:spPr>
          <a:xfrm>
            <a:off x="5357812" y="5270500"/>
            <a:ext cx="1873250" cy="381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19" b="0">
                <a:solidFill>
                  <a:srgbClr val="0C0C0C"/>
                </a:solidFill>
                <a:latin typeface="PingFang SC"/>
              </a:rPr>
              <a:t>•  沿关键方向提取特征</a:t>
            </a:r>
          </a:p>
        </p:txBody>
      </p:sp>
      <p:sp>
        <p:nvSpPr>
          <p:cNvPr id="254" name="SUMMER_T_m2_p2"/>
          <p:cNvSpPr txBox="1"/>
          <p:nvPr/>
        </p:nvSpPr>
        <p:spPr>
          <a:xfrm>
            <a:off x="5357812" y="5588000"/>
            <a:ext cx="1873250" cy="381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19" b="0">
                <a:solidFill>
                  <a:srgbClr val="0C0C0C"/>
                </a:solidFill>
                <a:latin typeface="PingFang SC"/>
              </a:rPr>
              <a:t>•  抑制无关干扰，保留方向信息</a:t>
            </a:r>
          </a:p>
        </p:txBody>
      </p:sp>
      <p:sp>
        <p:nvSpPr>
          <p:cNvPr id="255" name="SUMMER_T_m2_p3"/>
          <p:cNvSpPr txBox="1"/>
          <p:nvPr/>
        </p:nvSpPr>
        <p:spPr>
          <a:xfrm>
            <a:off x="5357812" y="5905500"/>
            <a:ext cx="1873250" cy="381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19" b="0">
                <a:solidFill>
                  <a:srgbClr val="0C0C0C"/>
                </a:solidFill>
                <a:latin typeface="PingFang SC"/>
              </a:rPr>
              <a:t>•  增强对工业表面纹理与缺陷
形态的建模能力</a:t>
            </a:r>
          </a:p>
        </p:txBody>
      </p:sp>
      <p:sp>
        <p:nvSpPr>
          <p:cNvPr id="256" name="SUMMER_T_m3_title"/>
          <p:cNvSpPr txBox="1"/>
          <p:nvPr/>
        </p:nvSpPr>
        <p:spPr>
          <a:xfrm>
            <a:off x="7270750" y="4492625"/>
            <a:ext cx="4841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模块三：CGAFusion（高低频自适应融合）</a:t>
            </a:r>
          </a:p>
        </p:txBody>
      </p:sp>
      <p:sp>
        <p:nvSpPr>
          <p:cNvPr id="257" name="SUMMER_T_m3_fh"/>
          <p:cNvSpPr txBox="1"/>
          <p:nvPr/>
        </p:nvSpPr>
        <p:spPr>
          <a:xfrm>
            <a:off x="7381875" y="4746625"/>
            <a:ext cx="1031875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输入特征 Fh（高频）</a:t>
            </a:r>
          </a:p>
        </p:txBody>
      </p:sp>
      <p:sp>
        <p:nvSpPr>
          <p:cNvPr id="258" name="SUMMER_G_m3_fh_bg"/>
          <p:cNvSpPr/>
          <p:nvPr/>
        </p:nvSpPr>
        <p:spPr>
          <a:xfrm>
            <a:off x="7508875" y="4905375"/>
            <a:ext cx="444500" cy="365125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SUMMER_G_m3_fh_v1"/>
          <p:cNvCxnSpPr/>
          <p:nvPr/>
        </p:nvCxnSpPr>
        <p:spPr>
          <a:xfrm>
            <a:off x="7620000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UMMER_G_m3_fh_v2"/>
          <p:cNvCxnSpPr/>
          <p:nvPr/>
        </p:nvCxnSpPr>
        <p:spPr>
          <a:xfrm>
            <a:off x="773112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UMMER_G_m3_fh_v3"/>
          <p:cNvCxnSpPr/>
          <p:nvPr/>
        </p:nvCxnSpPr>
        <p:spPr>
          <a:xfrm>
            <a:off x="7842250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UMMER_G_m3_fh_h1"/>
          <p:cNvCxnSpPr/>
          <p:nvPr/>
        </p:nvCxnSpPr>
        <p:spPr>
          <a:xfrm>
            <a:off x="7508875" y="5027083"/>
            <a:ext cx="4445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UMMER_G_m3_fh_h2"/>
          <p:cNvCxnSpPr/>
          <p:nvPr/>
        </p:nvCxnSpPr>
        <p:spPr>
          <a:xfrm>
            <a:off x="7508875" y="5148791"/>
            <a:ext cx="4445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SUMMER_E_m3_high"/>
          <p:cNvSpPr/>
          <p:nvPr/>
        </p:nvSpPr>
        <p:spPr>
          <a:xfrm>
            <a:off x="8429625" y="4921250"/>
            <a:ext cx="746125" cy="3175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SUMMER_L_m3_input_high"/>
          <p:cNvCxnSpPr/>
          <p:nvPr/>
        </p:nvCxnSpPr>
        <p:spPr>
          <a:xfrm>
            <a:off x="7953375" y="5080000"/>
            <a:ext cx="476250" cy="0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SUMMER_T_m3_high"/>
          <p:cNvSpPr txBox="1"/>
          <p:nvPr/>
        </p:nvSpPr>
        <p:spPr>
          <a:xfrm>
            <a:off x="8429625" y="4953000"/>
            <a:ext cx="746125" cy="254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550D8"/>
                </a:solidFill>
                <a:latin typeface="PingFang SC"/>
              </a:rPr>
              <a:t>高频分支
（细节信息）</a:t>
            </a:r>
          </a:p>
        </p:txBody>
      </p:sp>
      <p:sp>
        <p:nvSpPr>
          <p:cNvPr id="267" name="SUMMER_T_m3_fl"/>
          <p:cNvSpPr txBox="1"/>
          <p:nvPr/>
        </p:nvSpPr>
        <p:spPr>
          <a:xfrm>
            <a:off x="7381875" y="5413375"/>
            <a:ext cx="1031875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输入特征 Fl（低频）</a:t>
            </a:r>
          </a:p>
        </p:txBody>
      </p:sp>
      <p:sp>
        <p:nvSpPr>
          <p:cNvPr id="268" name="SUMMER_G_m3_fl_bg"/>
          <p:cNvSpPr/>
          <p:nvPr/>
        </p:nvSpPr>
        <p:spPr>
          <a:xfrm>
            <a:off x="7508875" y="5572125"/>
            <a:ext cx="444500" cy="365125"/>
          </a:xfrm>
          <a:prstGeom prst="rect">
            <a:avLst/>
          </a:prstGeom>
          <a:solidFill>
            <a:srgbClr val="E0F2D8"/>
          </a:solidFill>
          <a:ln w="9525">
            <a:solidFill>
              <a:srgbClr val="70B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SUMMER_G_m3_fl_v1"/>
          <p:cNvCxnSpPr/>
          <p:nvPr/>
        </p:nvCxnSpPr>
        <p:spPr>
          <a:xfrm>
            <a:off x="7620000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UMMER_G_m3_fl_v2"/>
          <p:cNvCxnSpPr/>
          <p:nvPr/>
        </p:nvCxnSpPr>
        <p:spPr>
          <a:xfrm>
            <a:off x="7731125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UMMER_G_m3_fl_v3"/>
          <p:cNvCxnSpPr/>
          <p:nvPr/>
        </p:nvCxnSpPr>
        <p:spPr>
          <a:xfrm>
            <a:off x="7842250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UMMER_G_m3_fl_h1"/>
          <p:cNvCxnSpPr/>
          <p:nvPr/>
        </p:nvCxnSpPr>
        <p:spPr>
          <a:xfrm>
            <a:off x="7508875" y="5693833"/>
            <a:ext cx="444500" cy="0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UMMER_G_m3_fl_h2"/>
          <p:cNvCxnSpPr/>
          <p:nvPr/>
        </p:nvCxnSpPr>
        <p:spPr>
          <a:xfrm>
            <a:off x="7508875" y="5815541"/>
            <a:ext cx="444500" cy="0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SUMMER_E_m3_low"/>
          <p:cNvSpPr/>
          <p:nvPr/>
        </p:nvSpPr>
        <p:spPr>
          <a:xfrm>
            <a:off x="8429625" y="5588000"/>
            <a:ext cx="746125" cy="317500"/>
          </a:xfrm>
          <a:prstGeom prst="roundRect">
            <a:avLst>
              <a:gd name="adj" fmla="val 8000"/>
            </a:avLst>
          </a:prstGeom>
          <a:solidFill>
            <a:srgbClr val="EBF8EE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SUMMER_L_m3_input_low"/>
          <p:cNvCxnSpPr/>
          <p:nvPr/>
        </p:nvCxnSpPr>
        <p:spPr>
          <a:xfrm>
            <a:off x="7953375" y="5746750"/>
            <a:ext cx="476250" cy="0"/>
          </a:xfrm>
          <a:prstGeom prst="line">
            <a:avLst/>
          </a:prstGeom>
          <a:ln w="1016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SUMMER_T_m3_low"/>
          <p:cNvSpPr txBox="1"/>
          <p:nvPr/>
        </p:nvSpPr>
        <p:spPr>
          <a:xfrm>
            <a:off x="8429625" y="5619750"/>
            <a:ext cx="746125" cy="254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1C9454"/>
                </a:solidFill>
                <a:latin typeface="PingFang SC"/>
              </a:rPr>
              <a:t>低频分支
（结构信息）</a:t>
            </a:r>
          </a:p>
        </p:txBody>
      </p:sp>
      <p:sp>
        <p:nvSpPr>
          <p:cNvPr id="277" name="SUMMER_E_m3_add"/>
          <p:cNvSpPr/>
          <p:nvPr/>
        </p:nvSpPr>
        <p:spPr>
          <a:xfrm>
            <a:off x="9477375" y="5588000"/>
            <a:ext cx="317500" cy="317500"/>
          </a:xfrm>
          <a:prstGeom prst="ellipse">
            <a:avLst/>
          </a:prstGeom>
          <a:solidFill>
            <a:srgbClr val="9EE2EB"/>
          </a:solidFill>
          <a:ln w="10160">
            <a:solidFill>
              <a:srgbClr val="199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UMMER_E_m3_add_text"/>
          <p:cNvSpPr txBox="1"/>
          <p:nvPr/>
        </p:nvSpPr>
        <p:spPr>
          <a:xfrm>
            <a:off x="9477375" y="5588000"/>
            <a:ext cx="317500" cy="317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279" name="SUMMER_G_m3_out_bg"/>
          <p:cNvSpPr/>
          <p:nvPr/>
        </p:nvSpPr>
        <p:spPr>
          <a:xfrm>
            <a:off x="9429750" y="6111875"/>
            <a:ext cx="412750" cy="317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SUMMER_G_m3_out_v1"/>
          <p:cNvCxnSpPr/>
          <p:nvPr/>
        </p:nvCxnSpPr>
        <p:spPr>
          <a:xfrm>
            <a:off x="9567333" y="61118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SUMMER_G_m3_out_v2"/>
          <p:cNvCxnSpPr/>
          <p:nvPr/>
        </p:nvCxnSpPr>
        <p:spPr>
          <a:xfrm>
            <a:off x="9704916" y="61118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UMMER_G_m3_out_h1"/>
          <p:cNvCxnSpPr/>
          <p:nvPr/>
        </p:nvCxnSpPr>
        <p:spPr>
          <a:xfrm>
            <a:off x="9429750" y="6270625"/>
            <a:ext cx="4127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SUMMER_T_m3_out"/>
          <p:cNvSpPr txBox="1"/>
          <p:nvPr/>
        </p:nvSpPr>
        <p:spPr>
          <a:xfrm>
            <a:off x="9239250" y="6445250"/>
            <a:ext cx="79375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84" name="SUMMER_L_m3_f1_seg1"/>
          <p:cNvCxnSpPr/>
          <p:nvPr/>
        </p:nvCxnSpPr>
        <p:spPr>
          <a:xfrm>
            <a:off x="9175750" y="5080000"/>
            <a:ext cx="460375" cy="0"/>
          </a:xfrm>
          <a:prstGeom prst="line">
            <a:avLst/>
          </a:prstGeom>
          <a:ln w="13970">
            <a:solidFill>
              <a:srgbClr val="373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UMMER_L_m3_f1_seg2"/>
          <p:cNvCxnSpPr/>
          <p:nvPr/>
        </p:nvCxnSpPr>
        <p:spPr>
          <a:xfrm>
            <a:off x="9636125" y="5080000"/>
            <a:ext cx="0" cy="484187"/>
          </a:xfrm>
          <a:prstGeom prst="line">
            <a:avLst/>
          </a:prstGeom>
          <a:ln w="13970">
            <a:solidFill>
              <a:srgbClr val="373A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UMMER_L_m3_f2_seg1"/>
          <p:cNvCxnSpPr/>
          <p:nvPr/>
        </p:nvCxnSpPr>
        <p:spPr>
          <a:xfrm>
            <a:off x="9175750" y="5746750"/>
            <a:ext cx="277812" cy="0"/>
          </a:xfrm>
          <a:prstGeom prst="line">
            <a:avLst/>
          </a:prstGeom>
          <a:ln w="13970">
            <a:solidFill>
              <a:srgbClr val="373A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UMMER_L_m3_f3"/>
          <p:cNvCxnSpPr/>
          <p:nvPr/>
        </p:nvCxnSpPr>
        <p:spPr>
          <a:xfrm>
            <a:off x="9636125" y="5905500"/>
            <a:ext cx="0" cy="20637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SUMMER_T_m3_p0"/>
          <p:cNvSpPr txBox="1"/>
          <p:nvPr/>
        </p:nvSpPr>
        <p:spPr>
          <a:xfrm>
            <a:off x="10144125" y="4937125"/>
            <a:ext cx="1984375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分离高频细节与低频结构信息</a:t>
            </a:r>
          </a:p>
        </p:txBody>
      </p:sp>
      <p:sp>
        <p:nvSpPr>
          <p:cNvPr id="289" name="SUMMER_T_m3_p1"/>
          <p:cNvSpPr txBox="1"/>
          <p:nvPr/>
        </p:nvSpPr>
        <p:spPr>
          <a:xfrm>
            <a:off x="10144125" y="5334000"/>
            <a:ext cx="1984375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空间联合注意力自适应融合</a:t>
            </a:r>
          </a:p>
        </p:txBody>
      </p:sp>
      <p:sp>
        <p:nvSpPr>
          <p:cNvPr id="290" name="SUMMER_T_m3_p2"/>
          <p:cNvSpPr txBox="1"/>
          <p:nvPr/>
        </p:nvSpPr>
        <p:spPr>
          <a:xfrm>
            <a:off x="10144125" y="5730875"/>
            <a:ext cx="1984375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突出关键细节，抑制噪声干扰</a:t>
            </a:r>
          </a:p>
        </p:txBody>
      </p:sp>
      <p:sp>
        <p:nvSpPr>
          <p:cNvPr id="291" name="SUMMER_T_m3_p3"/>
          <p:cNvSpPr txBox="1"/>
          <p:nvPr/>
        </p:nvSpPr>
        <p:spPr>
          <a:xfrm>
            <a:off x="10144125" y="6127750"/>
            <a:ext cx="1984375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t">
            <a:spAutoFit/>
          </a:bodyPr>
          <a:lstStyle/>
          <a:p>
            <a:pPr algn="l"/>
            <a:r>
              <a:rPr sz="900" b="0">
                <a:solidFill>
                  <a:srgbClr val="0C0C0C"/>
                </a:solidFill>
                <a:latin typeface="PingFang SC"/>
              </a:rPr>
              <a:t>•  提升特征表达与泛化能力</a:t>
            </a:r>
          </a:p>
        </p:txBody>
      </p:sp>
      <p:sp>
        <p:nvSpPr>
          <p:cNvPr id="292" name="SUMMER_E_panel_b1"/>
          <p:cNvSpPr/>
          <p:nvPr/>
        </p:nvSpPr>
        <p:spPr>
          <a:xfrm>
            <a:off x="95250" y="6715125"/>
            <a:ext cx="2428875" cy="1325562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UMMER_E_panel_b2"/>
          <p:cNvSpPr/>
          <p:nvPr/>
        </p:nvSpPr>
        <p:spPr>
          <a:xfrm>
            <a:off x="2778125" y="6715125"/>
            <a:ext cx="4198937" cy="1325562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UMMER_E_panel_b3"/>
          <p:cNvSpPr/>
          <p:nvPr/>
        </p:nvSpPr>
        <p:spPr>
          <a:xfrm>
            <a:off x="7207250" y="6715125"/>
            <a:ext cx="1793875" cy="1325562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UMMER_E_panel_b4"/>
          <p:cNvSpPr/>
          <p:nvPr/>
        </p:nvSpPr>
        <p:spPr>
          <a:xfrm>
            <a:off x="9128125" y="6715125"/>
            <a:ext cx="2952750" cy="1325562"/>
          </a:xfrm>
          <a:prstGeom prst="roundRect">
            <a:avLst>
              <a:gd name="adj" fmla="val 6000"/>
            </a:avLst>
          </a:prstGeom>
          <a:solidFill>
            <a:srgbClr val="FDFDFD"/>
          </a:solidFill>
          <a:ln w="10160">
            <a:solidFill>
              <a:srgbClr val="C0C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UMMER_T_b1_title"/>
          <p:cNvSpPr txBox="1"/>
          <p:nvPr/>
        </p:nvSpPr>
        <p:spPr>
          <a:xfrm>
            <a:off x="95250" y="6826250"/>
            <a:ext cx="2555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输出多尺度特征金字塔</a:t>
            </a:r>
          </a:p>
        </p:txBody>
      </p:sp>
      <p:sp>
        <p:nvSpPr>
          <p:cNvPr id="297" name="SUMMER_E_out_p3_top"/>
          <p:cNvSpPr/>
          <p:nvPr/>
        </p:nvSpPr>
        <p:spPr>
          <a:xfrm>
            <a:off x="368300" y="7099300"/>
            <a:ext cx="342900" cy="63500"/>
          </a:xfrm>
          <a:custGeom>
            <a:avLst/>
            <a:gdLst/>
            <a:ahLst/>
            <a:cxnLst/>
            <a:rect l="l" t="t" r="r" b="b"/>
            <a:pathLst>
              <a:path w="27" h="5">
                <a:moveTo>
                  <a:pt x="0" y="5"/>
                </a:moveTo>
                <a:lnTo>
                  <a:pt x="5" y="0"/>
                </a:lnTo>
                <a:lnTo>
                  <a:pt x="27" y="0"/>
                </a:lnTo>
                <a:lnTo>
                  <a:pt x="22" y="5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UMMER_E_out_p3_front"/>
          <p:cNvSpPr/>
          <p:nvPr/>
        </p:nvSpPr>
        <p:spPr>
          <a:xfrm>
            <a:off x="368300" y="7162800"/>
            <a:ext cx="279400" cy="254000"/>
          </a:xfrm>
          <a:custGeom>
            <a:avLst/>
            <a:gdLst/>
            <a:ahLst/>
            <a:cxnLst/>
            <a:rect l="l" t="t" r="r" b="b"/>
            <a:pathLst>
              <a:path w="22" h="20">
                <a:moveTo>
                  <a:pt x="0" y="0"/>
                </a:moveTo>
                <a:lnTo>
                  <a:pt x="22" y="0"/>
                </a:lnTo>
                <a:lnTo>
                  <a:pt x="22" y="20"/>
                </a:lnTo>
                <a:lnTo>
                  <a:pt x="0" y="20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UMMER_E_out_p3_right"/>
          <p:cNvSpPr/>
          <p:nvPr/>
        </p:nvSpPr>
        <p:spPr>
          <a:xfrm>
            <a:off x="647700" y="70993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5" h="25">
                <a:moveTo>
                  <a:pt x="0" y="5"/>
                </a:moveTo>
                <a:lnTo>
                  <a:pt x="5" y="0"/>
                </a:lnTo>
                <a:lnTo>
                  <a:pt x="5" y="20"/>
                </a:lnTo>
                <a:lnTo>
                  <a:pt x="0" y="25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UMMER_E_out_p3_label"/>
          <p:cNvSpPr txBox="1"/>
          <p:nvPr/>
        </p:nvSpPr>
        <p:spPr>
          <a:xfrm>
            <a:off x="269875" y="7493000"/>
            <a:ext cx="587375" cy="396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E03A26"/>
                </a:solidFill>
                <a:latin typeface="PingFang SC"/>
              </a:rPr>
              <a:t>P3
（80×C）</a:t>
            </a:r>
          </a:p>
        </p:txBody>
      </p:sp>
      <p:sp>
        <p:nvSpPr>
          <p:cNvPr id="301" name="SUMMER_E_out_p4_top"/>
          <p:cNvSpPr/>
          <p:nvPr/>
        </p:nvSpPr>
        <p:spPr>
          <a:xfrm>
            <a:off x="1092200" y="7137400"/>
            <a:ext cx="317500" cy="76200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5" y="0"/>
                </a:lnTo>
                <a:lnTo>
                  <a:pt x="25" y="0"/>
                </a:lnTo>
                <a:lnTo>
                  <a:pt x="20" y="6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UMMER_E_out_p4_front"/>
          <p:cNvSpPr/>
          <p:nvPr/>
        </p:nvSpPr>
        <p:spPr>
          <a:xfrm>
            <a:off x="1092200" y="7213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0" h="16">
                <a:moveTo>
                  <a:pt x="0" y="0"/>
                </a:moveTo>
                <a:lnTo>
                  <a:pt x="20" y="0"/>
                </a:lnTo>
                <a:lnTo>
                  <a:pt x="20" y="16"/>
                </a:lnTo>
                <a:lnTo>
                  <a:pt x="0" y="16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UMMER_E_out_p4_right"/>
          <p:cNvSpPr/>
          <p:nvPr/>
        </p:nvSpPr>
        <p:spPr>
          <a:xfrm>
            <a:off x="1346200" y="7137400"/>
            <a:ext cx="63500" cy="279400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6"/>
                </a:moveTo>
                <a:lnTo>
                  <a:pt x="5" y="0"/>
                </a:lnTo>
                <a:lnTo>
                  <a:pt x="5" y="17"/>
                </a:lnTo>
                <a:lnTo>
                  <a:pt x="0" y="22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UMMER_E_out_p4_label"/>
          <p:cNvSpPr txBox="1"/>
          <p:nvPr/>
        </p:nvSpPr>
        <p:spPr>
          <a:xfrm>
            <a:off x="984250" y="7524750"/>
            <a:ext cx="555625" cy="3810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1C9454"/>
                </a:solidFill>
                <a:latin typeface="PingFang SC"/>
              </a:rPr>
              <a:t>P4
（40×C）</a:t>
            </a:r>
          </a:p>
        </p:txBody>
      </p:sp>
      <p:sp>
        <p:nvSpPr>
          <p:cNvPr id="305" name="SUMMER_E_out_p5_top"/>
          <p:cNvSpPr/>
          <p:nvPr/>
        </p:nvSpPr>
        <p:spPr>
          <a:xfrm>
            <a:off x="1803400" y="7188200"/>
            <a:ext cx="279400" cy="63500"/>
          </a:xfrm>
          <a:custGeom>
            <a:avLst/>
            <a:gdLst/>
            <a:ahLst/>
            <a:cxnLst/>
            <a:rect l="l" t="t" r="r" b="b"/>
            <a:pathLst>
              <a:path w="22" h="5">
                <a:moveTo>
                  <a:pt x="0" y="5"/>
                </a:moveTo>
                <a:lnTo>
                  <a:pt x="5" y="0"/>
                </a:lnTo>
                <a:lnTo>
                  <a:pt x="22" y="0"/>
                </a:lnTo>
                <a:lnTo>
                  <a:pt x="18" y="5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UMMER_E_out_p5_front"/>
          <p:cNvSpPr/>
          <p:nvPr/>
        </p:nvSpPr>
        <p:spPr>
          <a:xfrm>
            <a:off x="1803400" y="725170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0" y="0"/>
                </a:moveTo>
                <a:lnTo>
                  <a:pt x="18" y="0"/>
                </a:lnTo>
                <a:lnTo>
                  <a:pt x="18" y="14"/>
                </a:lnTo>
                <a:lnTo>
                  <a:pt x="0" y="14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UMMER_E_out_p5_right"/>
          <p:cNvSpPr/>
          <p:nvPr/>
        </p:nvSpPr>
        <p:spPr>
          <a:xfrm>
            <a:off x="2032000" y="7188200"/>
            <a:ext cx="50800" cy="241300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5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UMMER_E_out_p5_label"/>
          <p:cNvSpPr txBox="1"/>
          <p:nvPr/>
        </p:nvSpPr>
        <p:spPr>
          <a:xfrm>
            <a:off x="1619250" y="7556500"/>
            <a:ext cx="698500" cy="349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2550D8"/>
                </a:solidFill>
                <a:latin typeface="PingFang SC"/>
              </a:rPr>
              <a:t>P5
（20×C）</a:t>
            </a:r>
          </a:p>
        </p:txBody>
      </p:sp>
      <p:sp>
        <p:nvSpPr>
          <p:cNvPr id="309" name="SUMMER_T_b2_title"/>
          <p:cNvSpPr txBox="1"/>
          <p:nvPr/>
        </p:nvSpPr>
        <p:spPr>
          <a:xfrm>
            <a:off x="2778125" y="6794500"/>
            <a:ext cx="4198937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输入到 RT-DETR Head</a:t>
            </a:r>
          </a:p>
        </p:txBody>
      </p:sp>
      <p:sp>
        <p:nvSpPr>
          <p:cNvPr id="310" name="SUMMER_T_b2_iou"/>
          <p:cNvSpPr txBox="1"/>
          <p:nvPr/>
        </p:nvSpPr>
        <p:spPr>
          <a:xfrm>
            <a:off x="3032125" y="7016750"/>
            <a:ext cx="1127125" cy="3333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IoU-Aware
Query Selection</a:t>
            </a:r>
          </a:p>
        </p:txBody>
      </p:sp>
      <p:sp>
        <p:nvSpPr>
          <p:cNvPr id="311" name="SUMMER_E_b2_sq1_0"/>
          <p:cNvSpPr/>
          <p:nvPr/>
        </p:nvSpPr>
        <p:spPr>
          <a:xfrm>
            <a:off x="3048000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UMMER_E_b2_sq1_1"/>
          <p:cNvSpPr/>
          <p:nvPr/>
        </p:nvSpPr>
        <p:spPr>
          <a:xfrm>
            <a:off x="3230562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UMMER_E_b2_sq1_2"/>
          <p:cNvSpPr/>
          <p:nvPr/>
        </p:nvSpPr>
        <p:spPr>
          <a:xfrm>
            <a:off x="3413125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UMMER_E_b2_sq1_3"/>
          <p:cNvSpPr/>
          <p:nvPr/>
        </p:nvSpPr>
        <p:spPr>
          <a:xfrm>
            <a:off x="3595687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UMMER_E_b2_sq1_4"/>
          <p:cNvSpPr/>
          <p:nvPr/>
        </p:nvSpPr>
        <p:spPr>
          <a:xfrm>
            <a:off x="3778250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UMMER_E_b2_sq1_5"/>
          <p:cNvSpPr/>
          <p:nvPr/>
        </p:nvSpPr>
        <p:spPr>
          <a:xfrm>
            <a:off x="3960812" y="7413625"/>
            <a:ext cx="127000" cy="127000"/>
          </a:xfrm>
          <a:prstGeom prst="rect">
            <a:avLst/>
          </a:prstGeom>
          <a:solidFill>
            <a:srgbClr val="C6B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UMMER_E_b2_sq1_dots"/>
          <p:cNvSpPr txBox="1"/>
          <p:nvPr/>
        </p:nvSpPr>
        <p:spPr>
          <a:xfrm>
            <a:off x="4159250" y="7397750"/>
            <a:ext cx="238125" cy="1587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sp>
        <p:nvSpPr>
          <p:cNvPr id="318" name="SUMMER_T_b2_dec"/>
          <p:cNvSpPr txBox="1"/>
          <p:nvPr/>
        </p:nvSpPr>
        <p:spPr>
          <a:xfrm>
            <a:off x="4683125" y="6945312"/>
            <a:ext cx="2143125" cy="17462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850" b="0">
                <a:solidFill>
                  <a:srgbClr val="2550D8"/>
                </a:solidFill>
                <a:latin typeface="PingFang SC"/>
              </a:rPr>
              <a:t>Transformer Decoder × 6 层</a:t>
            </a:r>
          </a:p>
        </p:txBody>
      </p:sp>
      <p:sp>
        <p:nvSpPr>
          <p:cNvPr id="319" name="SUMMER_E_b2_sq2_0"/>
          <p:cNvSpPr/>
          <p:nvPr/>
        </p:nvSpPr>
        <p:spPr>
          <a:xfrm>
            <a:off x="4714875" y="7286625"/>
            <a:ext cx="174625" cy="254000"/>
          </a:xfrm>
          <a:prstGeom prst="roundRect">
            <a:avLst>
              <a:gd name="adj" fmla="val 8000"/>
            </a:avLst>
          </a:prstGeom>
          <a:solidFill>
            <a:srgbClr val="8C6ED6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SUMMER_L_b2_stem_top_0"/>
          <p:cNvCxnSpPr/>
          <p:nvPr/>
        </p:nvCxnSpPr>
        <p:spPr>
          <a:xfrm>
            <a:off x="4802187" y="7175500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UMMER_L_b2_stem_bottom_0"/>
          <p:cNvCxnSpPr/>
          <p:nvPr/>
        </p:nvCxnSpPr>
        <p:spPr>
          <a:xfrm>
            <a:off x="4802187" y="7540625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SUMMER_E_b2_sq2_1"/>
          <p:cNvSpPr/>
          <p:nvPr/>
        </p:nvSpPr>
        <p:spPr>
          <a:xfrm>
            <a:off x="5191125" y="7286625"/>
            <a:ext cx="174625" cy="254000"/>
          </a:xfrm>
          <a:prstGeom prst="roundRect">
            <a:avLst>
              <a:gd name="adj" fmla="val 8000"/>
            </a:avLst>
          </a:prstGeom>
          <a:solidFill>
            <a:srgbClr val="8C6ED6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SUMMER_L_b2_stem_top_1"/>
          <p:cNvCxnSpPr/>
          <p:nvPr/>
        </p:nvCxnSpPr>
        <p:spPr>
          <a:xfrm>
            <a:off x="5278437" y="7175500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UMMER_L_b2_stem_bottom_1"/>
          <p:cNvCxnSpPr/>
          <p:nvPr/>
        </p:nvCxnSpPr>
        <p:spPr>
          <a:xfrm>
            <a:off x="5278437" y="7540625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SUMMER_E_b2_sq2_2"/>
          <p:cNvSpPr/>
          <p:nvPr/>
        </p:nvSpPr>
        <p:spPr>
          <a:xfrm>
            <a:off x="5667375" y="7286625"/>
            <a:ext cx="174625" cy="254000"/>
          </a:xfrm>
          <a:prstGeom prst="roundRect">
            <a:avLst>
              <a:gd name="adj" fmla="val 8000"/>
            </a:avLst>
          </a:prstGeom>
          <a:solidFill>
            <a:srgbClr val="8C6ED6"/>
          </a:solidFill>
          <a:ln w="10160">
            <a:solidFill>
              <a:srgbClr val="703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SUMMER_L_b2_stem_top_2"/>
          <p:cNvCxnSpPr/>
          <p:nvPr/>
        </p:nvCxnSpPr>
        <p:spPr>
          <a:xfrm>
            <a:off x="5754687" y="7175500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UMMER_L_b2_stem_bottom_2"/>
          <p:cNvCxnSpPr/>
          <p:nvPr/>
        </p:nvCxnSpPr>
        <p:spPr>
          <a:xfrm>
            <a:off x="5754687" y="7540625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UMMER_L_b2_chain_0"/>
          <p:cNvCxnSpPr/>
          <p:nvPr/>
        </p:nvCxnSpPr>
        <p:spPr>
          <a:xfrm>
            <a:off x="4889500" y="7413625"/>
            <a:ext cx="301625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UMMER_L_b2_chain_1"/>
          <p:cNvCxnSpPr/>
          <p:nvPr/>
        </p:nvCxnSpPr>
        <p:spPr>
          <a:xfrm>
            <a:off x="5365750" y="7413625"/>
            <a:ext cx="301625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UMMER_L_b2_chain_2"/>
          <p:cNvCxnSpPr/>
          <p:nvPr/>
        </p:nvCxnSpPr>
        <p:spPr>
          <a:xfrm>
            <a:off x="5842000" y="7413625"/>
            <a:ext cx="95250" cy="0"/>
          </a:xfrm>
          <a:prstGeom prst="line">
            <a:avLst/>
          </a:prstGeom>
          <a:ln w="8890">
            <a:solidFill>
              <a:srgbClr val="703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UMMER_L_b2_chain_3"/>
          <p:cNvCxnSpPr/>
          <p:nvPr/>
        </p:nvCxnSpPr>
        <p:spPr>
          <a:xfrm>
            <a:off x="6350000" y="7413625"/>
            <a:ext cx="190500" cy="0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SUMMER_T_b2_dots2"/>
          <p:cNvSpPr txBox="1"/>
          <p:nvPr/>
        </p:nvSpPr>
        <p:spPr>
          <a:xfrm>
            <a:off x="5969000" y="7326312"/>
            <a:ext cx="381000" cy="19050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9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sp>
        <p:nvSpPr>
          <p:cNvPr id="333" name="SUMMER_E_b2_last"/>
          <p:cNvSpPr/>
          <p:nvPr/>
        </p:nvSpPr>
        <p:spPr>
          <a:xfrm>
            <a:off x="6540500" y="7286625"/>
            <a:ext cx="174625" cy="254000"/>
          </a:xfrm>
          <a:prstGeom prst="rect">
            <a:avLst/>
          </a:prstGeom>
          <a:solidFill>
            <a:srgbClr val="8C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SUMMER_L_b2_last_top"/>
          <p:cNvCxnSpPr/>
          <p:nvPr/>
        </p:nvCxnSpPr>
        <p:spPr>
          <a:xfrm>
            <a:off x="6627812" y="7175500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UMMER_L_b2_last_bottom"/>
          <p:cNvCxnSpPr/>
          <p:nvPr/>
        </p:nvCxnSpPr>
        <p:spPr>
          <a:xfrm>
            <a:off x="6627812" y="7540625"/>
            <a:ext cx="0" cy="111125"/>
          </a:xfrm>
          <a:prstGeom prst="line">
            <a:avLst/>
          </a:prstGeom>
          <a:ln w="8890">
            <a:solidFill>
              <a:srgbClr val="703E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UMMER_L_b2_flow"/>
          <p:cNvCxnSpPr/>
          <p:nvPr/>
        </p:nvCxnSpPr>
        <p:spPr>
          <a:xfrm>
            <a:off x="4175125" y="7477125"/>
            <a:ext cx="5080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UMMER_L_b1_b2"/>
          <p:cNvCxnSpPr/>
          <p:nvPr/>
        </p:nvCxnSpPr>
        <p:spPr>
          <a:xfrm>
            <a:off x="2524125" y="7413625"/>
            <a:ext cx="254000" cy="0"/>
          </a:xfrm>
          <a:prstGeom prst="line">
            <a:avLst/>
          </a:prstGeom>
          <a:ln w="3175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UMMER_L_b2_b3"/>
          <p:cNvCxnSpPr/>
          <p:nvPr/>
        </p:nvCxnSpPr>
        <p:spPr>
          <a:xfrm>
            <a:off x="6977062" y="7413625"/>
            <a:ext cx="230188" cy="0"/>
          </a:xfrm>
          <a:prstGeom prst="line">
            <a:avLst/>
          </a:prstGeom>
          <a:ln w="3175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SUMMER_T_b3_title"/>
          <p:cNvSpPr txBox="1"/>
          <p:nvPr/>
        </p:nvSpPr>
        <p:spPr>
          <a:xfrm>
            <a:off x="7207250" y="6826250"/>
            <a:ext cx="1793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检测结果</a:t>
            </a:r>
          </a:p>
        </p:txBody>
      </p:sp>
      <p:cxnSp>
        <p:nvCxnSpPr>
          <p:cNvPr id="340" name="SUMMER_E_b3_bars_axis_x"/>
          <p:cNvCxnSpPr/>
          <p:nvPr/>
        </p:nvCxnSpPr>
        <p:spPr>
          <a:xfrm>
            <a:off x="7461250" y="7556500"/>
            <a:ext cx="412750" cy="0"/>
          </a:xfrm>
          <a:prstGeom prst="line">
            <a:avLst/>
          </a:prstGeom>
          <a:ln w="12700">
            <a:solidFill>
              <a:srgbClr val="255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UMMER_E_b3_bars_axis_y"/>
          <p:cNvCxnSpPr/>
          <p:nvPr/>
        </p:nvCxnSpPr>
        <p:spPr>
          <a:xfrm flipV="1">
            <a:off x="7461250" y="7127875"/>
            <a:ext cx="0" cy="428625"/>
          </a:xfrm>
          <a:prstGeom prst="line">
            <a:avLst/>
          </a:prstGeom>
          <a:ln w="12700">
            <a:solidFill>
              <a:srgbClr val="255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SUMMER_E_b3_bars_0"/>
          <p:cNvSpPr/>
          <p:nvPr/>
        </p:nvSpPr>
        <p:spPr>
          <a:xfrm>
            <a:off x="7493000" y="7358062"/>
            <a:ext cx="47625" cy="198437"/>
          </a:xfrm>
          <a:prstGeom prst="rect">
            <a:avLst/>
          </a:prstGeom>
          <a:solidFill>
            <a:srgbClr val="465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SUMMER_E_b3_bars_1"/>
          <p:cNvSpPr/>
          <p:nvPr/>
        </p:nvSpPr>
        <p:spPr>
          <a:xfrm>
            <a:off x="7564437" y="7159625"/>
            <a:ext cx="47625" cy="396875"/>
          </a:xfrm>
          <a:prstGeom prst="rect">
            <a:avLst/>
          </a:prstGeom>
          <a:solidFill>
            <a:srgbClr val="465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SUMMER_E_b3_bars_2"/>
          <p:cNvSpPr/>
          <p:nvPr/>
        </p:nvSpPr>
        <p:spPr>
          <a:xfrm>
            <a:off x="7635875" y="7413625"/>
            <a:ext cx="47625" cy="142875"/>
          </a:xfrm>
          <a:prstGeom prst="rect">
            <a:avLst/>
          </a:prstGeom>
          <a:solidFill>
            <a:srgbClr val="465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SUMMER_E_b3_bars_3"/>
          <p:cNvSpPr/>
          <p:nvPr/>
        </p:nvSpPr>
        <p:spPr>
          <a:xfrm>
            <a:off x="7707312" y="7270750"/>
            <a:ext cx="47625" cy="285750"/>
          </a:xfrm>
          <a:prstGeom prst="rect">
            <a:avLst/>
          </a:prstGeom>
          <a:solidFill>
            <a:srgbClr val="465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SUMMER_E_b3_bars_4"/>
          <p:cNvSpPr/>
          <p:nvPr/>
        </p:nvSpPr>
        <p:spPr>
          <a:xfrm>
            <a:off x="7778750" y="7461250"/>
            <a:ext cx="47625" cy="95250"/>
          </a:xfrm>
          <a:prstGeom prst="rect">
            <a:avLst/>
          </a:prstGeom>
          <a:solidFill>
            <a:srgbClr val="465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SUMMER_T_b3_bars"/>
          <p:cNvSpPr txBox="1"/>
          <p:nvPr/>
        </p:nvSpPr>
        <p:spPr>
          <a:xfrm>
            <a:off x="7270750" y="7604125"/>
            <a:ext cx="79375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类别概率</a:t>
            </a:r>
          </a:p>
        </p:txBody>
      </p:sp>
      <p:sp>
        <p:nvSpPr>
          <p:cNvPr id="348" name="SUMMER_E_b3_box1"/>
          <p:cNvSpPr/>
          <p:nvPr/>
        </p:nvSpPr>
        <p:spPr>
          <a:xfrm>
            <a:off x="8239125" y="7096125"/>
            <a:ext cx="301625" cy="365125"/>
          </a:xfrm>
          <a:prstGeom prst="rect">
            <a:avLst/>
          </a:prstGeom>
          <a:noFill/>
          <a:ln w="1524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UMMER_E_b3_box2"/>
          <p:cNvSpPr/>
          <p:nvPr/>
        </p:nvSpPr>
        <p:spPr>
          <a:xfrm>
            <a:off x="8382000" y="7223125"/>
            <a:ext cx="301625" cy="333375"/>
          </a:xfrm>
          <a:prstGeom prst="rect">
            <a:avLst/>
          </a:prstGeom>
          <a:noFill/>
          <a:ln w="1524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SUMMER_T_b3_box"/>
          <p:cNvSpPr txBox="1"/>
          <p:nvPr/>
        </p:nvSpPr>
        <p:spPr>
          <a:xfrm>
            <a:off x="8001000" y="7604125"/>
            <a:ext cx="984250" cy="142875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归一化边界框坐标</a:t>
            </a:r>
          </a:p>
        </p:txBody>
      </p:sp>
      <p:sp>
        <p:nvSpPr>
          <p:cNvPr id="351" name="SUMMER_T_b4_title"/>
          <p:cNvSpPr txBox="1"/>
          <p:nvPr/>
        </p:nvSpPr>
        <p:spPr>
          <a:xfrm>
            <a:off x="9128125" y="6754812"/>
            <a:ext cx="29527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37D2"/>
                </a:solidFill>
                <a:latin typeface="PingFang SC"/>
              </a:rPr>
              <a:t>三模块协同优势</a:t>
            </a:r>
          </a:p>
        </p:txBody>
      </p:sp>
      <p:pic>
        <p:nvPicPr>
          <p:cNvPr id="352" name="SUMMER_E_b4_icon0" descr="02_adv_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6937375"/>
            <a:ext cx="333375" cy="333375"/>
          </a:xfrm>
          <a:prstGeom prst="rect">
            <a:avLst/>
          </a:prstGeom>
        </p:spPr>
      </p:pic>
      <p:sp>
        <p:nvSpPr>
          <p:cNvPr id="353" name="SUMMER_T_b4_head0"/>
          <p:cNvSpPr txBox="1"/>
          <p:nvPr/>
        </p:nvSpPr>
        <p:spPr>
          <a:xfrm>
            <a:off x="9723437" y="7016750"/>
            <a:ext cx="571500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980" b="1">
                <a:solidFill>
                  <a:srgbClr val="0037D2"/>
                </a:solidFill>
                <a:latin typeface="PingFang SC"/>
              </a:rPr>
              <a:t>更精细：</a:t>
            </a:r>
          </a:p>
        </p:txBody>
      </p:sp>
      <p:sp>
        <p:nvSpPr>
          <p:cNvPr id="354" name="SUMMER_T_b4_tail0"/>
          <p:cNvSpPr txBox="1"/>
          <p:nvPr/>
        </p:nvSpPr>
        <p:spPr>
          <a:xfrm>
            <a:off x="10255250" y="7016750"/>
            <a:ext cx="1762125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1050" b="0">
                <a:solidFill>
                  <a:srgbClr val="121212"/>
                </a:solidFill>
                <a:latin typeface="PingFang SC"/>
              </a:rPr>
              <a:t>保留小目标细粒度特征</a:t>
            </a:r>
          </a:p>
        </p:txBody>
      </p:sp>
      <p:pic>
        <p:nvPicPr>
          <p:cNvPr id="355" name="SUMMER_E_b4_icon1" descr="03_adv_robu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7254875"/>
            <a:ext cx="333375" cy="333375"/>
          </a:xfrm>
          <a:prstGeom prst="rect">
            <a:avLst/>
          </a:prstGeom>
        </p:spPr>
      </p:pic>
      <p:sp>
        <p:nvSpPr>
          <p:cNvPr id="356" name="SUMMER_T_b4_head1"/>
          <p:cNvSpPr txBox="1"/>
          <p:nvPr/>
        </p:nvSpPr>
        <p:spPr>
          <a:xfrm>
            <a:off x="9723437" y="7334250"/>
            <a:ext cx="571500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980" b="1">
                <a:solidFill>
                  <a:srgbClr val="007D30"/>
                </a:solidFill>
                <a:latin typeface="PingFang SC"/>
              </a:rPr>
              <a:t>更鲁棒：</a:t>
            </a:r>
          </a:p>
        </p:txBody>
      </p:sp>
      <p:sp>
        <p:nvSpPr>
          <p:cNvPr id="357" name="SUMMER_T_b4_tail1"/>
          <p:cNvSpPr txBox="1"/>
          <p:nvPr/>
        </p:nvSpPr>
        <p:spPr>
          <a:xfrm>
            <a:off x="10255250" y="7334250"/>
            <a:ext cx="1762125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1050" b="0">
                <a:solidFill>
                  <a:srgbClr val="121212"/>
                </a:solidFill>
                <a:latin typeface="PingFang SC"/>
              </a:rPr>
              <a:t>增强方向性缺陷感知</a:t>
            </a:r>
          </a:p>
        </p:txBody>
      </p:sp>
      <p:pic>
        <p:nvPicPr>
          <p:cNvPr id="358" name="SUMMER_E_b4_icon2" descr="04_adv_effic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0" y="7572375"/>
            <a:ext cx="333375" cy="333375"/>
          </a:xfrm>
          <a:prstGeom prst="rect">
            <a:avLst/>
          </a:prstGeom>
        </p:spPr>
      </p:pic>
      <p:sp>
        <p:nvSpPr>
          <p:cNvPr id="359" name="SUMMER_T_b4_head2"/>
          <p:cNvSpPr txBox="1"/>
          <p:nvPr/>
        </p:nvSpPr>
        <p:spPr>
          <a:xfrm>
            <a:off x="9723437" y="7651750"/>
            <a:ext cx="571500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980" b="1">
                <a:solidFill>
                  <a:srgbClr val="FF371E"/>
                </a:solidFill>
                <a:latin typeface="PingFang SC"/>
              </a:rPr>
              <a:t>更高效：</a:t>
            </a:r>
          </a:p>
        </p:txBody>
      </p:sp>
      <p:sp>
        <p:nvSpPr>
          <p:cNvPr id="360" name="SUMMER_T_b4_tail2"/>
          <p:cNvSpPr txBox="1"/>
          <p:nvPr/>
        </p:nvSpPr>
        <p:spPr>
          <a:xfrm>
            <a:off x="10255250" y="7651750"/>
            <a:ext cx="1762125" cy="222250"/>
          </a:xfrm>
          <a:prstGeom prst="rect">
            <a:avLst/>
          </a:prstGeom>
          <a:noFill/>
          <a:effectLst/>
        </p:spPr>
        <p:txBody>
          <a:bodyPr wrap="square" lIns="6350" rIns="6350" tIns="6350" bIns="6350" anchor="ctr">
            <a:spAutoFit/>
          </a:bodyPr>
          <a:lstStyle/>
          <a:p>
            <a:pPr algn="l"/>
            <a:r>
              <a:rPr sz="1050" b="0">
                <a:solidFill>
                  <a:srgbClr val="121212"/>
                </a:solidFill>
                <a:latin typeface="PingFang SC"/>
              </a:rPr>
              <a:t>自适应融合多尺度特征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MMER_R_reference_full" descr="mphf-ne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