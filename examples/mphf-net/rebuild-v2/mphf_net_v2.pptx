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81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IG_E_banner"/>
          <p:cNvSpPr/>
          <p:nvPr/>
        </p:nvSpPr>
        <p:spPr>
          <a:xfrm>
            <a:off x="79375" y="63500"/>
            <a:ext cx="12033250" cy="428625"/>
          </a:xfrm>
          <a:prstGeom prst="roundRect">
            <a:avLst>
              <a:gd name="adj" fmla="val 18000"/>
            </a:avLst>
          </a:prstGeom>
          <a:solidFill>
            <a:srgbClr val="18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IG_T_banner"/>
          <p:cNvSpPr txBox="1"/>
          <p:nvPr/>
        </p:nvSpPr>
        <p:spPr>
          <a:xfrm>
            <a:off x="79375" y="95250"/>
            <a:ext cx="12033250" cy="3651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ingFang SC"/>
              </a:rPr>
              <a:t>MPHF-Net 工业表面缺陷检测网络结构设计图</a:t>
            </a:r>
          </a:p>
        </p:txBody>
      </p:sp>
      <p:sp>
        <p:nvSpPr>
          <p:cNvPr id="4" name="FIG_E_panel_input"/>
          <p:cNvSpPr/>
          <p:nvPr/>
        </p:nvSpPr>
        <p:spPr>
          <a:xfrm>
            <a:off x="95250" y="603250"/>
            <a:ext cx="1587500" cy="3651250"/>
          </a:xfrm>
          <a:prstGeom prst="roundRect">
            <a:avLst>
              <a:gd name="adj" fmla="val 8000"/>
            </a:avLst>
          </a:prstGeom>
          <a:solidFill>
            <a:srgbClr val="FCFCFE"/>
          </a:solidFill>
          <a:ln w="15240">
            <a:solidFill>
              <a:srgbClr val="CB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G_E_panel_backbone"/>
          <p:cNvSpPr/>
          <p:nvPr/>
        </p:nvSpPr>
        <p:spPr>
          <a:xfrm>
            <a:off x="1809750" y="603250"/>
            <a:ext cx="2047875" cy="3651250"/>
          </a:xfrm>
          <a:prstGeom prst="roundRect">
            <a:avLst>
              <a:gd name="adj" fmla="val 8000"/>
            </a:avLst>
          </a:prstGeom>
          <a:solidFill>
            <a:srgbClr val="FCFCFE"/>
          </a:solidFill>
          <a:ln w="15240">
            <a:solidFill>
              <a:srgbClr val="CB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IG_E_panel_neck"/>
          <p:cNvSpPr/>
          <p:nvPr/>
        </p:nvSpPr>
        <p:spPr>
          <a:xfrm>
            <a:off x="3952875" y="603250"/>
            <a:ext cx="4556125" cy="3651250"/>
          </a:xfrm>
          <a:prstGeom prst="roundRect">
            <a:avLst>
              <a:gd name="adj" fmla="val 8000"/>
            </a:avLst>
          </a:prstGeom>
          <a:solidFill>
            <a:srgbClr val="FCFCFE"/>
          </a:solidFill>
          <a:ln w="15240">
            <a:solidFill>
              <a:srgbClr val="CB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_E_panel_head"/>
          <p:cNvSpPr/>
          <p:nvPr/>
        </p:nvSpPr>
        <p:spPr>
          <a:xfrm>
            <a:off x="8620125" y="603250"/>
            <a:ext cx="1905000" cy="3651250"/>
          </a:xfrm>
          <a:prstGeom prst="roundRect">
            <a:avLst>
              <a:gd name="adj" fmla="val 8000"/>
            </a:avLst>
          </a:prstGeom>
          <a:solidFill>
            <a:srgbClr val="FCFCFE"/>
          </a:solidFill>
          <a:ln w="15240">
            <a:solidFill>
              <a:srgbClr val="CB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G_E_panel_legend"/>
          <p:cNvSpPr/>
          <p:nvPr/>
        </p:nvSpPr>
        <p:spPr>
          <a:xfrm>
            <a:off x="10636250" y="603250"/>
            <a:ext cx="1476375" cy="3651250"/>
          </a:xfrm>
          <a:prstGeom prst="roundRect">
            <a:avLst>
              <a:gd name="adj" fmla="val 8000"/>
            </a:avLst>
          </a:prstGeom>
          <a:solidFill>
            <a:srgbClr val="FCFCFE"/>
          </a:solidFill>
          <a:ln w="15240">
            <a:solidFill>
              <a:srgbClr val="CB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_E_panel_m1"/>
          <p:cNvSpPr/>
          <p:nvPr/>
        </p:nvSpPr>
        <p:spPr>
          <a:xfrm>
            <a:off x="95250" y="4413250"/>
            <a:ext cx="3762375" cy="2254250"/>
          </a:xfrm>
          <a:prstGeom prst="roundRect">
            <a:avLst>
              <a:gd name="adj" fmla="val 8000"/>
            </a:avLst>
          </a:prstGeom>
          <a:solidFill>
            <a:srgbClr val="FCFCFE"/>
          </a:solidFill>
          <a:ln w="15240">
            <a:solidFill>
              <a:srgbClr val="CB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E_panel_m2"/>
          <p:cNvSpPr/>
          <p:nvPr/>
        </p:nvSpPr>
        <p:spPr>
          <a:xfrm>
            <a:off x="3952875" y="4413250"/>
            <a:ext cx="3238500" cy="2254250"/>
          </a:xfrm>
          <a:prstGeom prst="roundRect">
            <a:avLst>
              <a:gd name="adj" fmla="val 8000"/>
            </a:avLst>
          </a:prstGeom>
          <a:solidFill>
            <a:srgbClr val="FCFCFE"/>
          </a:solidFill>
          <a:ln w="15240">
            <a:solidFill>
              <a:srgbClr val="CB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IG_E_panel_m3"/>
          <p:cNvSpPr/>
          <p:nvPr/>
        </p:nvSpPr>
        <p:spPr>
          <a:xfrm>
            <a:off x="7270750" y="4413250"/>
            <a:ext cx="4841875" cy="2254250"/>
          </a:xfrm>
          <a:prstGeom prst="roundRect">
            <a:avLst>
              <a:gd name="adj" fmla="val 8000"/>
            </a:avLst>
          </a:prstGeom>
          <a:solidFill>
            <a:srgbClr val="FCFCFE"/>
          </a:solidFill>
          <a:ln w="15240">
            <a:solidFill>
              <a:srgbClr val="CB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IG_E_panel_b1"/>
          <p:cNvSpPr/>
          <p:nvPr/>
        </p:nvSpPr>
        <p:spPr>
          <a:xfrm>
            <a:off x="95250" y="6762750"/>
            <a:ext cx="2555875" cy="1301750"/>
          </a:xfrm>
          <a:prstGeom prst="roundRect">
            <a:avLst>
              <a:gd name="adj" fmla="val 8000"/>
            </a:avLst>
          </a:prstGeom>
          <a:solidFill>
            <a:srgbClr val="FCFCFE"/>
          </a:solidFill>
          <a:ln w="15240">
            <a:solidFill>
              <a:srgbClr val="CB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IG_E_panel_b2"/>
          <p:cNvSpPr/>
          <p:nvPr/>
        </p:nvSpPr>
        <p:spPr>
          <a:xfrm>
            <a:off x="2762250" y="6762750"/>
            <a:ext cx="4302125" cy="1301750"/>
          </a:xfrm>
          <a:prstGeom prst="roundRect">
            <a:avLst>
              <a:gd name="adj" fmla="val 8000"/>
            </a:avLst>
          </a:prstGeom>
          <a:solidFill>
            <a:srgbClr val="FCFCFE"/>
          </a:solidFill>
          <a:ln w="15240">
            <a:solidFill>
              <a:srgbClr val="CB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IG_E_panel_b3"/>
          <p:cNvSpPr/>
          <p:nvPr/>
        </p:nvSpPr>
        <p:spPr>
          <a:xfrm>
            <a:off x="7207250" y="6762750"/>
            <a:ext cx="1793875" cy="1301750"/>
          </a:xfrm>
          <a:prstGeom prst="roundRect">
            <a:avLst>
              <a:gd name="adj" fmla="val 8000"/>
            </a:avLst>
          </a:prstGeom>
          <a:solidFill>
            <a:srgbClr val="FCFCFE"/>
          </a:solidFill>
          <a:ln w="15240">
            <a:solidFill>
              <a:srgbClr val="CB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IG_E_panel_b4"/>
          <p:cNvSpPr/>
          <p:nvPr/>
        </p:nvSpPr>
        <p:spPr>
          <a:xfrm>
            <a:off x="9112250" y="6762750"/>
            <a:ext cx="3000375" cy="1301750"/>
          </a:xfrm>
          <a:prstGeom prst="roundRect">
            <a:avLst>
              <a:gd name="adj" fmla="val 8000"/>
            </a:avLst>
          </a:prstGeom>
          <a:solidFill>
            <a:srgbClr val="FCFCFE"/>
          </a:solidFill>
          <a:ln w="15240">
            <a:solidFill>
              <a:srgbClr val="CB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IG_T_input_title"/>
          <p:cNvSpPr txBox="1"/>
          <p:nvPr/>
        </p:nvSpPr>
        <p:spPr>
          <a:xfrm>
            <a:off x="95250" y="682625"/>
            <a:ext cx="1587500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82C3C"/>
                </a:solidFill>
                <a:latin typeface="PingFang SC"/>
              </a:rPr>
              <a:t>输入图像</a:t>
            </a:r>
          </a:p>
        </p:txBody>
      </p:sp>
      <p:pic>
        <p:nvPicPr>
          <p:cNvPr id="17" name="FIG_R_pcb" descr="01_R1_p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7" y="1285875"/>
            <a:ext cx="1357312" cy="1936750"/>
          </a:xfrm>
          <a:prstGeom prst="rect">
            <a:avLst/>
          </a:prstGeom>
        </p:spPr>
      </p:pic>
      <p:sp>
        <p:nvSpPr>
          <p:cNvPr id="18" name="FIG_T_input_size"/>
          <p:cNvSpPr txBox="1"/>
          <p:nvPr/>
        </p:nvSpPr>
        <p:spPr>
          <a:xfrm>
            <a:off x="95250" y="3413125"/>
            <a:ext cx="1587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282C3C"/>
                </a:solidFill>
                <a:latin typeface="PingFang SC"/>
              </a:rPr>
              <a:t>640 × 640 × 3</a:t>
            </a:r>
          </a:p>
        </p:txBody>
      </p:sp>
      <p:sp>
        <p:nvSpPr>
          <p:cNvPr id="19" name="FIG_T_backbone_title"/>
          <p:cNvSpPr txBox="1"/>
          <p:nvPr/>
        </p:nvSpPr>
        <p:spPr>
          <a:xfrm>
            <a:off x="1809750" y="682625"/>
            <a:ext cx="20478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550D8"/>
                </a:solidFill>
                <a:latin typeface="PingFang SC"/>
              </a:rPr>
              <a:t>Backbone：CSP-MEEM</a:t>
            </a:r>
          </a:p>
        </p:txBody>
      </p:sp>
      <p:sp>
        <p:nvSpPr>
          <p:cNvPr id="20" name="FIG_T_backbone_sub"/>
          <p:cNvSpPr txBox="1"/>
          <p:nvPr/>
        </p:nvSpPr>
        <p:spPr>
          <a:xfrm>
            <a:off x="1809750" y="857250"/>
            <a:ext cx="2047875" cy="127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787E8C"/>
                </a:solidFill>
                <a:latin typeface="PingFang SC"/>
              </a:rPr>
              <a:t>多尺度细粒度特征提取</a:t>
            </a:r>
          </a:p>
        </p:txBody>
      </p:sp>
      <p:sp>
        <p:nvSpPr>
          <p:cNvPr id="21" name="FIG_E_bb1_top"/>
          <p:cNvSpPr/>
          <p:nvPr/>
        </p:nvSpPr>
        <p:spPr>
          <a:xfrm>
            <a:off x="2387600" y="1193800"/>
            <a:ext cx="342900" cy="76200"/>
          </a:xfrm>
          <a:custGeom>
            <a:avLst/>
            <a:gdLst/>
            <a:ahLst/>
            <a:cxnLst/>
            <a:rect l="l" t="t" r="r" b="b"/>
            <a:pathLst>
              <a:path w="27" h="6">
                <a:moveTo>
                  <a:pt x="0" y="6"/>
                </a:moveTo>
                <a:lnTo>
                  <a:pt x="6" y="0"/>
                </a:lnTo>
                <a:lnTo>
                  <a:pt x="27" y="0"/>
                </a:lnTo>
                <a:lnTo>
                  <a:pt x="21" y="6"/>
                </a:lnTo>
                <a:close/>
              </a:path>
            </a:pathLst>
          </a:custGeom>
          <a:solidFill>
            <a:srgbClr val="AED4FF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IG_E_bb1_front"/>
          <p:cNvSpPr/>
          <p:nvPr/>
        </p:nvSpPr>
        <p:spPr>
          <a:xfrm>
            <a:off x="2387600" y="1270000"/>
            <a:ext cx="266700" cy="241300"/>
          </a:xfrm>
          <a:custGeom>
            <a:avLst/>
            <a:gdLst/>
            <a:ahLst/>
            <a:cxnLst/>
            <a:rect l="l" t="t" r="r" b="b"/>
            <a:pathLst>
              <a:path w="21" h="19">
                <a:moveTo>
                  <a:pt x="0" y="0"/>
                </a:moveTo>
                <a:lnTo>
                  <a:pt x="21" y="0"/>
                </a:lnTo>
                <a:lnTo>
                  <a:pt x="21" y="19"/>
                </a:lnTo>
                <a:lnTo>
                  <a:pt x="0" y="19"/>
                </a:lnTo>
                <a:close/>
              </a:path>
            </a:pathLst>
          </a:custGeom>
          <a:gradFill rotWithShape="1">
            <a:gsLst>
              <a:gs pos="0">
                <a:srgbClr val="A6CCFF"/>
              </a:gs>
              <a:gs pos="100000">
                <a:srgbClr val="7CA2DC"/>
              </a:gs>
            </a:gsLst>
            <a:lin scaled="0" ang="16200000"/>
          </a:gra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IG_E_bb1_right"/>
          <p:cNvSpPr/>
          <p:nvPr/>
        </p:nvSpPr>
        <p:spPr>
          <a:xfrm>
            <a:off x="2654300" y="1193800"/>
            <a:ext cx="76200" cy="317500"/>
          </a:xfrm>
          <a:custGeom>
            <a:avLst/>
            <a:gdLst/>
            <a:ahLst/>
            <a:cxnLst/>
            <a:rect l="l" t="t" r="r" b="b"/>
            <a:pathLst>
              <a:path w="6" h="25">
                <a:moveTo>
                  <a:pt x="0" y="6"/>
                </a:moveTo>
                <a:lnTo>
                  <a:pt x="6" y="0"/>
                </a:lnTo>
                <a:lnTo>
                  <a:pt x="6" y="18"/>
                </a:lnTo>
                <a:lnTo>
                  <a:pt x="0" y="25"/>
                </a:lnTo>
                <a:close/>
              </a:path>
            </a:pathLst>
          </a:custGeom>
          <a:solidFill>
            <a:srgbClr val="5E84BE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IG_E_bb2_top"/>
          <p:cNvSpPr/>
          <p:nvPr/>
        </p:nvSpPr>
        <p:spPr>
          <a:xfrm>
            <a:off x="2260600" y="1778000"/>
            <a:ext cx="457200" cy="101600"/>
          </a:xfrm>
          <a:custGeom>
            <a:avLst/>
            <a:gdLst/>
            <a:ahLst/>
            <a:cxnLst/>
            <a:rect l="l" t="t" r="r" b="b"/>
            <a:pathLst>
              <a:path w="36" h="8">
                <a:moveTo>
                  <a:pt x="0" y="8"/>
                </a:moveTo>
                <a:lnTo>
                  <a:pt x="7" y="0"/>
                </a:lnTo>
                <a:lnTo>
                  <a:pt x="36" y="0"/>
                </a:lnTo>
                <a:lnTo>
                  <a:pt x="28" y="8"/>
                </a:lnTo>
                <a:close/>
              </a:path>
            </a:pathLst>
          </a:custGeom>
          <a:solidFill>
            <a:srgbClr val="AED4FF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IG_E_bb2_front"/>
          <p:cNvSpPr/>
          <p:nvPr/>
        </p:nvSpPr>
        <p:spPr>
          <a:xfrm>
            <a:off x="2260600" y="1879600"/>
            <a:ext cx="355600" cy="304800"/>
          </a:xfrm>
          <a:custGeom>
            <a:avLst/>
            <a:gdLst/>
            <a:ahLst/>
            <a:cxnLst/>
            <a:rect l="l" t="t" r="r" b="b"/>
            <a:pathLst>
              <a:path w="28" h="24">
                <a:moveTo>
                  <a:pt x="0" y="0"/>
                </a:moveTo>
                <a:lnTo>
                  <a:pt x="28" y="0"/>
                </a:lnTo>
                <a:lnTo>
                  <a:pt x="28" y="24"/>
                </a:lnTo>
                <a:lnTo>
                  <a:pt x="0" y="24"/>
                </a:lnTo>
                <a:close/>
              </a:path>
            </a:pathLst>
          </a:custGeom>
          <a:gradFill rotWithShape="1">
            <a:gsLst>
              <a:gs pos="0">
                <a:srgbClr val="A6CCFF"/>
              </a:gs>
              <a:gs pos="100000">
                <a:srgbClr val="7CA2DC"/>
              </a:gs>
            </a:gsLst>
            <a:lin scaled="0" ang="16200000"/>
          </a:gra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IG_E_bb2_right"/>
          <p:cNvSpPr/>
          <p:nvPr/>
        </p:nvSpPr>
        <p:spPr>
          <a:xfrm>
            <a:off x="2616200" y="1778000"/>
            <a:ext cx="101600" cy="406400"/>
          </a:xfrm>
          <a:custGeom>
            <a:avLst/>
            <a:gdLst/>
            <a:ahLst/>
            <a:cxnLst/>
            <a:rect l="l" t="t" r="r" b="b"/>
            <a:pathLst>
              <a:path w="8" h="32">
                <a:moveTo>
                  <a:pt x="0" y="8"/>
                </a:moveTo>
                <a:lnTo>
                  <a:pt x="8" y="0"/>
                </a:lnTo>
                <a:lnTo>
                  <a:pt x="8" y="25"/>
                </a:lnTo>
                <a:lnTo>
                  <a:pt x="0" y="32"/>
                </a:lnTo>
                <a:close/>
              </a:path>
            </a:pathLst>
          </a:custGeom>
          <a:solidFill>
            <a:srgbClr val="5E84BE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IG_E_bb3_top"/>
          <p:cNvSpPr/>
          <p:nvPr/>
        </p:nvSpPr>
        <p:spPr>
          <a:xfrm>
            <a:off x="2108200" y="2387600"/>
            <a:ext cx="622300" cy="127000"/>
          </a:xfrm>
          <a:custGeom>
            <a:avLst/>
            <a:gdLst/>
            <a:ahLst/>
            <a:cxnLst/>
            <a:rect l="l" t="t" r="r" b="b"/>
            <a:pathLst>
              <a:path w="49" h="10">
                <a:moveTo>
                  <a:pt x="0" y="10"/>
                </a:moveTo>
                <a:lnTo>
                  <a:pt x="10" y="0"/>
                </a:lnTo>
                <a:lnTo>
                  <a:pt x="49" y="0"/>
                </a:lnTo>
                <a:lnTo>
                  <a:pt x="39" y="10"/>
                </a:lnTo>
                <a:close/>
              </a:path>
            </a:pathLst>
          </a:custGeom>
          <a:solidFill>
            <a:srgbClr val="AED4FF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IG_E_bb3_front"/>
          <p:cNvSpPr/>
          <p:nvPr/>
        </p:nvSpPr>
        <p:spPr>
          <a:xfrm>
            <a:off x="2108200" y="2514600"/>
            <a:ext cx="495300" cy="393700"/>
          </a:xfrm>
          <a:custGeom>
            <a:avLst/>
            <a:gdLst/>
            <a:ahLst/>
            <a:cxnLst/>
            <a:rect l="l" t="t" r="r" b="b"/>
            <a:pathLst>
              <a:path w="39" h="31">
                <a:moveTo>
                  <a:pt x="0" y="0"/>
                </a:moveTo>
                <a:lnTo>
                  <a:pt x="39" y="0"/>
                </a:lnTo>
                <a:lnTo>
                  <a:pt x="39" y="31"/>
                </a:lnTo>
                <a:lnTo>
                  <a:pt x="0" y="31"/>
                </a:lnTo>
                <a:close/>
              </a:path>
            </a:pathLst>
          </a:custGeom>
          <a:gradFill rotWithShape="1">
            <a:gsLst>
              <a:gs pos="0">
                <a:srgbClr val="A6CCFF"/>
              </a:gs>
              <a:gs pos="100000">
                <a:srgbClr val="7CA2DC"/>
              </a:gs>
            </a:gsLst>
            <a:lin scaled="0" ang="16200000"/>
          </a:gra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IG_E_bb3_right"/>
          <p:cNvSpPr/>
          <p:nvPr/>
        </p:nvSpPr>
        <p:spPr>
          <a:xfrm>
            <a:off x="2603500" y="2387600"/>
            <a:ext cx="127000" cy="520700"/>
          </a:xfrm>
          <a:custGeom>
            <a:avLst/>
            <a:gdLst/>
            <a:ahLst/>
            <a:cxnLst/>
            <a:rect l="l" t="t" r="r" b="b"/>
            <a:pathLst>
              <a:path w="10" h="41">
                <a:moveTo>
                  <a:pt x="0" y="10"/>
                </a:moveTo>
                <a:lnTo>
                  <a:pt x="10" y="0"/>
                </a:lnTo>
                <a:lnTo>
                  <a:pt x="10" y="31"/>
                </a:lnTo>
                <a:lnTo>
                  <a:pt x="0" y="41"/>
                </a:lnTo>
                <a:close/>
              </a:path>
            </a:pathLst>
          </a:custGeom>
          <a:solidFill>
            <a:srgbClr val="5E84BE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IG_E_bb4_top"/>
          <p:cNvSpPr/>
          <p:nvPr/>
        </p:nvSpPr>
        <p:spPr>
          <a:xfrm>
            <a:off x="1905000" y="3073400"/>
            <a:ext cx="838200" cy="177800"/>
          </a:xfrm>
          <a:custGeom>
            <a:avLst/>
            <a:gdLst/>
            <a:ahLst/>
            <a:cxnLst/>
            <a:rect l="l" t="t" r="r" b="b"/>
            <a:pathLst>
              <a:path w="66" h="14">
                <a:moveTo>
                  <a:pt x="0" y="14"/>
                </a:moveTo>
                <a:lnTo>
                  <a:pt x="14" y="0"/>
                </a:lnTo>
                <a:lnTo>
                  <a:pt x="66" y="0"/>
                </a:lnTo>
                <a:lnTo>
                  <a:pt x="52" y="14"/>
                </a:lnTo>
                <a:close/>
              </a:path>
            </a:pathLst>
          </a:custGeom>
          <a:solidFill>
            <a:srgbClr val="AED4FF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IG_E_bb4_front"/>
          <p:cNvSpPr/>
          <p:nvPr/>
        </p:nvSpPr>
        <p:spPr>
          <a:xfrm>
            <a:off x="1905000" y="3251200"/>
            <a:ext cx="660400" cy="508000"/>
          </a:xfrm>
          <a:custGeom>
            <a:avLst/>
            <a:gdLst/>
            <a:ahLst/>
            <a:cxnLst/>
            <a:rect l="l" t="t" r="r" b="b"/>
            <a:pathLst>
              <a:path w="52" h="40">
                <a:moveTo>
                  <a:pt x="0" y="0"/>
                </a:moveTo>
                <a:lnTo>
                  <a:pt x="52" y="0"/>
                </a:lnTo>
                <a:lnTo>
                  <a:pt x="52" y="40"/>
                </a:lnTo>
                <a:lnTo>
                  <a:pt x="0" y="40"/>
                </a:lnTo>
                <a:close/>
              </a:path>
            </a:pathLst>
          </a:custGeom>
          <a:gradFill rotWithShape="1">
            <a:gsLst>
              <a:gs pos="0">
                <a:srgbClr val="A6CCFF"/>
              </a:gs>
              <a:gs pos="100000">
                <a:srgbClr val="7CA2DC"/>
              </a:gs>
            </a:gsLst>
            <a:lin scaled="0" ang="16200000"/>
          </a:gra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IG_E_bb4_right"/>
          <p:cNvSpPr/>
          <p:nvPr/>
        </p:nvSpPr>
        <p:spPr>
          <a:xfrm>
            <a:off x="2565400" y="3073400"/>
            <a:ext cx="177800" cy="685800"/>
          </a:xfrm>
          <a:custGeom>
            <a:avLst/>
            <a:gdLst/>
            <a:ahLst/>
            <a:cxnLst/>
            <a:rect l="l" t="t" r="r" b="b"/>
            <a:pathLst>
              <a:path w="14" h="54">
                <a:moveTo>
                  <a:pt x="0" y="14"/>
                </a:moveTo>
                <a:lnTo>
                  <a:pt x="14" y="0"/>
                </a:lnTo>
                <a:lnTo>
                  <a:pt x="14" y="40"/>
                </a:lnTo>
                <a:lnTo>
                  <a:pt x="0" y="54"/>
                </a:lnTo>
                <a:close/>
              </a:path>
            </a:pathLst>
          </a:custGeom>
          <a:solidFill>
            <a:srgbClr val="5E84BE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FIG_L_bb_chain1"/>
          <p:cNvCxnSpPr/>
          <p:nvPr/>
        </p:nvCxnSpPr>
        <p:spPr>
          <a:xfrm>
            <a:off x="2516187" y="1508125"/>
            <a:ext cx="0" cy="269875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IG_L_bb_chain2"/>
          <p:cNvCxnSpPr/>
          <p:nvPr/>
        </p:nvCxnSpPr>
        <p:spPr>
          <a:xfrm>
            <a:off x="2436812" y="2190750"/>
            <a:ext cx="0" cy="19050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IG_L_bb_chain3"/>
          <p:cNvCxnSpPr/>
          <p:nvPr/>
        </p:nvCxnSpPr>
        <p:spPr>
          <a:xfrm>
            <a:off x="2357437" y="2905125"/>
            <a:ext cx="0" cy="174625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IG_L_bb_bus_in1"/>
          <p:cNvCxnSpPr/>
          <p:nvPr/>
        </p:nvCxnSpPr>
        <p:spPr>
          <a:xfrm>
            <a:off x="2730500" y="1389062"/>
            <a:ext cx="222250" cy="0"/>
          </a:xfrm>
          <a:prstGeom prst="line">
            <a:avLst/>
          </a:prstGeom>
          <a:ln w="1524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IG_L_bb_bus"/>
          <p:cNvCxnSpPr/>
          <p:nvPr/>
        </p:nvCxnSpPr>
        <p:spPr>
          <a:xfrm>
            <a:off x="2952750" y="1389062"/>
            <a:ext cx="0" cy="1897063"/>
          </a:xfrm>
          <a:prstGeom prst="line">
            <a:avLst/>
          </a:prstGeom>
          <a:ln w="1524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FIG_L_bb_bus_in3"/>
          <p:cNvCxnSpPr/>
          <p:nvPr/>
        </p:nvCxnSpPr>
        <p:spPr>
          <a:xfrm>
            <a:off x="2730500" y="2706687"/>
            <a:ext cx="222250" cy="0"/>
          </a:xfrm>
          <a:prstGeom prst="line">
            <a:avLst/>
          </a:prstGeom>
          <a:ln w="1524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IG_E_bb_c5"/>
          <p:cNvSpPr/>
          <p:nvPr/>
        </p:nvSpPr>
        <p:spPr>
          <a:xfrm>
            <a:off x="3143250" y="1627187"/>
            <a:ext cx="460375" cy="34925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778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IG_T_bb_c5"/>
          <p:cNvSpPr txBox="1"/>
          <p:nvPr/>
        </p:nvSpPr>
        <p:spPr>
          <a:xfrm>
            <a:off x="3143250" y="1658937"/>
            <a:ext cx="4603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  <a:latin typeface="PingFang SC"/>
              </a:rPr>
              <a:t>C5</a:t>
            </a:r>
          </a:p>
        </p:txBody>
      </p:sp>
      <p:sp>
        <p:nvSpPr>
          <p:cNvPr id="41" name="FIG_T_bb_c5_dim"/>
          <p:cNvSpPr txBox="1"/>
          <p:nvPr/>
        </p:nvSpPr>
        <p:spPr>
          <a:xfrm>
            <a:off x="3143250" y="1801812"/>
            <a:ext cx="460375" cy="1428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550D8"/>
                </a:solidFill>
                <a:latin typeface="PingFang SC"/>
              </a:rPr>
              <a:t>20×C</a:t>
            </a:r>
          </a:p>
        </p:txBody>
      </p:sp>
      <p:cxnSp>
        <p:nvCxnSpPr>
          <p:cNvPr id="42" name="FIG_L_bb_to_c5"/>
          <p:cNvCxnSpPr/>
          <p:nvPr/>
        </p:nvCxnSpPr>
        <p:spPr>
          <a:xfrm>
            <a:off x="2952750" y="1801812"/>
            <a:ext cx="190500" cy="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IG_E_bb_c4"/>
          <p:cNvSpPr/>
          <p:nvPr/>
        </p:nvSpPr>
        <p:spPr>
          <a:xfrm>
            <a:off x="3143250" y="2373312"/>
            <a:ext cx="460375" cy="34925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778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IG_T_bb_c4"/>
          <p:cNvSpPr txBox="1"/>
          <p:nvPr/>
        </p:nvSpPr>
        <p:spPr>
          <a:xfrm>
            <a:off x="3143250" y="2405062"/>
            <a:ext cx="4603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  <a:latin typeface="PingFang SC"/>
              </a:rPr>
              <a:t>C4</a:t>
            </a:r>
          </a:p>
        </p:txBody>
      </p:sp>
      <p:sp>
        <p:nvSpPr>
          <p:cNvPr id="45" name="FIG_T_bb_c4_dim"/>
          <p:cNvSpPr txBox="1"/>
          <p:nvPr/>
        </p:nvSpPr>
        <p:spPr>
          <a:xfrm>
            <a:off x="3143250" y="2547937"/>
            <a:ext cx="460375" cy="1428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550D8"/>
                </a:solidFill>
                <a:latin typeface="PingFang SC"/>
              </a:rPr>
              <a:t>40×C</a:t>
            </a:r>
          </a:p>
        </p:txBody>
      </p:sp>
      <p:cxnSp>
        <p:nvCxnSpPr>
          <p:cNvPr id="46" name="FIG_L_bb_to_c4"/>
          <p:cNvCxnSpPr/>
          <p:nvPr/>
        </p:nvCxnSpPr>
        <p:spPr>
          <a:xfrm>
            <a:off x="2952750" y="2547937"/>
            <a:ext cx="190500" cy="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IG_E_bb_c3"/>
          <p:cNvSpPr/>
          <p:nvPr/>
        </p:nvSpPr>
        <p:spPr>
          <a:xfrm>
            <a:off x="3143250" y="3111500"/>
            <a:ext cx="460375" cy="34925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7780">
            <a:solidFill>
              <a:srgbClr val="E03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IG_T_bb_c3"/>
          <p:cNvSpPr txBox="1"/>
          <p:nvPr/>
        </p:nvSpPr>
        <p:spPr>
          <a:xfrm>
            <a:off x="3143250" y="3143250"/>
            <a:ext cx="4603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E03A26"/>
                </a:solidFill>
                <a:latin typeface="PingFang SC"/>
              </a:rPr>
              <a:t>C3</a:t>
            </a:r>
          </a:p>
        </p:txBody>
      </p:sp>
      <p:sp>
        <p:nvSpPr>
          <p:cNvPr id="49" name="FIG_T_bb_c3_dim"/>
          <p:cNvSpPr txBox="1"/>
          <p:nvPr/>
        </p:nvSpPr>
        <p:spPr>
          <a:xfrm>
            <a:off x="3143250" y="3286125"/>
            <a:ext cx="460375" cy="1428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E03A26"/>
                </a:solidFill>
                <a:latin typeface="PingFang SC"/>
              </a:rPr>
              <a:t>80×C</a:t>
            </a:r>
          </a:p>
        </p:txBody>
      </p:sp>
      <p:cxnSp>
        <p:nvCxnSpPr>
          <p:cNvPr id="50" name="FIG_L_bb_to_c3"/>
          <p:cNvCxnSpPr/>
          <p:nvPr/>
        </p:nvCxnSpPr>
        <p:spPr>
          <a:xfrm>
            <a:off x="2746375" y="3286125"/>
            <a:ext cx="396875" cy="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IG_T_backbone_dots"/>
          <p:cNvSpPr txBox="1"/>
          <p:nvPr/>
        </p:nvSpPr>
        <p:spPr>
          <a:xfrm>
            <a:off x="2143125" y="3762375"/>
            <a:ext cx="317500" cy="127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787E8C"/>
                </a:solidFill>
                <a:latin typeface="PingFang SC"/>
              </a:rPr>
              <a:t>⋮</a:t>
            </a:r>
          </a:p>
        </p:txBody>
      </p:sp>
      <p:sp>
        <p:nvSpPr>
          <p:cNvPr id="52" name="FIG_E_bb_outbar"/>
          <p:cNvSpPr/>
          <p:nvPr/>
        </p:nvSpPr>
        <p:spPr>
          <a:xfrm>
            <a:off x="1905000" y="3952875"/>
            <a:ext cx="1714500" cy="238125"/>
          </a:xfrm>
          <a:prstGeom prst="roundRect">
            <a:avLst>
              <a:gd name="adj" fmla="val 8000"/>
            </a:avLst>
          </a:prstGeom>
          <a:solidFill>
            <a:srgbClr val="EBF1FF"/>
          </a:solidFill>
          <a:ln w="10160">
            <a:solidFill>
              <a:srgbClr val="CB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IG_T_bb_outbar"/>
          <p:cNvSpPr txBox="1"/>
          <p:nvPr/>
        </p:nvSpPr>
        <p:spPr>
          <a:xfrm>
            <a:off x="1905000" y="3984625"/>
            <a:ext cx="1714500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282C3C"/>
                </a:solidFill>
                <a:latin typeface="PingFang SC"/>
              </a:rPr>
              <a:t>输出多尺度特征</a:t>
            </a:r>
          </a:p>
        </p:txBody>
      </p:sp>
      <p:sp>
        <p:nvSpPr>
          <p:cNvPr id="54" name="FIG_T_neck_title"/>
          <p:cNvSpPr txBox="1"/>
          <p:nvPr/>
        </p:nvSpPr>
        <p:spPr>
          <a:xfrm>
            <a:off x="3952875" y="682625"/>
            <a:ext cx="455612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C9454"/>
                </a:solidFill>
                <a:latin typeface="PingFang SC"/>
              </a:rPr>
              <a:t>Neck：FPN-PAN （LOSC + CGAFusion）</a:t>
            </a:r>
          </a:p>
        </p:txBody>
      </p:sp>
      <p:sp>
        <p:nvSpPr>
          <p:cNvPr id="55" name="FIG_E_neck_td"/>
          <p:cNvSpPr/>
          <p:nvPr/>
        </p:nvSpPr>
        <p:spPr>
          <a:xfrm>
            <a:off x="4286250" y="920750"/>
            <a:ext cx="1031875" cy="206375"/>
          </a:xfrm>
          <a:prstGeom prst="roundRect">
            <a:avLst>
              <a:gd name="adj" fmla="val 8000"/>
            </a:avLst>
          </a:prstGeom>
          <a:solidFill>
            <a:srgbClr val="E2F4E6"/>
          </a:solidFill>
          <a:ln w="11430">
            <a:solidFill>
              <a:srgbClr val="1C9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IG_T_neck_td"/>
          <p:cNvSpPr txBox="1"/>
          <p:nvPr/>
        </p:nvSpPr>
        <p:spPr>
          <a:xfrm>
            <a:off x="4286250" y="944562"/>
            <a:ext cx="10318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C9454"/>
                </a:solidFill>
                <a:latin typeface="PingFang SC"/>
              </a:rPr>
              <a:t>Top-Down 路径</a:t>
            </a:r>
          </a:p>
        </p:txBody>
      </p:sp>
      <p:sp>
        <p:nvSpPr>
          <p:cNvPr id="57" name="FIG_E_neck_bu"/>
          <p:cNvSpPr/>
          <p:nvPr/>
        </p:nvSpPr>
        <p:spPr>
          <a:xfrm>
            <a:off x="6572250" y="920750"/>
            <a:ext cx="1031875" cy="206375"/>
          </a:xfrm>
          <a:prstGeom prst="roundRect">
            <a:avLst>
              <a:gd name="adj" fmla="val 8000"/>
            </a:avLst>
          </a:prstGeom>
          <a:solidFill>
            <a:srgbClr val="FCECE2"/>
          </a:solidFill>
          <a:ln w="11430">
            <a:solidFill>
              <a:srgbClr val="E27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IG_T_neck_bu"/>
          <p:cNvSpPr txBox="1"/>
          <p:nvPr/>
        </p:nvSpPr>
        <p:spPr>
          <a:xfrm>
            <a:off x="6572250" y="944562"/>
            <a:ext cx="10318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CE6428"/>
                </a:solidFill>
                <a:latin typeface="PingFang SC"/>
              </a:rPr>
              <a:t>Bottom-Up 路径</a:t>
            </a:r>
          </a:p>
        </p:txBody>
      </p:sp>
      <p:sp>
        <p:nvSpPr>
          <p:cNvPr id="59" name="FIG_E_neck_c5"/>
          <p:cNvSpPr/>
          <p:nvPr/>
        </p:nvSpPr>
        <p:spPr>
          <a:xfrm>
            <a:off x="4381500" y="1206500"/>
            <a:ext cx="317500" cy="22225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524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IG_T_neck_c5"/>
          <p:cNvSpPr txBox="1"/>
          <p:nvPr/>
        </p:nvSpPr>
        <p:spPr>
          <a:xfrm>
            <a:off x="4381500" y="1238250"/>
            <a:ext cx="31750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50D8"/>
                </a:solidFill>
                <a:latin typeface="PingFang SC"/>
              </a:rPr>
              <a:t>C5</a:t>
            </a:r>
          </a:p>
        </p:txBody>
      </p:sp>
      <p:sp>
        <p:nvSpPr>
          <p:cNvPr id="61" name="FIG_E_neck_c4"/>
          <p:cNvSpPr/>
          <p:nvPr/>
        </p:nvSpPr>
        <p:spPr>
          <a:xfrm>
            <a:off x="4032250" y="2111375"/>
            <a:ext cx="317500" cy="22225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524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IG_T_neck_c4"/>
          <p:cNvSpPr txBox="1"/>
          <p:nvPr/>
        </p:nvSpPr>
        <p:spPr>
          <a:xfrm>
            <a:off x="4032250" y="2143125"/>
            <a:ext cx="31750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50D8"/>
                </a:solidFill>
                <a:latin typeface="PingFang SC"/>
              </a:rPr>
              <a:t>C4</a:t>
            </a:r>
          </a:p>
        </p:txBody>
      </p:sp>
      <p:sp>
        <p:nvSpPr>
          <p:cNvPr id="63" name="FIG_E_neck_c3"/>
          <p:cNvSpPr/>
          <p:nvPr/>
        </p:nvSpPr>
        <p:spPr>
          <a:xfrm>
            <a:off x="4032250" y="3238500"/>
            <a:ext cx="317500" cy="22225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524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IG_T_neck_c3"/>
          <p:cNvSpPr txBox="1"/>
          <p:nvPr/>
        </p:nvSpPr>
        <p:spPr>
          <a:xfrm>
            <a:off x="4032250" y="3270250"/>
            <a:ext cx="31750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550D8"/>
                </a:solidFill>
                <a:latin typeface="PingFang SC"/>
              </a:rPr>
              <a:t>C3</a:t>
            </a:r>
          </a:p>
        </p:txBody>
      </p:sp>
      <p:sp>
        <p:nvSpPr>
          <p:cNvPr id="65" name="FIG_E_neck_up1"/>
          <p:cNvSpPr/>
          <p:nvPr/>
        </p:nvSpPr>
        <p:spPr>
          <a:xfrm>
            <a:off x="4667250" y="1651000"/>
            <a:ext cx="222250" cy="222250"/>
          </a:xfrm>
          <a:prstGeom prst="ellipse">
            <a:avLst/>
          </a:prstGeom>
          <a:solidFill>
            <a:srgbClr val="DECDF8"/>
          </a:solidFill>
          <a:ln w="12700">
            <a:solidFill>
              <a:srgbClr val="8C6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IG_E_neck_up1_text"/>
          <p:cNvSpPr txBox="1"/>
          <p:nvPr/>
        </p:nvSpPr>
        <p:spPr>
          <a:xfrm>
            <a:off x="4667250" y="1651000"/>
            <a:ext cx="222250" cy="222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703EC8"/>
                </a:solidFill>
                <a:latin typeface="PingFang SC"/>
              </a:rPr>
              <a:t>UP
↑</a:t>
            </a:r>
          </a:p>
        </p:txBody>
      </p:sp>
      <p:sp>
        <p:nvSpPr>
          <p:cNvPr id="67" name="FIG_E_neck_up2"/>
          <p:cNvSpPr/>
          <p:nvPr/>
        </p:nvSpPr>
        <p:spPr>
          <a:xfrm>
            <a:off x="4667250" y="2619375"/>
            <a:ext cx="222250" cy="222250"/>
          </a:xfrm>
          <a:prstGeom prst="ellipse">
            <a:avLst/>
          </a:prstGeom>
          <a:solidFill>
            <a:srgbClr val="DECDF8"/>
          </a:solidFill>
          <a:ln w="12700">
            <a:solidFill>
              <a:srgbClr val="8C6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IG_E_neck_up2_text"/>
          <p:cNvSpPr txBox="1"/>
          <p:nvPr/>
        </p:nvSpPr>
        <p:spPr>
          <a:xfrm>
            <a:off x="4667250" y="2619375"/>
            <a:ext cx="222250" cy="222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703EC8"/>
                </a:solidFill>
                <a:latin typeface="PingFang SC"/>
              </a:rPr>
              <a:t>UP
↑</a:t>
            </a:r>
          </a:p>
        </p:txBody>
      </p:sp>
      <p:sp>
        <p:nvSpPr>
          <p:cNvPr id="69" name="FIG_E_neck_add_td1"/>
          <p:cNvSpPr/>
          <p:nvPr/>
        </p:nvSpPr>
        <p:spPr>
          <a:xfrm>
            <a:off x="4675187" y="2119312"/>
            <a:ext cx="206375" cy="206375"/>
          </a:xfrm>
          <a:prstGeom prst="ellipse">
            <a:avLst/>
          </a:prstGeom>
          <a:solidFill>
            <a:srgbClr val="343A4E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IG_E_neck_add_td1_text"/>
          <p:cNvSpPr txBox="1"/>
          <p:nvPr/>
        </p:nvSpPr>
        <p:spPr>
          <a:xfrm>
            <a:off x="4675187" y="2119312"/>
            <a:ext cx="206375" cy="2063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ingFang SC"/>
              </a:rPr>
              <a:t>+</a:t>
            </a:r>
          </a:p>
        </p:txBody>
      </p:sp>
      <p:sp>
        <p:nvSpPr>
          <p:cNvPr id="71" name="FIG_E_neck_add_td2"/>
          <p:cNvSpPr/>
          <p:nvPr/>
        </p:nvSpPr>
        <p:spPr>
          <a:xfrm>
            <a:off x="4675187" y="3230562"/>
            <a:ext cx="206375" cy="206375"/>
          </a:xfrm>
          <a:prstGeom prst="ellipse">
            <a:avLst/>
          </a:prstGeom>
          <a:solidFill>
            <a:srgbClr val="343A4E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IG_E_neck_add_td2_text"/>
          <p:cNvSpPr txBox="1"/>
          <p:nvPr/>
        </p:nvSpPr>
        <p:spPr>
          <a:xfrm>
            <a:off x="4675187" y="3230562"/>
            <a:ext cx="206375" cy="2063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ingFang SC"/>
              </a:rPr>
              <a:t>+</a:t>
            </a:r>
          </a:p>
        </p:txBody>
      </p:sp>
      <p:sp>
        <p:nvSpPr>
          <p:cNvPr id="73" name="FIG_E_neck_fusion1"/>
          <p:cNvSpPr/>
          <p:nvPr/>
        </p:nvSpPr>
        <p:spPr>
          <a:xfrm>
            <a:off x="5238750" y="2103437"/>
            <a:ext cx="730250" cy="238125"/>
          </a:xfrm>
          <a:prstGeom prst="roundRect">
            <a:avLst>
              <a:gd name="adj" fmla="val 8000"/>
            </a:avLst>
          </a:prstGeom>
          <a:solidFill>
            <a:srgbClr val="F0F5FF"/>
          </a:solidFill>
          <a:ln w="1524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IG_T_neck_fusion1"/>
          <p:cNvSpPr txBox="1"/>
          <p:nvPr/>
        </p:nvSpPr>
        <p:spPr>
          <a:xfrm>
            <a:off x="5238750" y="2143125"/>
            <a:ext cx="73025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50D8"/>
                </a:solidFill>
                <a:latin typeface="PingFang SC"/>
              </a:rPr>
              <a:t>CGAFusion</a:t>
            </a:r>
          </a:p>
        </p:txBody>
      </p:sp>
      <p:sp>
        <p:nvSpPr>
          <p:cNvPr id="75" name="FIG_E_neck_fusion2"/>
          <p:cNvSpPr/>
          <p:nvPr/>
        </p:nvSpPr>
        <p:spPr>
          <a:xfrm>
            <a:off x="5238750" y="3214687"/>
            <a:ext cx="730250" cy="238125"/>
          </a:xfrm>
          <a:prstGeom prst="roundRect">
            <a:avLst>
              <a:gd name="adj" fmla="val 8000"/>
            </a:avLst>
          </a:prstGeom>
          <a:solidFill>
            <a:srgbClr val="F0F5FF"/>
          </a:solidFill>
          <a:ln w="1524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IG_T_neck_fusion2"/>
          <p:cNvSpPr txBox="1"/>
          <p:nvPr/>
        </p:nvSpPr>
        <p:spPr>
          <a:xfrm>
            <a:off x="5238750" y="3254375"/>
            <a:ext cx="73025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50D8"/>
                </a:solidFill>
                <a:latin typeface="PingFang SC"/>
              </a:rPr>
              <a:t>CGAFusion</a:t>
            </a:r>
          </a:p>
        </p:txBody>
      </p:sp>
      <p:sp>
        <p:nvSpPr>
          <p:cNvPr id="77" name="FIG_E_neck_add_p5"/>
          <p:cNvSpPr/>
          <p:nvPr/>
        </p:nvSpPr>
        <p:spPr>
          <a:xfrm>
            <a:off x="6977062" y="1341437"/>
            <a:ext cx="206375" cy="206375"/>
          </a:xfrm>
          <a:prstGeom prst="ellipse">
            <a:avLst/>
          </a:prstGeom>
          <a:solidFill>
            <a:srgbClr val="343A4E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IG_E_neck_add_p5_text"/>
          <p:cNvSpPr txBox="1"/>
          <p:nvPr/>
        </p:nvSpPr>
        <p:spPr>
          <a:xfrm>
            <a:off x="6977062" y="1341437"/>
            <a:ext cx="206375" cy="2063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ingFang SC"/>
              </a:rPr>
              <a:t>+</a:t>
            </a:r>
          </a:p>
        </p:txBody>
      </p:sp>
      <p:sp>
        <p:nvSpPr>
          <p:cNvPr id="79" name="FIG_E_neck_add_p4"/>
          <p:cNvSpPr/>
          <p:nvPr/>
        </p:nvSpPr>
        <p:spPr>
          <a:xfrm>
            <a:off x="6977062" y="2611437"/>
            <a:ext cx="206375" cy="206375"/>
          </a:xfrm>
          <a:prstGeom prst="ellipse">
            <a:avLst/>
          </a:prstGeom>
          <a:solidFill>
            <a:srgbClr val="343A4E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IG_E_neck_add_p4_text"/>
          <p:cNvSpPr txBox="1"/>
          <p:nvPr/>
        </p:nvSpPr>
        <p:spPr>
          <a:xfrm>
            <a:off x="6977062" y="2611437"/>
            <a:ext cx="206375" cy="2063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ingFang SC"/>
              </a:rPr>
              <a:t>+</a:t>
            </a:r>
          </a:p>
        </p:txBody>
      </p:sp>
      <p:sp>
        <p:nvSpPr>
          <p:cNvPr id="81" name="FIG_E_neck_add_p3"/>
          <p:cNvSpPr/>
          <p:nvPr/>
        </p:nvSpPr>
        <p:spPr>
          <a:xfrm>
            <a:off x="6977062" y="3611562"/>
            <a:ext cx="206375" cy="206375"/>
          </a:xfrm>
          <a:prstGeom prst="ellipse">
            <a:avLst/>
          </a:prstGeom>
          <a:solidFill>
            <a:srgbClr val="343A4E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IG_E_neck_add_p3_text"/>
          <p:cNvSpPr txBox="1"/>
          <p:nvPr/>
        </p:nvSpPr>
        <p:spPr>
          <a:xfrm>
            <a:off x="6977062" y="3611562"/>
            <a:ext cx="206375" cy="2063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ingFang SC"/>
              </a:rPr>
              <a:t>+</a:t>
            </a:r>
          </a:p>
        </p:txBody>
      </p:sp>
      <p:sp>
        <p:nvSpPr>
          <p:cNvPr id="83" name="FIG_E_neck_down1"/>
          <p:cNvSpPr/>
          <p:nvPr/>
        </p:nvSpPr>
        <p:spPr>
          <a:xfrm>
            <a:off x="6969125" y="1809750"/>
            <a:ext cx="222250" cy="222250"/>
          </a:xfrm>
          <a:prstGeom prst="ellipse">
            <a:avLst/>
          </a:prstGeom>
          <a:solidFill>
            <a:srgbClr val="FAD6AA"/>
          </a:solidFill>
          <a:ln w="12700">
            <a:solidFill>
              <a:srgbClr val="CE7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IG_E_neck_down1_text"/>
          <p:cNvSpPr txBox="1"/>
          <p:nvPr/>
        </p:nvSpPr>
        <p:spPr>
          <a:xfrm>
            <a:off x="6969125" y="1809750"/>
            <a:ext cx="222250" cy="222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964A0C"/>
                </a:solidFill>
                <a:latin typeface="PingFang SC"/>
              </a:rPr>
              <a:t>Down
↓</a:t>
            </a:r>
          </a:p>
        </p:txBody>
      </p:sp>
      <p:sp>
        <p:nvSpPr>
          <p:cNvPr id="85" name="FIG_E_neck_down2"/>
          <p:cNvSpPr/>
          <p:nvPr/>
        </p:nvSpPr>
        <p:spPr>
          <a:xfrm>
            <a:off x="6969125" y="3095625"/>
            <a:ext cx="222250" cy="222250"/>
          </a:xfrm>
          <a:prstGeom prst="ellipse">
            <a:avLst/>
          </a:prstGeom>
          <a:solidFill>
            <a:srgbClr val="FAD6AA"/>
          </a:solidFill>
          <a:ln w="12700">
            <a:solidFill>
              <a:srgbClr val="CE7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IG_E_neck_down2_text"/>
          <p:cNvSpPr txBox="1"/>
          <p:nvPr/>
        </p:nvSpPr>
        <p:spPr>
          <a:xfrm>
            <a:off x="6969125" y="3095625"/>
            <a:ext cx="222250" cy="222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964A0C"/>
                </a:solidFill>
                <a:latin typeface="PingFang SC"/>
              </a:rPr>
              <a:t>Down
↓</a:t>
            </a:r>
          </a:p>
        </p:txBody>
      </p:sp>
      <p:sp>
        <p:nvSpPr>
          <p:cNvPr id="87" name="FIG_E_neck_losc"/>
          <p:cNvSpPr/>
          <p:nvPr/>
        </p:nvSpPr>
        <p:spPr>
          <a:xfrm>
            <a:off x="6794500" y="2286000"/>
            <a:ext cx="571500" cy="206375"/>
          </a:xfrm>
          <a:prstGeom prst="roundRect">
            <a:avLst>
              <a:gd name="adj" fmla="val 8000"/>
            </a:avLst>
          </a:prstGeom>
          <a:solidFill>
            <a:srgbClr val="FDF0E8"/>
          </a:solidFill>
          <a:ln w="15240">
            <a:solidFill>
              <a:srgbClr val="E26E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IG_T_neck_losc"/>
          <p:cNvSpPr txBox="1"/>
          <p:nvPr/>
        </p:nvSpPr>
        <p:spPr>
          <a:xfrm>
            <a:off x="6794500" y="2309812"/>
            <a:ext cx="57150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CE5A1E"/>
                </a:solidFill>
                <a:latin typeface="PingFang SC"/>
              </a:rPr>
              <a:t>LOSC</a:t>
            </a:r>
          </a:p>
        </p:txBody>
      </p:sp>
      <p:sp>
        <p:nvSpPr>
          <p:cNvPr id="89" name="FIG_E_neck_p5_top"/>
          <p:cNvSpPr/>
          <p:nvPr/>
        </p:nvSpPr>
        <p:spPr>
          <a:xfrm>
            <a:off x="7645400" y="1257300"/>
            <a:ext cx="304800" cy="63500"/>
          </a:xfrm>
          <a:custGeom>
            <a:avLst/>
            <a:gdLst/>
            <a:ahLst/>
            <a:cxnLst/>
            <a:rect l="l" t="t" r="r" b="b"/>
            <a:pathLst>
              <a:path w="24" h="5">
                <a:moveTo>
                  <a:pt x="0" y="5"/>
                </a:moveTo>
                <a:lnTo>
                  <a:pt x="6" y="0"/>
                </a:lnTo>
                <a:lnTo>
                  <a:pt x="24" y="0"/>
                </a:lnTo>
                <a:lnTo>
                  <a:pt x="19" y="5"/>
                </a:lnTo>
                <a:close/>
              </a:path>
            </a:pathLst>
          </a:custGeom>
          <a:solidFill>
            <a:srgbClr val="AED4FF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IG_E_neck_p5_front"/>
          <p:cNvSpPr/>
          <p:nvPr/>
        </p:nvSpPr>
        <p:spPr>
          <a:xfrm>
            <a:off x="7645400" y="1320800"/>
            <a:ext cx="241300" cy="203200"/>
          </a:xfrm>
          <a:custGeom>
            <a:avLst/>
            <a:gdLst/>
            <a:ahLst/>
            <a:cxnLst/>
            <a:rect l="l" t="t" r="r" b="b"/>
            <a:pathLst>
              <a:path w="19" h="16">
                <a:moveTo>
                  <a:pt x="0" y="0"/>
                </a:moveTo>
                <a:lnTo>
                  <a:pt x="19" y="0"/>
                </a:lnTo>
                <a:lnTo>
                  <a:pt x="19" y="16"/>
                </a:lnTo>
                <a:lnTo>
                  <a:pt x="0" y="16"/>
                </a:lnTo>
                <a:close/>
              </a:path>
            </a:pathLst>
          </a:custGeom>
          <a:gradFill rotWithShape="1">
            <a:gsLst>
              <a:gs pos="0">
                <a:srgbClr val="A6CCFF"/>
              </a:gs>
              <a:gs pos="100000">
                <a:srgbClr val="7CA2DC"/>
              </a:gs>
            </a:gsLst>
            <a:lin scaled="0" ang="16200000"/>
          </a:gra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IG_E_neck_p5_right"/>
          <p:cNvSpPr/>
          <p:nvPr/>
        </p:nvSpPr>
        <p:spPr>
          <a:xfrm>
            <a:off x="7886700" y="1257300"/>
            <a:ext cx="63500" cy="266700"/>
          </a:xfrm>
          <a:custGeom>
            <a:avLst/>
            <a:gdLst/>
            <a:ahLst/>
            <a:cxnLst/>
            <a:rect l="l" t="t" r="r" b="b"/>
            <a:pathLst>
              <a:path w="5" h="21">
                <a:moveTo>
                  <a:pt x="0" y="5"/>
                </a:moveTo>
                <a:lnTo>
                  <a:pt x="5" y="0"/>
                </a:lnTo>
                <a:lnTo>
                  <a:pt x="5" y="16"/>
                </a:lnTo>
                <a:lnTo>
                  <a:pt x="0" y="21"/>
                </a:lnTo>
                <a:close/>
              </a:path>
            </a:pathLst>
          </a:custGeom>
          <a:solidFill>
            <a:srgbClr val="5E84BE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IG_T_neck_p5"/>
          <p:cNvSpPr txBox="1"/>
          <p:nvPr/>
        </p:nvSpPr>
        <p:spPr>
          <a:xfrm>
            <a:off x="8048625" y="1222375"/>
            <a:ext cx="41275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  <a:latin typeface="PingFang SC"/>
              </a:rPr>
              <a:t>P5</a:t>
            </a:r>
          </a:p>
        </p:txBody>
      </p:sp>
      <p:sp>
        <p:nvSpPr>
          <p:cNvPr id="93" name="FIG_T_neck_p5_dim"/>
          <p:cNvSpPr txBox="1"/>
          <p:nvPr/>
        </p:nvSpPr>
        <p:spPr>
          <a:xfrm>
            <a:off x="8048625" y="1365250"/>
            <a:ext cx="412750" cy="127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550D8"/>
                </a:solidFill>
                <a:latin typeface="PingFang SC"/>
              </a:rPr>
              <a:t>20×C</a:t>
            </a:r>
          </a:p>
        </p:txBody>
      </p:sp>
      <p:sp>
        <p:nvSpPr>
          <p:cNvPr id="94" name="FIG_E_neck_p4_top"/>
          <p:cNvSpPr/>
          <p:nvPr/>
        </p:nvSpPr>
        <p:spPr>
          <a:xfrm>
            <a:off x="7645400" y="2527300"/>
            <a:ext cx="304800" cy="63500"/>
          </a:xfrm>
          <a:custGeom>
            <a:avLst/>
            <a:gdLst/>
            <a:ahLst/>
            <a:cxnLst/>
            <a:rect l="l" t="t" r="r" b="b"/>
            <a:pathLst>
              <a:path w="24" h="5">
                <a:moveTo>
                  <a:pt x="0" y="5"/>
                </a:moveTo>
                <a:lnTo>
                  <a:pt x="6" y="0"/>
                </a:lnTo>
                <a:lnTo>
                  <a:pt x="24" y="0"/>
                </a:lnTo>
                <a:lnTo>
                  <a:pt x="19" y="5"/>
                </a:lnTo>
                <a:close/>
              </a:path>
            </a:pathLst>
          </a:custGeom>
          <a:solidFill>
            <a:srgbClr val="B1EAA4"/>
          </a:soli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IG_E_neck_p4_front"/>
          <p:cNvSpPr/>
          <p:nvPr/>
        </p:nvSpPr>
        <p:spPr>
          <a:xfrm>
            <a:off x="7645400" y="2590800"/>
            <a:ext cx="241300" cy="203200"/>
          </a:xfrm>
          <a:custGeom>
            <a:avLst/>
            <a:gdLst/>
            <a:ahLst/>
            <a:cxnLst/>
            <a:rect l="l" t="t" r="r" b="b"/>
            <a:pathLst>
              <a:path w="19" h="16">
                <a:moveTo>
                  <a:pt x="0" y="0"/>
                </a:moveTo>
                <a:lnTo>
                  <a:pt x="19" y="0"/>
                </a:lnTo>
                <a:lnTo>
                  <a:pt x="19" y="16"/>
                </a:lnTo>
                <a:lnTo>
                  <a:pt x="0" y="16"/>
                </a:lnTo>
                <a:close/>
              </a:path>
            </a:pathLst>
          </a:custGeom>
          <a:gradFill rotWithShape="1">
            <a:gsLst>
              <a:gs pos="0">
                <a:srgbClr val="A9E29C"/>
              </a:gs>
              <a:gs pos="100000">
                <a:srgbClr val="7FB872"/>
              </a:gs>
            </a:gsLst>
            <a:lin scaled="0" ang="16200000"/>
          </a:gra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IG_E_neck_p4_right"/>
          <p:cNvSpPr/>
          <p:nvPr/>
        </p:nvSpPr>
        <p:spPr>
          <a:xfrm>
            <a:off x="7886700" y="2527300"/>
            <a:ext cx="63500" cy="266700"/>
          </a:xfrm>
          <a:custGeom>
            <a:avLst/>
            <a:gdLst/>
            <a:ahLst/>
            <a:cxnLst/>
            <a:rect l="l" t="t" r="r" b="b"/>
            <a:pathLst>
              <a:path w="5" h="21">
                <a:moveTo>
                  <a:pt x="0" y="5"/>
                </a:moveTo>
                <a:lnTo>
                  <a:pt x="5" y="0"/>
                </a:lnTo>
                <a:lnTo>
                  <a:pt x="5" y="16"/>
                </a:lnTo>
                <a:lnTo>
                  <a:pt x="0" y="21"/>
                </a:lnTo>
                <a:close/>
              </a:path>
            </a:pathLst>
          </a:custGeom>
          <a:solidFill>
            <a:srgbClr val="619A54"/>
          </a:soli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IG_T_neck_p4"/>
          <p:cNvSpPr txBox="1"/>
          <p:nvPr/>
        </p:nvSpPr>
        <p:spPr>
          <a:xfrm>
            <a:off x="8048625" y="2492375"/>
            <a:ext cx="41275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C9454"/>
                </a:solidFill>
                <a:latin typeface="PingFang SC"/>
              </a:rPr>
              <a:t>P4</a:t>
            </a:r>
          </a:p>
        </p:txBody>
      </p:sp>
      <p:sp>
        <p:nvSpPr>
          <p:cNvPr id="98" name="FIG_T_neck_p4_dim"/>
          <p:cNvSpPr txBox="1"/>
          <p:nvPr/>
        </p:nvSpPr>
        <p:spPr>
          <a:xfrm>
            <a:off x="8048625" y="2635250"/>
            <a:ext cx="412750" cy="127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C9454"/>
                </a:solidFill>
                <a:latin typeface="PingFang SC"/>
              </a:rPr>
              <a:t>40×C</a:t>
            </a:r>
          </a:p>
        </p:txBody>
      </p:sp>
      <p:sp>
        <p:nvSpPr>
          <p:cNvPr id="99" name="FIG_E_neck_p3_top"/>
          <p:cNvSpPr/>
          <p:nvPr/>
        </p:nvSpPr>
        <p:spPr>
          <a:xfrm>
            <a:off x="7645400" y="3530600"/>
            <a:ext cx="304800" cy="50800"/>
          </a:xfrm>
          <a:custGeom>
            <a:avLst/>
            <a:gdLst/>
            <a:ahLst/>
            <a:cxnLst/>
            <a:rect l="l" t="t" r="r" b="b"/>
            <a:pathLst>
              <a:path w="24" h="4">
                <a:moveTo>
                  <a:pt x="0" y="4"/>
                </a:moveTo>
                <a:lnTo>
                  <a:pt x="6" y="0"/>
                </a:lnTo>
                <a:lnTo>
                  <a:pt x="24" y="0"/>
                </a:lnTo>
                <a:lnTo>
                  <a:pt x="19" y="4"/>
                </a:lnTo>
                <a:close/>
              </a:path>
            </a:pathLst>
          </a:custGeom>
          <a:solidFill>
            <a:srgbClr val="FF965E"/>
          </a:soli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IG_E_neck_p3_front"/>
          <p:cNvSpPr/>
          <p:nvPr/>
        </p:nvSpPr>
        <p:spPr>
          <a:xfrm>
            <a:off x="7645400" y="35814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0" y="0"/>
                </a:moveTo>
                <a:lnTo>
                  <a:pt x="19" y="0"/>
                </a:lnTo>
                <a:lnTo>
                  <a:pt x="19" y="17"/>
                </a:lnTo>
                <a:lnTo>
                  <a:pt x="0" y="17"/>
                </a:lnTo>
                <a:close/>
              </a:path>
            </a:pathLst>
          </a:custGeom>
          <a:gradFill rotWithShape="1">
            <a:gsLst>
              <a:gs pos="0">
                <a:srgbClr val="FF8E56"/>
              </a:gs>
              <a:gs pos="100000">
                <a:srgbClr val="ED642C"/>
              </a:gs>
            </a:gsLst>
            <a:lin scaled="0" ang="16200000"/>
          </a:gra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IG_E_neck_p3_right"/>
          <p:cNvSpPr/>
          <p:nvPr/>
        </p:nvSpPr>
        <p:spPr>
          <a:xfrm>
            <a:off x="7886700" y="3530600"/>
            <a:ext cx="63500" cy="266700"/>
          </a:xfrm>
          <a:custGeom>
            <a:avLst/>
            <a:gdLst/>
            <a:ahLst/>
            <a:cxnLst/>
            <a:rect l="l" t="t" r="r" b="b"/>
            <a:pathLst>
              <a:path w="5" h="21">
                <a:moveTo>
                  <a:pt x="0" y="4"/>
                </a:moveTo>
                <a:lnTo>
                  <a:pt x="5" y="0"/>
                </a:lnTo>
                <a:lnTo>
                  <a:pt x="5" y="16"/>
                </a:lnTo>
                <a:lnTo>
                  <a:pt x="0" y="21"/>
                </a:lnTo>
                <a:close/>
              </a:path>
            </a:pathLst>
          </a:custGeom>
          <a:solidFill>
            <a:srgbClr val="CF460E"/>
          </a:soli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IG_T_neck_p3"/>
          <p:cNvSpPr txBox="1"/>
          <p:nvPr/>
        </p:nvSpPr>
        <p:spPr>
          <a:xfrm>
            <a:off x="8048625" y="3492500"/>
            <a:ext cx="41275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E03A26"/>
                </a:solidFill>
                <a:latin typeface="PingFang SC"/>
              </a:rPr>
              <a:t>P3</a:t>
            </a:r>
          </a:p>
        </p:txBody>
      </p:sp>
      <p:sp>
        <p:nvSpPr>
          <p:cNvPr id="103" name="FIG_T_neck_p3_dim"/>
          <p:cNvSpPr txBox="1"/>
          <p:nvPr/>
        </p:nvSpPr>
        <p:spPr>
          <a:xfrm>
            <a:off x="8048625" y="3635375"/>
            <a:ext cx="412750" cy="127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E03A26"/>
                </a:solidFill>
                <a:latin typeface="PingFang SC"/>
              </a:rPr>
              <a:t>80×C</a:t>
            </a:r>
          </a:p>
        </p:txBody>
      </p:sp>
      <p:cxnSp>
        <p:nvCxnSpPr>
          <p:cNvPr id="104" name="FIG_L_neck_c5_up"/>
          <p:cNvCxnSpPr/>
          <p:nvPr/>
        </p:nvCxnSpPr>
        <p:spPr>
          <a:xfrm>
            <a:off x="4540250" y="1428750"/>
            <a:ext cx="198437" cy="214312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FIG_L_neck_up1_add"/>
          <p:cNvCxnSpPr/>
          <p:nvPr/>
        </p:nvCxnSpPr>
        <p:spPr>
          <a:xfrm>
            <a:off x="4778375" y="1873250"/>
            <a:ext cx="0" cy="246062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FIG_L_neck_c4_add"/>
          <p:cNvCxnSpPr/>
          <p:nvPr/>
        </p:nvCxnSpPr>
        <p:spPr>
          <a:xfrm>
            <a:off x="4349750" y="2222500"/>
            <a:ext cx="325437" cy="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FIG_L_neck_add1_fusion"/>
          <p:cNvCxnSpPr/>
          <p:nvPr/>
        </p:nvCxnSpPr>
        <p:spPr>
          <a:xfrm>
            <a:off x="4881562" y="2222500"/>
            <a:ext cx="357188" cy="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FIG_L_neck_up2_add"/>
          <p:cNvCxnSpPr/>
          <p:nvPr/>
        </p:nvCxnSpPr>
        <p:spPr>
          <a:xfrm>
            <a:off x="4778375" y="2841625"/>
            <a:ext cx="0" cy="388937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FIG_L_neck_c3_add"/>
          <p:cNvCxnSpPr/>
          <p:nvPr/>
        </p:nvCxnSpPr>
        <p:spPr>
          <a:xfrm>
            <a:off x="4349750" y="3341687"/>
            <a:ext cx="325437" cy="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FIG_L_neck_add2_fusion"/>
          <p:cNvCxnSpPr/>
          <p:nvPr/>
        </p:nvCxnSpPr>
        <p:spPr>
          <a:xfrm>
            <a:off x="4881562" y="3333750"/>
            <a:ext cx="357188" cy="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FIG_L_neck_addp5_cube"/>
          <p:cNvCxnSpPr/>
          <p:nvPr/>
        </p:nvCxnSpPr>
        <p:spPr>
          <a:xfrm>
            <a:off x="7183437" y="1444625"/>
            <a:ext cx="468313" cy="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FIG_L_neck_addp4_cube"/>
          <p:cNvCxnSpPr/>
          <p:nvPr/>
        </p:nvCxnSpPr>
        <p:spPr>
          <a:xfrm>
            <a:off x="7183437" y="2714625"/>
            <a:ext cx="468313" cy="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FIG_L_neck_addp3_cube"/>
          <p:cNvCxnSpPr/>
          <p:nvPr/>
        </p:nvCxnSpPr>
        <p:spPr>
          <a:xfrm>
            <a:off x="7183437" y="3714750"/>
            <a:ext cx="468313" cy="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FIG_L_neck_addp5_down"/>
          <p:cNvCxnSpPr/>
          <p:nvPr/>
        </p:nvCxnSpPr>
        <p:spPr>
          <a:xfrm>
            <a:off x="7080250" y="1547812"/>
            <a:ext cx="0" cy="261938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FIG_L_neck_down_losc"/>
          <p:cNvCxnSpPr/>
          <p:nvPr/>
        </p:nvCxnSpPr>
        <p:spPr>
          <a:xfrm>
            <a:off x="7080250" y="2032000"/>
            <a:ext cx="0" cy="25400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FIG_L_neck_losc_addp4"/>
          <p:cNvCxnSpPr/>
          <p:nvPr/>
        </p:nvCxnSpPr>
        <p:spPr>
          <a:xfrm>
            <a:off x="7080250" y="2492375"/>
            <a:ext cx="0" cy="119062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FIG_L_neck_addp4_down2"/>
          <p:cNvCxnSpPr/>
          <p:nvPr/>
        </p:nvCxnSpPr>
        <p:spPr>
          <a:xfrm>
            <a:off x="7080250" y="2817812"/>
            <a:ext cx="0" cy="277813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FIG_L_neck_down2_addp3"/>
          <p:cNvCxnSpPr/>
          <p:nvPr/>
        </p:nvCxnSpPr>
        <p:spPr>
          <a:xfrm>
            <a:off x="7080250" y="3317875"/>
            <a:ext cx="0" cy="293687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FIG_L_fusion1_addp5_1"/>
          <p:cNvCxnSpPr/>
          <p:nvPr/>
        </p:nvCxnSpPr>
        <p:spPr>
          <a:xfrm>
            <a:off x="5969000" y="2222500"/>
            <a:ext cx="301625" cy="0"/>
          </a:xfrm>
          <a:prstGeom prst="line">
            <a:avLst/>
          </a:prstGeom>
          <a:ln w="12700">
            <a:solidFill>
              <a:srgbClr val="787E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FIG_L_fusion1_addp5_2"/>
          <p:cNvCxnSpPr/>
          <p:nvPr/>
        </p:nvCxnSpPr>
        <p:spPr>
          <a:xfrm flipV="1">
            <a:off x="6270625" y="1444625"/>
            <a:ext cx="0" cy="777875"/>
          </a:xfrm>
          <a:prstGeom prst="line">
            <a:avLst/>
          </a:prstGeom>
          <a:ln w="12700">
            <a:solidFill>
              <a:srgbClr val="787E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FIG_L_fusion1_addp5_3"/>
          <p:cNvCxnSpPr/>
          <p:nvPr/>
        </p:nvCxnSpPr>
        <p:spPr>
          <a:xfrm>
            <a:off x="6270625" y="1444625"/>
            <a:ext cx="706437" cy="0"/>
          </a:xfrm>
          <a:prstGeom prst="line">
            <a:avLst/>
          </a:prstGeom>
          <a:ln w="12700">
            <a:solidFill>
              <a:srgbClr val="787E8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FIG_L_fusion1_up2_1"/>
          <p:cNvCxnSpPr/>
          <p:nvPr/>
        </p:nvCxnSpPr>
        <p:spPr>
          <a:xfrm>
            <a:off x="5603875" y="2341562"/>
            <a:ext cx="0" cy="388938"/>
          </a:xfrm>
          <a:prstGeom prst="line">
            <a:avLst/>
          </a:prstGeom>
          <a:ln w="12700">
            <a:solidFill>
              <a:srgbClr val="787E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FIG_L_fusion1_up2_2"/>
          <p:cNvCxnSpPr/>
          <p:nvPr/>
        </p:nvCxnSpPr>
        <p:spPr>
          <a:xfrm flipH="1">
            <a:off x="4889500" y="2730500"/>
            <a:ext cx="714375" cy="0"/>
          </a:xfrm>
          <a:prstGeom prst="line">
            <a:avLst/>
          </a:prstGeom>
          <a:ln w="12700">
            <a:solidFill>
              <a:srgbClr val="787E8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FIG_L_fusion2_addp4_1"/>
          <p:cNvCxnSpPr/>
          <p:nvPr/>
        </p:nvCxnSpPr>
        <p:spPr>
          <a:xfrm>
            <a:off x="5969000" y="3333750"/>
            <a:ext cx="301625" cy="0"/>
          </a:xfrm>
          <a:prstGeom prst="line">
            <a:avLst/>
          </a:prstGeom>
          <a:ln w="12700">
            <a:solidFill>
              <a:srgbClr val="787E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FIG_L_fusion2_addp4_2"/>
          <p:cNvCxnSpPr/>
          <p:nvPr/>
        </p:nvCxnSpPr>
        <p:spPr>
          <a:xfrm flipV="1">
            <a:off x="6270625" y="2714625"/>
            <a:ext cx="0" cy="619125"/>
          </a:xfrm>
          <a:prstGeom prst="line">
            <a:avLst/>
          </a:prstGeom>
          <a:ln w="12700">
            <a:solidFill>
              <a:srgbClr val="787E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FIG_L_fusion2_addp4_3"/>
          <p:cNvCxnSpPr/>
          <p:nvPr/>
        </p:nvCxnSpPr>
        <p:spPr>
          <a:xfrm>
            <a:off x="6270625" y="2714625"/>
            <a:ext cx="706437" cy="0"/>
          </a:xfrm>
          <a:prstGeom prst="line">
            <a:avLst/>
          </a:prstGeom>
          <a:ln w="12700">
            <a:solidFill>
              <a:srgbClr val="787E8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FIG_L_fusion2_addp3_1"/>
          <p:cNvCxnSpPr/>
          <p:nvPr/>
        </p:nvCxnSpPr>
        <p:spPr>
          <a:xfrm>
            <a:off x="5603875" y="3452812"/>
            <a:ext cx="0" cy="261938"/>
          </a:xfrm>
          <a:prstGeom prst="line">
            <a:avLst/>
          </a:prstGeom>
          <a:ln w="12700">
            <a:solidFill>
              <a:srgbClr val="787E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FIG_L_fusion2_addp3_2"/>
          <p:cNvCxnSpPr/>
          <p:nvPr/>
        </p:nvCxnSpPr>
        <p:spPr>
          <a:xfrm>
            <a:off x="5603875" y="3714750"/>
            <a:ext cx="1373187" cy="0"/>
          </a:xfrm>
          <a:prstGeom prst="line">
            <a:avLst/>
          </a:prstGeom>
          <a:ln w="12700">
            <a:solidFill>
              <a:srgbClr val="787E8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FIG_E_neck_note_cga"/>
          <p:cNvSpPr/>
          <p:nvPr/>
        </p:nvSpPr>
        <p:spPr>
          <a:xfrm>
            <a:off x="4016375" y="4032250"/>
            <a:ext cx="1984375" cy="222250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016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IG_T_neck_note_cga"/>
          <p:cNvSpPr txBox="1"/>
          <p:nvPr/>
        </p:nvSpPr>
        <p:spPr>
          <a:xfrm>
            <a:off x="4016375" y="4064000"/>
            <a:ext cx="19843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550D8"/>
                </a:solidFill>
                <a:latin typeface="PingFang SC"/>
              </a:rPr>
              <a:t>CGAFusion（高低频自适应融合）</a:t>
            </a:r>
          </a:p>
        </p:txBody>
      </p:sp>
      <p:sp>
        <p:nvSpPr>
          <p:cNvPr id="131" name="FIG_E_neck_note_losc"/>
          <p:cNvSpPr/>
          <p:nvPr/>
        </p:nvSpPr>
        <p:spPr>
          <a:xfrm>
            <a:off x="6143625" y="4032250"/>
            <a:ext cx="1984375" cy="222250"/>
          </a:xfrm>
          <a:prstGeom prst="roundRect">
            <a:avLst>
              <a:gd name="adj" fmla="val 8000"/>
            </a:avLst>
          </a:prstGeom>
          <a:solidFill>
            <a:srgbClr val="FDEEE8"/>
          </a:solidFill>
          <a:ln w="10160">
            <a:solidFill>
              <a:srgbClr val="E03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IG_T_neck_note_losc"/>
          <p:cNvSpPr txBox="1"/>
          <p:nvPr/>
        </p:nvSpPr>
        <p:spPr>
          <a:xfrm>
            <a:off x="6143625" y="4064000"/>
            <a:ext cx="19843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E03A26"/>
                </a:solidFill>
                <a:latin typeface="PingFang SC"/>
              </a:rPr>
              <a:t>LOSC（方向性下采样建模）</a:t>
            </a:r>
          </a:p>
        </p:txBody>
      </p:sp>
      <p:sp>
        <p:nvSpPr>
          <p:cNvPr id="133" name="FIG_T_head_title"/>
          <p:cNvSpPr txBox="1"/>
          <p:nvPr/>
        </p:nvSpPr>
        <p:spPr>
          <a:xfrm>
            <a:off x="8620125" y="682625"/>
            <a:ext cx="190500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703EC8"/>
                </a:solidFill>
                <a:latin typeface="PingFang SC"/>
              </a:rPr>
              <a:t>Head：RT-DETR 原始检测头</a:t>
            </a:r>
          </a:p>
        </p:txBody>
      </p:sp>
      <p:sp>
        <p:nvSpPr>
          <p:cNvPr id="134" name="FIG_E_head_iou"/>
          <p:cNvSpPr/>
          <p:nvPr/>
        </p:nvSpPr>
        <p:spPr>
          <a:xfrm>
            <a:off x="8715375" y="1127125"/>
            <a:ext cx="17145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IG_T_head_iou"/>
          <p:cNvSpPr txBox="1"/>
          <p:nvPr/>
        </p:nvSpPr>
        <p:spPr>
          <a:xfrm>
            <a:off x="8715375" y="1206500"/>
            <a:ext cx="17145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82C3C"/>
                </a:solidFill>
                <a:latin typeface="PingFang SC"/>
              </a:rPr>
              <a:t>IoU-Aware
Query Selection</a:t>
            </a:r>
          </a:p>
        </p:txBody>
      </p:sp>
      <p:sp>
        <p:nvSpPr>
          <p:cNvPr id="136" name="FIG_E_head_iou_sq_0"/>
          <p:cNvSpPr/>
          <p:nvPr/>
        </p:nvSpPr>
        <p:spPr>
          <a:xfrm>
            <a:off x="8858250" y="1603375"/>
            <a:ext cx="95250" cy="95250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IG_E_head_iou_sq_1"/>
          <p:cNvSpPr/>
          <p:nvPr/>
        </p:nvSpPr>
        <p:spPr>
          <a:xfrm>
            <a:off x="8993187" y="1603375"/>
            <a:ext cx="95250" cy="95250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IG_E_head_iou_sq_2"/>
          <p:cNvSpPr/>
          <p:nvPr/>
        </p:nvSpPr>
        <p:spPr>
          <a:xfrm>
            <a:off x="9128125" y="1603375"/>
            <a:ext cx="95250" cy="95250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IG_E_head_iou_sq_3"/>
          <p:cNvSpPr/>
          <p:nvPr/>
        </p:nvSpPr>
        <p:spPr>
          <a:xfrm>
            <a:off x="9263062" y="1603375"/>
            <a:ext cx="95250" cy="95250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IG_E_head_iou_sq_4"/>
          <p:cNvSpPr/>
          <p:nvPr/>
        </p:nvSpPr>
        <p:spPr>
          <a:xfrm>
            <a:off x="9398000" y="1603375"/>
            <a:ext cx="95250" cy="95250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IG_E_head_iou_sq_5"/>
          <p:cNvSpPr/>
          <p:nvPr/>
        </p:nvSpPr>
        <p:spPr>
          <a:xfrm>
            <a:off x="9532937" y="1603375"/>
            <a:ext cx="95250" cy="95250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IG_E_head_iou_sq_6"/>
          <p:cNvSpPr/>
          <p:nvPr/>
        </p:nvSpPr>
        <p:spPr>
          <a:xfrm>
            <a:off x="9667875" y="1603375"/>
            <a:ext cx="95250" cy="95250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IG_E_head_iou_sq_dots"/>
          <p:cNvSpPr txBox="1"/>
          <p:nvPr/>
        </p:nvSpPr>
        <p:spPr>
          <a:xfrm>
            <a:off x="9818687" y="1587500"/>
            <a:ext cx="238125" cy="127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787E8C"/>
                </a:solidFill>
                <a:latin typeface="PingFang SC"/>
              </a:rPr>
              <a:t>····</a:t>
            </a:r>
          </a:p>
        </p:txBody>
      </p:sp>
      <p:cxnSp>
        <p:nvCxnSpPr>
          <p:cNvPr id="144" name="FIG_L_head_iou_dec"/>
          <p:cNvCxnSpPr/>
          <p:nvPr/>
        </p:nvCxnSpPr>
        <p:spPr>
          <a:xfrm>
            <a:off x="9572625" y="1889125"/>
            <a:ext cx="0" cy="428625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FIG_E_head_dec"/>
          <p:cNvSpPr/>
          <p:nvPr/>
        </p:nvSpPr>
        <p:spPr>
          <a:xfrm>
            <a:off x="8715375" y="2317750"/>
            <a:ext cx="1714500" cy="857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IG_T_head_dec"/>
          <p:cNvSpPr txBox="1"/>
          <p:nvPr/>
        </p:nvSpPr>
        <p:spPr>
          <a:xfrm>
            <a:off x="8715375" y="2381250"/>
            <a:ext cx="1714500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82C3C"/>
                </a:solidFill>
                <a:latin typeface="PingFang SC"/>
              </a:rPr>
              <a:t>Transformer Decoder × 6 层</a:t>
            </a:r>
          </a:p>
        </p:txBody>
      </p:sp>
      <p:sp>
        <p:nvSpPr>
          <p:cNvPr id="147" name="FIG_E_head_dec_sq_0"/>
          <p:cNvSpPr/>
          <p:nvPr/>
        </p:nvSpPr>
        <p:spPr>
          <a:xfrm>
            <a:off x="8842375" y="2698750"/>
            <a:ext cx="111125" cy="111125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IG_E_head_dec_sq_1"/>
          <p:cNvSpPr/>
          <p:nvPr/>
        </p:nvSpPr>
        <p:spPr>
          <a:xfrm>
            <a:off x="9009062" y="2698750"/>
            <a:ext cx="111125" cy="111125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IG_E_head_dec_sq_2"/>
          <p:cNvSpPr/>
          <p:nvPr/>
        </p:nvSpPr>
        <p:spPr>
          <a:xfrm>
            <a:off x="9175750" y="2698750"/>
            <a:ext cx="111125" cy="111125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IG_E_head_dec_sq_3"/>
          <p:cNvSpPr/>
          <p:nvPr/>
        </p:nvSpPr>
        <p:spPr>
          <a:xfrm>
            <a:off x="9342437" y="2698750"/>
            <a:ext cx="111125" cy="111125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IG_E_head_dec_sq_4"/>
          <p:cNvSpPr/>
          <p:nvPr/>
        </p:nvSpPr>
        <p:spPr>
          <a:xfrm>
            <a:off x="9509125" y="2698750"/>
            <a:ext cx="111125" cy="111125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IG_E_head_dec_sq_5"/>
          <p:cNvSpPr/>
          <p:nvPr/>
        </p:nvSpPr>
        <p:spPr>
          <a:xfrm>
            <a:off x="9675812" y="2698750"/>
            <a:ext cx="111125" cy="111125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IG_E_head_dec_sq_dots"/>
          <p:cNvSpPr txBox="1"/>
          <p:nvPr/>
        </p:nvSpPr>
        <p:spPr>
          <a:xfrm>
            <a:off x="9858375" y="2682875"/>
            <a:ext cx="238125" cy="1428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787E8C"/>
                </a:solidFill>
                <a:latin typeface="PingFang SC"/>
              </a:rPr>
              <a:t>····</a:t>
            </a:r>
          </a:p>
        </p:txBody>
      </p:sp>
      <p:cxnSp>
        <p:nvCxnSpPr>
          <p:cNvPr id="154" name="FIG_L_head_dec_link1"/>
          <p:cNvCxnSpPr/>
          <p:nvPr/>
        </p:nvCxnSpPr>
        <p:spPr>
          <a:xfrm>
            <a:off x="8953500" y="2754312"/>
            <a:ext cx="55562" cy="0"/>
          </a:xfrm>
          <a:prstGeom prst="line">
            <a:avLst/>
          </a:prstGeom>
          <a:ln w="1143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FIG_L_head_dec_link2"/>
          <p:cNvCxnSpPr/>
          <p:nvPr/>
        </p:nvCxnSpPr>
        <p:spPr>
          <a:xfrm>
            <a:off x="9120187" y="2754312"/>
            <a:ext cx="55563" cy="0"/>
          </a:xfrm>
          <a:prstGeom prst="line">
            <a:avLst/>
          </a:prstGeom>
          <a:ln w="1143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FIG_L_head_dec_link3"/>
          <p:cNvCxnSpPr/>
          <p:nvPr/>
        </p:nvCxnSpPr>
        <p:spPr>
          <a:xfrm>
            <a:off x="9286875" y="2754312"/>
            <a:ext cx="55562" cy="0"/>
          </a:xfrm>
          <a:prstGeom prst="line">
            <a:avLst/>
          </a:prstGeom>
          <a:ln w="1143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FIG_L_head_dec_link4"/>
          <p:cNvCxnSpPr/>
          <p:nvPr/>
        </p:nvCxnSpPr>
        <p:spPr>
          <a:xfrm>
            <a:off x="9453562" y="2754312"/>
            <a:ext cx="55563" cy="0"/>
          </a:xfrm>
          <a:prstGeom prst="line">
            <a:avLst/>
          </a:prstGeom>
          <a:ln w="1143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FIG_L_head_dec_link5"/>
          <p:cNvCxnSpPr/>
          <p:nvPr/>
        </p:nvCxnSpPr>
        <p:spPr>
          <a:xfrm>
            <a:off x="9620250" y="2754312"/>
            <a:ext cx="55562" cy="0"/>
          </a:xfrm>
          <a:prstGeom prst="line">
            <a:avLst/>
          </a:prstGeom>
          <a:ln w="1143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FIG_L_head_dec_out"/>
          <p:cNvCxnSpPr/>
          <p:nvPr/>
        </p:nvCxnSpPr>
        <p:spPr>
          <a:xfrm>
            <a:off x="9572625" y="3175000"/>
            <a:ext cx="0" cy="25400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FIG_E_head_out"/>
          <p:cNvSpPr/>
          <p:nvPr/>
        </p:nvSpPr>
        <p:spPr>
          <a:xfrm>
            <a:off x="8715375" y="3429000"/>
            <a:ext cx="1714500" cy="73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IG_T_head_out"/>
          <p:cNvSpPr txBox="1"/>
          <p:nvPr/>
        </p:nvSpPr>
        <p:spPr>
          <a:xfrm>
            <a:off x="8715375" y="3476625"/>
            <a:ext cx="1714500" cy="2698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82C3C"/>
                </a:solidFill>
                <a:latin typeface="PingFang SC"/>
              </a:rPr>
              <a:t>输出：
类别概率 + 归一化边界框坐标</a:t>
            </a:r>
          </a:p>
        </p:txBody>
      </p:sp>
      <p:sp>
        <p:nvSpPr>
          <p:cNvPr id="162" name="FIG_E_head_bars_0"/>
          <p:cNvSpPr/>
          <p:nvPr/>
        </p:nvSpPr>
        <p:spPr>
          <a:xfrm>
            <a:off x="9017000" y="3905250"/>
            <a:ext cx="55562" cy="142875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IG_E_head_bars_1"/>
          <p:cNvSpPr/>
          <p:nvPr/>
        </p:nvSpPr>
        <p:spPr>
          <a:xfrm>
            <a:off x="9096375" y="3810000"/>
            <a:ext cx="55562" cy="238125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IG_E_head_bars_2"/>
          <p:cNvSpPr/>
          <p:nvPr/>
        </p:nvSpPr>
        <p:spPr>
          <a:xfrm>
            <a:off x="9175750" y="3952875"/>
            <a:ext cx="55562" cy="95250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IG_E_head_bars_3"/>
          <p:cNvSpPr/>
          <p:nvPr/>
        </p:nvSpPr>
        <p:spPr>
          <a:xfrm>
            <a:off x="9255125" y="3857625"/>
            <a:ext cx="55562" cy="190500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6" name="FIG_E_head_bars_axis"/>
          <p:cNvCxnSpPr/>
          <p:nvPr/>
        </p:nvCxnSpPr>
        <p:spPr>
          <a:xfrm>
            <a:off x="8993187" y="4056062"/>
            <a:ext cx="357188" cy="0"/>
          </a:xfrm>
          <a:prstGeom prst="line">
            <a:avLst/>
          </a:prstGeom>
          <a:ln w="1016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FIG_E_head_bbox"/>
          <p:cNvSpPr/>
          <p:nvPr/>
        </p:nvSpPr>
        <p:spPr>
          <a:xfrm>
            <a:off x="9652000" y="3794125"/>
            <a:ext cx="317500" cy="254000"/>
          </a:xfrm>
          <a:prstGeom prst="rect">
            <a:avLst/>
          </a:prstGeom>
          <a:noFill/>
          <a:ln w="15240">
            <a:solidFill>
              <a:srgbClr val="255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IG_T_legend_title"/>
          <p:cNvSpPr txBox="1"/>
          <p:nvPr/>
        </p:nvSpPr>
        <p:spPr>
          <a:xfrm>
            <a:off x="10636250" y="682625"/>
            <a:ext cx="14763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82C3C"/>
                </a:solidFill>
                <a:latin typeface="PingFang SC"/>
              </a:rPr>
              <a:t>图例说明</a:t>
            </a:r>
          </a:p>
        </p:txBody>
      </p:sp>
      <p:sp>
        <p:nvSpPr>
          <p:cNvPr id="169" name="FIG_E_lg_p5_top"/>
          <p:cNvSpPr/>
          <p:nvPr/>
        </p:nvSpPr>
        <p:spPr>
          <a:xfrm>
            <a:off x="10744200" y="1041400"/>
            <a:ext cx="190500" cy="50800"/>
          </a:xfrm>
          <a:custGeom>
            <a:avLst/>
            <a:gdLst/>
            <a:ahLst/>
            <a:cxnLst/>
            <a:rect l="l" t="t" r="r" b="b"/>
            <a:pathLst>
              <a:path w="15" h="4">
                <a:moveTo>
                  <a:pt x="0" y="4"/>
                </a:moveTo>
                <a:lnTo>
                  <a:pt x="3" y="0"/>
                </a:lnTo>
                <a:lnTo>
                  <a:pt x="15" y="0"/>
                </a:lnTo>
                <a:lnTo>
                  <a:pt x="12" y="4"/>
                </a:lnTo>
                <a:close/>
              </a:path>
            </a:pathLst>
          </a:custGeom>
          <a:solidFill>
            <a:srgbClr val="AED4FF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IG_E_lg_p5_front"/>
          <p:cNvSpPr/>
          <p:nvPr/>
        </p:nvSpPr>
        <p:spPr>
          <a:xfrm>
            <a:off x="10744200" y="1092200"/>
            <a:ext cx="152400" cy="101600"/>
          </a:xfrm>
          <a:custGeom>
            <a:avLst/>
            <a:gdLst/>
            <a:ahLst/>
            <a:cxnLst/>
            <a:rect l="l" t="t" r="r" b="b"/>
            <a:pathLst>
              <a:path w="12" h="8">
                <a:moveTo>
                  <a:pt x="0" y="0"/>
                </a:moveTo>
                <a:lnTo>
                  <a:pt x="12" y="0"/>
                </a:lnTo>
                <a:lnTo>
                  <a:pt x="12" y="8"/>
                </a:lnTo>
                <a:lnTo>
                  <a:pt x="0" y="8"/>
                </a:lnTo>
                <a:close/>
              </a:path>
            </a:pathLst>
          </a:custGeom>
          <a:gradFill rotWithShape="1">
            <a:gsLst>
              <a:gs pos="0">
                <a:srgbClr val="A6CCFF"/>
              </a:gs>
              <a:gs pos="100000">
                <a:srgbClr val="7CA2DC"/>
              </a:gs>
            </a:gsLst>
            <a:lin scaled="0" ang="16200000"/>
          </a:gra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IG_E_lg_p5_right"/>
          <p:cNvSpPr/>
          <p:nvPr/>
        </p:nvSpPr>
        <p:spPr>
          <a:xfrm>
            <a:off x="10896600" y="1041400"/>
            <a:ext cx="38100" cy="152400"/>
          </a:xfrm>
          <a:custGeom>
            <a:avLst/>
            <a:gdLst/>
            <a:ahLst/>
            <a:cxnLst/>
            <a:rect l="l" t="t" r="r" b="b"/>
            <a:pathLst>
              <a:path w="3" h="12">
                <a:moveTo>
                  <a:pt x="0" y="4"/>
                </a:moveTo>
                <a:lnTo>
                  <a:pt x="3" y="0"/>
                </a:lnTo>
                <a:lnTo>
                  <a:pt x="3" y="9"/>
                </a:lnTo>
                <a:lnTo>
                  <a:pt x="0" y="12"/>
                </a:lnTo>
                <a:close/>
              </a:path>
            </a:pathLst>
          </a:custGeom>
          <a:solidFill>
            <a:srgbClr val="5E84BE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IG_T_lg_p5"/>
          <p:cNvSpPr txBox="1"/>
          <p:nvPr/>
        </p:nvSpPr>
        <p:spPr>
          <a:xfrm>
            <a:off x="11017250" y="1031875"/>
            <a:ext cx="1079500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P5 / C5 （20×C）</a:t>
            </a:r>
          </a:p>
        </p:txBody>
      </p:sp>
      <p:sp>
        <p:nvSpPr>
          <p:cNvPr id="173" name="FIG_E_lg_p4_top"/>
          <p:cNvSpPr/>
          <p:nvPr/>
        </p:nvSpPr>
        <p:spPr>
          <a:xfrm>
            <a:off x="10744200" y="1333500"/>
            <a:ext cx="190500" cy="38100"/>
          </a:xfrm>
          <a:custGeom>
            <a:avLst/>
            <a:gdLst/>
            <a:ahLst/>
            <a:cxnLst/>
            <a:rect l="l" t="t" r="r" b="b"/>
            <a:pathLst>
              <a:path w="15" h="3">
                <a:moveTo>
                  <a:pt x="0" y="3"/>
                </a:moveTo>
                <a:lnTo>
                  <a:pt x="3" y="0"/>
                </a:lnTo>
                <a:lnTo>
                  <a:pt x="15" y="0"/>
                </a:lnTo>
                <a:lnTo>
                  <a:pt x="12" y="3"/>
                </a:lnTo>
                <a:close/>
              </a:path>
            </a:pathLst>
          </a:custGeom>
          <a:solidFill>
            <a:srgbClr val="B1EAA4"/>
          </a:soli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IG_E_lg_p4_front"/>
          <p:cNvSpPr/>
          <p:nvPr/>
        </p:nvSpPr>
        <p:spPr>
          <a:xfrm>
            <a:off x="10744200" y="1371600"/>
            <a:ext cx="152400" cy="101600"/>
          </a:xfrm>
          <a:custGeom>
            <a:avLst/>
            <a:gdLst/>
            <a:ahLst/>
            <a:cxnLst/>
            <a:rect l="l" t="t" r="r" b="b"/>
            <a:pathLst>
              <a:path w="12" h="8">
                <a:moveTo>
                  <a:pt x="0" y="0"/>
                </a:moveTo>
                <a:lnTo>
                  <a:pt x="12" y="0"/>
                </a:lnTo>
                <a:lnTo>
                  <a:pt x="12" y="8"/>
                </a:lnTo>
                <a:lnTo>
                  <a:pt x="0" y="8"/>
                </a:lnTo>
                <a:close/>
              </a:path>
            </a:pathLst>
          </a:custGeom>
          <a:gradFill rotWithShape="1">
            <a:gsLst>
              <a:gs pos="0">
                <a:srgbClr val="A9E29C"/>
              </a:gs>
              <a:gs pos="100000">
                <a:srgbClr val="7FB872"/>
              </a:gs>
            </a:gsLst>
            <a:lin scaled="0" ang="16200000"/>
          </a:gra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IG_E_lg_p4_right"/>
          <p:cNvSpPr/>
          <p:nvPr/>
        </p:nvSpPr>
        <p:spPr>
          <a:xfrm>
            <a:off x="10896600" y="13335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0" y="3"/>
                </a:moveTo>
                <a:lnTo>
                  <a:pt x="3" y="0"/>
                </a:lnTo>
                <a:lnTo>
                  <a:pt x="3" y="8"/>
                </a:lnTo>
                <a:lnTo>
                  <a:pt x="0" y="11"/>
                </a:lnTo>
                <a:close/>
              </a:path>
            </a:pathLst>
          </a:custGeom>
          <a:solidFill>
            <a:srgbClr val="619A54"/>
          </a:soli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IG_T_lg_p4"/>
          <p:cNvSpPr txBox="1"/>
          <p:nvPr/>
        </p:nvSpPr>
        <p:spPr>
          <a:xfrm>
            <a:off x="11017250" y="1317625"/>
            <a:ext cx="1079500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P4 / C4 （40×C）</a:t>
            </a:r>
          </a:p>
        </p:txBody>
      </p:sp>
      <p:sp>
        <p:nvSpPr>
          <p:cNvPr id="177" name="FIG_E_lg_p3_top"/>
          <p:cNvSpPr/>
          <p:nvPr/>
        </p:nvSpPr>
        <p:spPr>
          <a:xfrm>
            <a:off x="10744200" y="1625600"/>
            <a:ext cx="190500" cy="38100"/>
          </a:xfrm>
          <a:custGeom>
            <a:avLst/>
            <a:gdLst/>
            <a:ahLst/>
            <a:cxnLst/>
            <a:rect l="l" t="t" r="r" b="b"/>
            <a:pathLst>
              <a:path w="15" h="3">
                <a:moveTo>
                  <a:pt x="0" y="3"/>
                </a:moveTo>
                <a:lnTo>
                  <a:pt x="3" y="0"/>
                </a:lnTo>
                <a:lnTo>
                  <a:pt x="15" y="0"/>
                </a:lnTo>
                <a:lnTo>
                  <a:pt x="12" y="3"/>
                </a:lnTo>
                <a:close/>
              </a:path>
            </a:pathLst>
          </a:custGeom>
          <a:solidFill>
            <a:srgbClr val="FF965E"/>
          </a:soli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IG_E_lg_p3_front"/>
          <p:cNvSpPr/>
          <p:nvPr/>
        </p:nvSpPr>
        <p:spPr>
          <a:xfrm>
            <a:off x="10744200" y="1663700"/>
            <a:ext cx="152400" cy="101600"/>
          </a:xfrm>
          <a:custGeom>
            <a:avLst/>
            <a:gdLst/>
            <a:ahLst/>
            <a:cxnLst/>
            <a:rect l="l" t="t" r="r" b="b"/>
            <a:pathLst>
              <a:path w="12" h="8">
                <a:moveTo>
                  <a:pt x="0" y="0"/>
                </a:moveTo>
                <a:lnTo>
                  <a:pt x="12" y="0"/>
                </a:lnTo>
                <a:lnTo>
                  <a:pt x="12" y="8"/>
                </a:lnTo>
                <a:lnTo>
                  <a:pt x="0" y="8"/>
                </a:lnTo>
                <a:close/>
              </a:path>
            </a:pathLst>
          </a:custGeom>
          <a:gradFill rotWithShape="1">
            <a:gsLst>
              <a:gs pos="0">
                <a:srgbClr val="FF8E56"/>
              </a:gs>
              <a:gs pos="100000">
                <a:srgbClr val="ED642C"/>
              </a:gs>
            </a:gsLst>
            <a:lin scaled="0" ang="16200000"/>
          </a:gra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IG_E_lg_p3_right"/>
          <p:cNvSpPr/>
          <p:nvPr/>
        </p:nvSpPr>
        <p:spPr>
          <a:xfrm>
            <a:off x="10896600" y="1625600"/>
            <a:ext cx="38100" cy="139700"/>
          </a:xfrm>
          <a:custGeom>
            <a:avLst/>
            <a:gdLst/>
            <a:ahLst/>
            <a:cxnLst/>
            <a:rect l="l" t="t" r="r" b="b"/>
            <a:pathLst>
              <a:path w="3" h="11">
                <a:moveTo>
                  <a:pt x="0" y="3"/>
                </a:moveTo>
                <a:lnTo>
                  <a:pt x="3" y="0"/>
                </a:lnTo>
                <a:lnTo>
                  <a:pt x="3" y="8"/>
                </a:lnTo>
                <a:lnTo>
                  <a:pt x="0" y="11"/>
                </a:lnTo>
                <a:close/>
              </a:path>
            </a:pathLst>
          </a:custGeom>
          <a:solidFill>
            <a:srgbClr val="CF460E"/>
          </a:soli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IG_T_lg_p3"/>
          <p:cNvSpPr txBox="1"/>
          <p:nvPr/>
        </p:nvSpPr>
        <p:spPr>
          <a:xfrm>
            <a:off x="11017250" y="1603375"/>
            <a:ext cx="1079500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P3 / C3 （80×C）</a:t>
            </a:r>
          </a:p>
        </p:txBody>
      </p:sp>
      <p:sp>
        <p:nvSpPr>
          <p:cNvPr id="181" name="FIG_E_lg_up"/>
          <p:cNvSpPr/>
          <p:nvPr/>
        </p:nvSpPr>
        <p:spPr>
          <a:xfrm>
            <a:off x="10747375" y="1905000"/>
            <a:ext cx="158750" cy="158750"/>
          </a:xfrm>
          <a:prstGeom prst="ellipse">
            <a:avLst/>
          </a:prstGeom>
          <a:solidFill>
            <a:srgbClr val="DECDF8"/>
          </a:solidFill>
          <a:ln w="12700">
            <a:solidFill>
              <a:srgbClr val="8C6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IG_E_lg_up_text"/>
          <p:cNvSpPr txBox="1"/>
          <p:nvPr/>
        </p:nvSpPr>
        <p:spPr>
          <a:xfrm>
            <a:off x="10747375" y="1905000"/>
            <a:ext cx="15875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703EC8"/>
                </a:solidFill>
                <a:latin typeface="PingFang SC"/>
              </a:rPr>
              <a:t>UP</a:t>
            </a:r>
          </a:p>
        </p:txBody>
      </p:sp>
      <p:sp>
        <p:nvSpPr>
          <p:cNvPr id="183" name="FIG_T_lg_up"/>
          <p:cNvSpPr txBox="1"/>
          <p:nvPr/>
        </p:nvSpPr>
        <p:spPr>
          <a:xfrm>
            <a:off x="11017250" y="1889125"/>
            <a:ext cx="1079500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上采样 （× 2）</a:t>
            </a:r>
          </a:p>
        </p:txBody>
      </p:sp>
      <p:sp>
        <p:nvSpPr>
          <p:cNvPr id="184" name="FIG_E_lg_down"/>
          <p:cNvSpPr/>
          <p:nvPr/>
        </p:nvSpPr>
        <p:spPr>
          <a:xfrm>
            <a:off x="10747375" y="2190750"/>
            <a:ext cx="158750" cy="158750"/>
          </a:xfrm>
          <a:prstGeom prst="ellipse">
            <a:avLst/>
          </a:prstGeom>
          <a:solidFill>
            <a:srgbClr val="FAD6AA"/>
          </a:solidFill>
          <a:ln w="12700">
            <a:solidFill>
              <a:srgbClr val="CE7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IG_E_lg_down_text"/>
          <p:cNvSpPr txBox="1"/>
          <p:nvPr/>
        </p:nvSpPr>
        <p:spPr>
          <a:xfrm>
            <a:off x="10747375" y="2190750"/>
            <a:ext cx="15875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" b="1">
                <a:solidFill>
                  <a:srgbClr val="964A0C"/>
                </a:solidFill>
                <a:latin typeface="PingFang SC"/>
              </a:rPr>
              <a:t>Down</a:t>
            </a:r>
          </a:p>
        </p:txBody>
      </p:sp>
      <p:sp>
        <p:nvSpPr>
          <p:cNvPr id="186" name="FIG_T_lg_down"/>
          <p:cNvSpPr txBox="1"/>
          <p:nvPr/>
        </p:nvSpPr>
        <p:spPr>
          <a:xfrm>
            <a:off x="11017250" y="2174875"/>
            <a:ext cx="1079500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下采样 （× 2）</a:t>
            </a:r>
          </a:p>
        </p:txBody>
      </p:sp>
      <p:sp>
        <p:nvSpPr>
          <p:cNvPr id="187" name="FIG_E_lg_add"/>
          <p:cNvSpPr/>
          <p:nvPr/>
        </p:nvSpPr>
        <p:spPr>
          <a:xfrm>
            <a:off x="10747375" y="2476500"/>
            <a:ext cx="158750" cy="158750"/>
          </a:xfrm>
          <a:prstGeom prst="ellipse">
            <a:avLst/>
          </a:prstGeom>
          <a:solidFill>
            <a:srgbClr val="343A4E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IG_E_lg_add_text"/>
          <p:cNvSpPr txBox="1"/>
          <p:nvPr/>
        </p:nvSpPr>
        <p:spPr>
          <a:xfrm>
            <a:off x="10747375" y="2476500"/>
            <a:ext cx="15875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ingFang SC"/>
              </a:rPr>
              <a:t>+</a:t>
            </a:r>
          </a:p>
        </p:txBody>
      </p:sp>
      <p:sp>
        <p:nvSpPr>
          <p:cNvPr id="189" name="FIG_T_lg_add"/>
          <p:cNvSpPr txBox="1"/>
          <p:nvPr/>
        </p:nvSpPr>
        <p:spPr>
          <a:xfrm>
            <a:off x="11017250" y="2460625"/>
            <a:ext cx="1079500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拼接 （Concat）</a:t>
            </a:r>
          </a:p>
        </p:txBody>
      </p:sp>
      <p:sp>
        <p:nvSpPr>
          <p:cNvPr id="190" name="FIG_E_lg_losc"/>
          <p:cNvSpPr/>
          <p:nvPr/>
        </p:nvSpPr>
        <p:spPr>
          <a:xfrm>
            <a:off x="10731500" y="2778125"/>
            <a:ext cx="254000" cy="127000"/>
          </a:xfrm>
          <a:prstGeom prst="roundRect">
            <a:avLst>
              <a:gd name="adj" fmla="val 8000"/>
            </a:avLst>
          </a:prstGeom>
          <a:solidFill>
            <a:srgbClr val="FDF0E8"/>
          </a:solidFill>
          <a:ln w="10160">
            <a:solidFill>
              <a:srgbClr val="E26E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IG_T_lg_losc_tag"/>
          <p:cNvSpPr txBox="1"/>
          <p:nvPr/>
        </p:nvSpPr>
        <p:spPr>
          <a:xfrm>
            <a:off x="10731500" y="2786062"/>
            <a:ext cx="254000" cy="1111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CE5A1E"/>
                </a:solidFill>
                <a:latin typeface="PingFang SC"/>
              </a:rPr>
              <a:t>LOSC</a:t>
            </a:r>
          </a:p>
        </p:txBody>
      </p:sp>
      <p:sp>
        <p:nvSpPr>
          <p:cNvPr id="192" name="FIG_T_lg_losc"/>
          <p:cNvSpPr txBox="1"/>
          <p:nvPr/>
        </p:nvSpPr>
        <p:spPr>
          <a:xfrm>
            <a:off x="11017250" y="2754312"/>
            <a:ext cx="1079500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方向性下采样建模</a:t>
            </a:r>
          </a:p>
        </p:txBody>
      </p:sp>
      <p:sp>
        <p:nvSpPr>
          <p:cNvPr id="193" name="FIG_E_lg_cga"/>
          <p:cNvSpPr/>
          <p:nvPr/>
        </p:nvSpPr>
        <p:spPr>
          <a:xfrm>
            <a:off x="10715625" y="3048000"/>
            <a:ext cx="349250" cy="127000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016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IG_T_lg_cga_tag"/>
          <p:cNvSpPr txBox="1"/>
          <p:nvPr/>
        </p:nvSpPr>
        <p:spPr>
          <a:xfrm>
            <a:off x="10715625" y="3055937"/>
            <a:ext cx="349250" cy="1111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2550D8"/>
                </a:solidFill>
                <a:latin typeface="PingFang SC"/>
              </a:rPr>
              <a:t>CGAFusion</a:t>
            </a:r>
          </a:p>
        </p:txBody>
      </p:sp>
      <p:sp>
        <p:nvSpPr>
          <p:cNvPr id="195" name="FIG_T_lg_cga"/>
          <p:cNvSpPr txBox="1"/>
          <p:nvPr/>
        </p:nvSpPr>
        <p:spPr>
          <a:xfrm>
            <a:off x="11017250" y="3024187"/>
            <a:ext cx="1079500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高低频自适应融合</a:t>
            </a:r>
          </a:p>
        </p:txBody>
      </p:sp>
      <p:cxnSp>
        <p:nvCxnSpPr>
          <p:cNvPr id="196" name="FIG_LD_lg_solid"/>
          <p:cNvCxnSpPr/>
          <p:nvPr/>
        </p:nvCxnSpPr>
        <p:spPr>
          <a:xfrm>
            <a:off x="10747375" y="3397250"/>
            <a:ext cx="238125" cy="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FIG_T_lg_solid"/>
          <p:cNvSpPr txBox="1"/>
          <p:nvPr/>
        </p:nvSpPr>
        <p:spPr>
          <a:xfrm>
            <a:off x="11017250" y="3309937"/>
            <a:ext cx="1079500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数据流向</a:t>
            </a:r>
          </a:p>
        </p:txBody>
      </p:sp>
      <p:cxnSp>
        <p:nvCxnSpPr>
          <p:cNvPr id="198" name="FIG_LD_lg_dash"/>
          <p:cNvCxnSpPr/>
          <p:nvPr/>
        </p:nvCxnSpPr>
        <p:spPr>
          <a:xfrm>
            <a:off x="10747375" y="3667125"/>
            <a:ext cx="238125" cy="0"/>
          </a:xfrm>
          <a:prstGeom prst="line">
            <a:avLst/>
          </a:prstGeom>
          <a:ln w="15240">
            <a:solidFill>
              <a:srgbClr val="282C3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FIG_T_lg_dash"/>
          <p:cNvSpPr txBox="1"/>
          <p:nvPr/>
        </p:nvSpPr>
        <p:spPr>
          <a:xfrm>
            <a:off x="11017250" y="3579812"/>
            <a:ext cx="1079500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跨层连接</a:t>
            </a:r>
          </a:p>
        </p:txBody>
      </p:sp>
      <p:cxnSp>
        <p:nvCxnSpPr>
          <p:cNvPr id="200" name="FIG_L_input_backbone"/>
          <p:cNvCxnSpPr/>
          <p:nvPr/>
        </p:nvCxnSpPr>
        <p:spPr>
          <a:xfrm>
            <a:off x="1682750" y="2349500"/>
            <a:ext cx="127000" cy="0"/>
          </a:xfrm>
          <a:prstGeom prst="line">
            <a:avLst/>
          </a:prstGeom>
          <a:ln w="50800">
            <a:solidFill>
              <a:srgbClr val="2550D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FIG_L_backbone_neck"/>
          <p:cNvCxnSpPr/>
          <p:nvPr/>
        </p:nvCxnSpPr>
        <p:spPr>
          <a:xfrm>
            <a:off x="3857625" y="2349500"/>
            <a:ext cx="95250" cy="0"/>
          </a:xfrm>
          <a:prstGeom prst="line">
            <a:avLst/>
          </a:prstGeom>
          <a:ln w="50800">
            <a:solidFill>
              <a:srgbClr val="2550D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FIG_L_neck_head"/>
          <p:cNvCxnSpPr/>
          <p:nvPr/>
        </p:nvCxnSpPr>
        <p:spPr>
          <a:xfrm>
            <a:off x="8509000" y="2349500"/>
            <a:ext cx="111125" cy="0"/>
          </a:xfrm>
          <a:prstGeom prst="line">
            <a:avLst/>
          </a:prstGeom>
          <a:ln w="50800">
            <a:solidFill>
              <a:srgbClr val="2550D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FIG_T_m1_title"/>
          <p:cNvSpPr txBox="1"/>
          <p:nvPr/>
        </p:nvSpPr>
        <p:spPr>
          <a:xfrm>
            <a:off x="95250" y="4492625"/>
            <a:ext cx="37623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  <a:latin typeface="PingFang SC"/>
              </a:rPr>
              <a:t>模块一：CSP-MEEM（多尺度细粒度特征提取）</a:t>
            </a:r>
          </a:p>
        </p:txBody>
      </p:sp>
      <p:sp>
        <p:nvSpPr>
          <p:cNvPr id="204" name="FIG_T_m1_in"/>
          <p:cNvSpPr txBox="1"/>
          <p:nvPr/>
        </p:nvSpPr>
        <p:spPr>
          <a:xfrm>
            <a:off x="476250" y="4730750"/>
            <a:ext cx="95250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  <a:latin typeface="PingFang SC"/>
              </a:rPr>
              <a:t>输入图像</a:t>
            </a:r>
          </a:p>
        </p:txBody>
      </p:sp>
      <p:sp>
        <p:nvSpPr>
          <p:cNvPr id="205" name="FIG_E_m1_csp"/>
          <p:cNvSpPr/>
          <p:nvPr/>
        </p:nvSpPr>
        <p:spPr>
          <a:xfrm>
            <a:off x="666750" y="4937125"/>
            <a:ext cx="571500" cy="238125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143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IG_T_m1_csp"/>
          <p:cNvSpPr txBox="1"/>
          <p:nvPr/>
        </p:nvSpPr>
        <p:spPr>
          <a:xfrm>
            <a:off x="666750" y="4968875"/>
            <a:ext cx="571500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  <a:latin typeface="PingFang SC"/>
              </a:rPr>
              <a:t>CSP 分割</a:t>
            </a:r>
          </a:p>
        </p:txBody>
      </p:sp>
      <p:sp>
        <p:nvSpPr>
          <p:cNvPr id="207" name="FIG_E_m1_b0"/>
          <p:cNvSpPr/>
          <p:nvPr/>
        </p:nvSpPr>
        <p:spPr>
          <a:xfrm>
            <a:off x="222250" y="5349875"/>
            <a:ext cx="412750" cy="206375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016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IG_T_m1_b0"/>
          <p:cNvSpPr txBox="1"/>
          <p:nvPr/>
        </p:nvSpPr>
        <p:spPr>
          <a:xfrm>
            <a:off x="222250" y="5373687"/>
            <a:ext cx="41275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282C3C"/>
                </a:solidFill>
                <a:latin typeface="PingFang SC"/>
              </a:rPr>
              <a:t>分支1</a:t>
            </a:r>
          </a:p>
        </p:txBody>
      </p:sp>
      <p:sp>
        <p:nvSpPr>
          <p:cNvPr id="209" name="FIG_E_m1_b1"/>
          <p:cNvSpPr/>
          <p:nvPr/>
        </p:nvSpPr>
        <p:spPr>
          <a:xfrm>
            <a:off x="746125" y="5349875"/>
            <a:ext cx="412750" cy="206375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016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IG_T_m1_b1"/>
          <p:cNvSpPr txBox="1"/>
          <p:nvPr/>
        </p:nvSpPr>
        <p:spPr>
          <a:xfrm>
            <a:off x="746125" y="5373687"/>
            <a:ext cx="41275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282C3C"/>
                </a:solidFill>
                <a:latin typeface="PingFang SC"/>
              </a:rPr>
              <a:t>分支2</a:t>
            </a:r>
          </a:p>
        </p:txBody>
      </p:sp>
      <p:sp>
        <p:nvSpPr>
          <p:cNvPr id="211" name="FIG_E_m1_b2"/>
          <p:cNvSpPr/>
          <p:nvPr/>
        </p:nvSpPr>
        <p:spPr>
          <a:xfrm>
            <a:off x="1270000" y="5349875"/>
            <a:ext cx="412750" cy="206375"/>
          </a:xfrm>
          <a:prstGeom prst="roundRect">
            <a:avLst>
              <a:gd name="adj" fmla="val 8000"/>
            </a:avLst>
          </a:prstGeom>
          <a:solidFill>
            <a:srgbClr val="F0F6FF"/>
          </a:solidFill>
          <a:ln w="1016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FIG_T_m1_b2"/>
          <p:cNvSpPr txBox="1"/>
          <p:nvPr/>
        </p:nvSpPr>
        <p:spPr>
          <a:xfrm>
            <a:off x="1270000" y="5373687"/>
            <a:ext cx="41275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282C3C"/>
                </a:solidFill>
                <a:latin typeface="PingFang SC"/>
              </a:rPr>
              <a:t>分支n</a:t>
            </a:r>
          </a:p>
        </p:txBody>
      </p:sp>
      <p:sp>
        <p:nvSpPr>
          <p:cNvPr id="213" name="FIG_T_m1_bdots"/>
          <p:cNvSpPr txBox="1"/>
          <p:nvPr/>
        </p:nvSpPr>
        <p:spPr>
          <a:xfrm>
            <a:off x="1238250" y="5373687"/>
            <a:ext cx="23812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787E8C"/>
                </a:solidFill>
                <a:latin typeface="PingFang SC"/>
              </a:rPr>
              <a:t>···</a:t>
            </a:r>
          </a:p>
        </p:txBody>
      </p:sp>
      <p:sp>
        <p:nvSpPr>
          <p:cNvPr id="214" name="FIG_E_m1_fuse"/>
          <p:cNvSpPr/>
          <p:nvPr/>
        </p:nvSpPr>
        <p:spPr>
          <a:xfrm>
            <a:off x="555625" y="5683250"/>
            <a:ext cx="793750" cy="206375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143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IG_T_m1_fuse"/>
          <p:cNvSpPr txBox="1"/>
          <p:nvPr/>
        </p:nvSpPr>
        <p:spPr>
          <a:xfrm>
            <a:off x="555625" y="5707062"/>
            <a:ext cx="79375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  <a:latin typeface="PingFang SC"/>
              </a:rPr>
              <a:t>融合</a:t>
            </a:r>
          </a:p>
        </p:txBody>
      </p:sp>
      <p:sp>
        <p:nvSpPr>
          <p:cNvPr id="216" name="FIG_E_m1_ema"/>
          <p:cNvSpPr/>
          <p:nvPr/>
        </p:nvSpPr>
        <p:spPr>
          <a:xfrm>
            <a:off x="492125" y="5984875"/>
            <a:ext cx="920750" cy="206375"/>
          </a:xfrm>
          <a:prstGeom prst="roundRect">
            <a:avLst>
              <a:gd name="adj" fmla="val 8000"/>
            </a:avLst>
          </a:prstGeom>
          <a:solidFill>
            <a:srgbClr val="FFF0E2"/>
          </a:solidFill>
          <a:ln w="11430">
            <a:solidFill>
              <a:srgbClr val="E28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IG_T_m1_ema"/>
          <p:cNvSpPr txBox="1"/>
          <p:nvPr/>
        </p:nvSpPr>
        <p:spPr>
          <a:xfrm>
            <a:off x="492125" y="6008687"/>
            <a:ext cx="92075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C8641E"/>
                </a:solidFill>
                <a:latin typeface="PingFang SC"/>
              </a:rPr>
              <a:t>EMA 注意力</a:t>
            </a:r>
          </a:p>
        </p:txBody>
      </p:sp>
      <p:sp>
        <p:nvSpPr>
          <p:cNvPr id="218" name="FIG_T_m1_out"/>
          <p:cNvSpPr txBox="1"/>
          <p:nvPr/>
        </p:nvSpPr>
        <p:spPr>
          <a:xfrm>
            <a:off x="476250" y="6270625"/>
            <a:ext cx="95250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  <a:latin typeface="PingFang SC"/>
              </a:rPr>
              <a:t>输出特征</a:t>
            </a:r>
          </a:p>
        </p:txBody>
      </p:sp>
      <p:cxnSp>
        <p:nvCxnSpPr>
          <p:cNvPr id="219" name="FIG_L_m1_f1"/>
          <p:cNvCxnSpPr/>
          <p:nvPr/>
        </p:nvCxnSpPr>
        <p:spPr>
          <a:xfrm>
            <a:off x="952500" y="4889500"/>
            <a:ext cx="0" cy="47625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FIG_L_m1_fan_out0"/>
          <p:cNvCxnSpPr/>
          <p:nvPr/>
        </p:nvCxnSpPr>
        <p:spPr>
          <a:xfrm flipH="1">
            <a:off x="428625" y="5175250"/>
            <a:ext cx="523875" cy="174625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FIG_L_m1_fan_in0"/>
          <p:cNvCxnSpPr/>
          <p:nvPr/>
        </p:nvCxnSpPr>
        <p:spPr>
          <a:xfrm>
            <a:off x="428625" y="5556250"/>
            <a:ext cx="523875" cy="127000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FIG_L_m1_fan_out1"/>
          <p:cNvCxnSpPr/>
          <p:nvPr/>
        </p:nvCxnSpPr>
        <p:spPr>
          <a:xfrm>
            <a:off x="952500" y="5175250"/>
            <a:ext cx="0" cy="174625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FIG_L_m1_fan_in1"/>
          <p:cNvCxnSpPr/>
          <p:nvPr/>
        </p:nvCxnSpPr>
        <p:spPr>
          <a:xfrm>
            <a:off x="952500" y="5556250"/>
            <a:ext cx="0" cy="127000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FIG_L_m1_fan_out2"/>
          <p:cNvCxnSpPr/>
          <p:nvPr/>
        </p:nvCxnSpPr>
        <p:spPr>
          <a:xfrm>
            <a:off x="952500" y="5175250"/>
            <a:ext cx="523875" cy="174625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FIG_L_m1_fan_in2"/>
          <p:cNvCxnSpPr/>
          <p:nvPr/>
        </p:nvCxnSpPr>
        <p:spPr>
          <a:xfrm flipH="1">
            <a:off x="952500" y="5556250"/>
            <a:ext cx="523875" cy="127000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FIG_L_m1_f4"/>
          <p:cNvCxnSpPr/>
          <p:nvPr/>
        </p:nvCxnSpPr>
        <p:spPr>
          <a:xfrm>
            <a:off x="952500" y="5889625"/>
            <a:ext cx="0" cy="95250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FIG_L_m1_f5"/>
          <p:cNvCxnSpPr/>
          <p:nvPr/>
        </p:nvCxnSpPr>
        <p:spPr>
          <a:xfrm>
            <a:off x="952500" y="6191250"/>
            <a:ext cx="0" cy="79375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FIG_T_m1_p0"/>
          <p:cNvSpPr txBox="1"/>
          <p:nvPr/>
        </p:nvSpPr>
        <p:spPr>
          <a:xfrm>
            <a:off x="1793875" y="4810125"/>
            <a:ext cx="1952625" cy="444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  <a:latin typeface="PingFang SC"/>
              </a:rPr>
              <a:t>•  多尺度并行感知，捕获不同大小的缺陷信息</a:t>
            </a:r>
          </a:p>
        </p:txBody>
      </p:sp>
      <p:sp>
        <p:nvSpPr>
          <p:cNvPr id="229" name="FIG_T_m1_p1"/>
          <p:cNvSpPr txBox="1"/>
          <p:nvPr/>
        </p:nvSpPr>
        <p:spPr>
          <a:xfrm>
            <a:off x="1793875" y="5334000"/>
            <a:ext cx="1952625" cy="444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  <a:latin typeface="PingFang SC"/>
              </a:rPr>
              <a:t>•  增强细节特征表达，保留边缘和纹理</a:t>
            </a:r>
          </a:p>
        </p:txBody>
      </p:sp>
      <p:sp>
        <p:nvSpPr>
          <p:cNvPr id="230" name="FIG_T_m1_p2"/>
          <p:cNvSpPr txBox="1"/>
          <p:nvPr/>
        </p:nvSpPr>
        <p:spPr>
          <a:xfrm>
            <a:off x="1793875" y="5857875"/>
            <a:ext cx="1952625" cy="444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  <a:latin typeface="PingFang SC"/>
              </a:rPr>
              <a:t>•  EMA 注意力增强关键特征，抑制冗余信息</a:t>
            </a:r>
          </a:p>
        </p:txBody>
      </p:sp>
      <p:sp>
        <p:nvSpPr>
          <p:cNvPr id="231" name="FIG_T_m2_title"/>
          <p:cNvSpPr txBox="1"/>
          <p:nvPr/>
        </p:nvSpPr>
        <p:spPr>
          <a:xfrm>
            <a:off x="3952875" y="4492625"/>
            <a:ext cx="3238500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E03A26"/>
                </a:solidFill>
                <a:latin typeface="PingFang SC"/>
              </a:rPr>
              <a:t>模块二：LOSC（方向性下采样建模）</a:t>
            </a:r>
          </a:p>
        </p:txBody>
      </p:sp>
      <p:sp>
        <p:nvSpPr>
          <p:cNvPr id="232" name="FIG_T_m2_in"/>
          <p:cNvSpPr txBox="1"/>
          <p:nvPr/>
        </p:nvSpPr>
        <p:spPr>
          <a:xfrm>
            <a:off x="4127500" y="4714875"/>
            <a:ext cx="952500" cy="1428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  <a:latin typeface="PingFang SC"/>
              </a:rPr>
              <a:t>输入特征</a:t>
            </a:r>
          </a:p>
        </p:txBody>
      </p:sp>
      <p:sp>
        <p:nvSpPr>
          <p:cNvPr id="233" name="FIG_G_m2_in_bg"/>
          <p:cNvSpPr/>
          <p:nvPr/>
        </p:nvSpPr>
        <p:spPr>
          <a:xfrm>
            <a:off x="4286250" y="4873625"/>
            <a:ext cx="603250" cy="444500"/>
          </a:xfrm>
          <a:prstGeom prst="rect">
            <a:avLst/>
          </a:prstGeom>
          <a:solidFill>
            <a:srgbClr val="D6E4FC"/>
          </a:solidFill>
          <a:ln w="9525">
            <a:solidFill>
              <a:srgbClr val="789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FIG_G_m2_in_v1"/>
          <p:cNvCxnSpPr/>
          <p:nvPr/>
        </p:nvCxnSpPr>
        <p:spPr>
          <a:xfrm>
            <a:off x="4437062" y="4873625"/>
            <a:ext cx="0" cy="4445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FIG_G_m2_in_v2"/>
          <p:cNvCxnSpPr/>
          <p:nvPr/>
        </p:nvCxnSpPr>
        <p:spPr>
          <a:xfrm>
            <a:off x="4587875" y="4873625"/>
            <a:ext cx="0" cy="4445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FIG_G_m2_in_v3"/>
          <p:cNvCxnSpPr/>
          <p:nvPr/>
        </p:nvCxnSpPr>
        <p:spPr>
          <a:xfrm>
            <a:off x="4738687" y="4873625"/>
            <a:ext cx="0" cy="4445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FIG_G_m2_in_h1"/>
          <p:cNvCxnSpPr/>
          <p:nvPr/>
        </p:nvCxnSpPr>
        <p:spPr>
          <a:xfrm>
            <a:off x="4286250" y="5021791"/>
            <a:ext cx="603250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FIG_G_m2_in_h2"/>
          <p:cNvCxnSpPr/>
          <p:nvPr/>
        </p:nvCxnSpPr>
        <p:spPr>
          <a:xfrm>
            <a:off x="4286250" y="5169958"/>
            <a:ext cx="603250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FIG_E_m2_down"/>
          <p:cNvSpPr/>
          <p:nvPr/>
        </p:nvSpPr>
        <p:spPr>
          <a:xfrm>
            <a:off x="4468812" y="5484812"/>
            <a:ext cx="238125" cy="238125"/>
          </a:xfrm>
          <a:prstGeom prst="ellipse">
            <a:avLst/>
          </a:prstGeom>
          <a:solidFill>
            <a:srgbClr val="FAD6AA"/>
          </a:solidFill>
          <a:ln w="12700">
            <a:solidFill>
              <a:srgbClr val="CE7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FIG_E_m2_down_text"/>
          <p:cNvSpPr txBox="1"/>
          <p:nvPr/>
        </p:nvSpPr>
        <p:spPr>
          <a:xfrm>
            <a:off x="4468812" y="5484812"/>
            <a:ext cx="2381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964A0C"/>
                </a:solidFill>
                <a:latin typeface="PingFang SC"/>
              </a:rPr>
              <a:t>Down
↓</a:t>
            </a:r>
          </a:p>
        </p:txBody>
      </p:sp>
      <p:sp>
        <p:nvSpPr>
          <p:cNvPr id="241" name="FIG_G_m2_out_bg"/>
          <p:cNvSpPr/>
          <p:nvPr/>
        </p:nvSpPr>
        <p:spPr>
          <a:xfrm>
            <a:off x="4381500" y="5937250"/>
            <a:ext cx="412750" cy="317500"/>
          </a:xfrm>
          <a:prstGeom prst="rect">
            <a:avLst/>
          </a:prstGeom>
          <a:solidFill>
            <a:srgbClr val="D6E4FC"/>
          </a:solidFill>
          <a:ln w="9525">
            <a:solidFill>
              <a:srgbClr val="789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2" name="FIG_G_m2_out_v1"/>
          <p:cNvCxnSpPr/>
          <p:nvPr/>
        </p:nvCxnSpPr>
        <p:spPr>
          <a:xfrm>
            <a:off x="4519083" y="5937250"/>
            <a:ext cx="0" cy="3175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FIG_G_m2_out_v2"/>
          <p:cNvCxnSpPr/>
          <p:nvPr/>
        </p:nvCxnSpPr>
        <p:spPr>
          <a:xfrm>
            <a:off x="4656666" y="5937250"/>
            <a:ext cx="0" cy="3175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FIG_G_m2_out_h1"/>
          <p:cNvCxnSpPr/>
          <p:nvPr/>
        </p:nvCxnSpPr>
        <p:spPr>
          <a:xfrm>
            <a:off x="4381500" y="6096000"/>
            <a:ext cx="412750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FIG_T_m2_out"/>
          <p:cNvSpPr txBox="1"/>
          <p:nvPr/>
        </p:nvSpPr>
        <p:spPr>
          <a:xfrm>
            <a:off x="4127500" y="6302375"/>
            <a:ext cx="952500" cy="1428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  <a:latin typeface="PingFang SC"/>
              </a:rPr>
              <a:t>输出特征</a:t>
            </a:r>
          </a:p>
        </p:txBody>
      </p:sp>
      <p:cxnSp>
        <p:nvCxnSpPr>
          <p:cNvPr id="246" name="FIG_L_m2_f1"/>
          <p:cNvCxnSpPr/>
          <p:nvPr/>
        </p:nvCxnSpPr>
        <p:spPr>
          <a:xfrm>
            <a:off x="4587875" y="5318125"/>
            <a:ext cx="0" cy="158750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FIG_L_m2_f2"/>
          <p:cNvCxnSpPr/>
          <p:nvPr/>
        </p:nvCxnSpPr>
        <p:spPr>
          <a:xfrm>
            <a:off x="4587875" y="5730875"/>
            <a:ext cx="0" cy="206375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FIG_T_m2_p0"/>
          <p:cNvSpPr txBox="1"/>
          <p:nvPr/>
        </p:nvSpPr>
        <p:spPr>
          <a:xfrm>
            <a:off x="5238750" y="4762500"/>
            <a:ext cx="1873250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  <a:latin typeface="PingFang SC"/>
              </a:rPr>
              <a:t>•  引入方向性卷积核</a:t>
            </a:r>
          </a:p>
        </p:txBody>
      </p:sp>
      <p:sp>
        <p:nvSpPr>
          <p:cNvPr id="249" name="FIG_T_m2_p1"/>
          <p:cNvSpPr txBox="1"/>
          <p:nvPr/>
        </p:nvSpPr>
        <p:spPr>
          <a:xfrm>
            <a:off x="5238750" y="5175250"/>
            <a:ext cx="1873250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  <a:latin typeface="PingFang SC"/>
              </a:rPr>
              <a:t>•  沿关键方向提取特征</a:t>
            </a:r>
          </a:p>
        </p:txBody>
      </p:sp>
      <p:sp>
        <p:nvSpPr>
          <p:cNvPr id="250" name="FIG_T_m2_p2"/>
          <p:cNvSpPr txBox="1"/>
          <p:nvPr/>
        </p:nvSpPr>
        <p:spPr>
          <a:xfrm>
            <a:off x="5238750" y="5588000"/>
            <a:ext cx="1873250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  <a:latin typeface="PingFang SC"/>
              </a:rPr>
              <a:t>•  抑制无关干扰，保留方向信息</a:t>
            </a:r>
          </a:p>
        </p:txBody>
      </p:sp>
      <p:sp>
        <p:nvSpPr>
          <p:cNvPr id="251" name="FIG_T_m2_p3"/>
          <p:cNvSpPr txBox="1"/>
          <p:nvPr/>
        </p:nvSpPr>
        <p:spPr>
          <a:xfrm>
            <a:off x="5238750" y="6000750"/>
            <a:ext cx="1873250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  <a:latin typeface="PingFang SC"/>
              </a:rPr>
              <a:t>•  增强对工业表面纹理与缺陷形态的建模能力</a:t>
            </a:r>
          </a:p>
        </p:txBody>
      </p:sp>
      <p:sp>
        <p:nvSpPr>
          <p:cNvPr id="252" name="FIG_T_m3_title"/>
          <p:cNvSpPr txBox="1"/>
          <p:nvPr/>
        </p:nvSpPr>
        <p:spPr>
          <a:xfrm>
            <a:off x="7270750" y="4492625"/>
            <a:ext cx="48418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  <a:latin typeface="PingFang SC"/>
              </a:rPr>
              <a:t>模块三：CGAFusion（高低频自适应融合）</a:t>
            </a:r>
          </a:p>
        </p:txBody>
      </p:sp>
      <p:sp>
        <p:nvSpPr>
          <p:cNvPr id="253" name="FIG_T_m3_fh"/>
          <p:cNvSpPr txBox="1"/>
          <p:nvPr/>
        </p:nvSpPr>
        <p:spPr>
          <a:xfrm>
            <a:off x="7381875" y="4746625"/>
            <a:ext cx="1031875" cy="1428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输入特征 Fh（高频）</a:t>
            </a:r>
          </a:p>
        </p:txBody>
      </p:sp>
      <p:sp>
        <p:nvSpPr>
          <p:cNvPr id="254" name="FIG_G_m3_fh_bg"/>
          <p:cNvSpPr/>
          <p:nvPr/>
        </p:nvSpPr>
        <p:spPr>
          <a:xfrm>
            <a:off x="7508875" y="4905375"/>
            <a:ext cx="508000" cy="365125"/>
          </a:xfrm>
          <a:prstGeom prst="rect">
            <a:avLst/>
          </a:prstGeom>
          <a:solidFill>
            <a:srgbClr val="D6E4FC"/>
          </a:solidFill>
          <a:ln w="9525">
            <a:solidFill>
              <a:srgbClr val="789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FIG_G_m3_fh_v1"/>
          <p:cNvCxnSpPr/>
          <p:nvPr/>
        </p:nvCxnSpPr>
        <p:spPr>
          <a:xfrm>
            <a:off x="7635875" y="4905375"/>
            <a:ext cx="0" cy="365125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FIG_G_m3_fh_v2"/>
          <p:cNvCxnSpPr/>
          <p:nvPr/>
        </p:nvCxnSpPr>
        <p:spPr>
          <a:xfrm>
            <a:off x="7762875" y="4905375"/>
            <a:ext cx="0" cy="365125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FIG_G_m3_fh_v3"/>
          <p:cNvCxnSpPr/>
          <p:nvPr/>
        </p:nvCxnSpPr>
        <p:spPr>
          <a:xfrm>
            <a:off x="7889875" y="4905375"/>
            <a:ext cx="0" cy="365125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FIG_G_m3_fh_h1"/>
          <p:cNvCxnSpPr/>
          <p:nvPr/>
        </p:nvCxnSpPr>
        <p:spPr>
          <a:xfrm>
            <a:off x="7508875" y="5027083"/>
            <a:ext cx="508000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FIG_G_m3_fh_h2"/>
          <p:cNvCxnSpPr/>
          <p:nvPr/>
        </p:nvCxnSpPr>
        <p:spPr>
          <a:xfrm>
            <a:off x="7508875" y="5148791"/>
            <a:ext cx="508000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FIG_E_m3_high"/>
          <p:cNvSpPr/>
          <p:nvPr/>
        </p:nvSpPr>
        <p:spPr>
          <a:xfrm>
            <a:off x="8302625" y="4921250"/>
            <a:ext cx="762000" cy="317500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1430">
            <a:solidFill>
              <a:srgbClr val="255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IG_T_m3_high"/>
          <p:cNvSpPr txBox="1"/>
          <p:nvPr/>
        </p:nvSpPr>
        <p:spPr>
          <a:xfrm>
            <a:off x="8302625" y="4953000"/>
            <a:ext cx="762000" cy="254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2550D8"/>
                </a:solidFill>
                <a:latin typeface="PingFang SC"/>
              </a:rPr>
              <a:t>高频分支
（细节信息）</a:t>
            </a:r>
          </a:p>
        </p:txBody>
      </p:sp>
      <p:sp>
        <p:nvSpPr>
          <p:cNvPr id="262" name="FIG_T_m3_fl"/>
          <p:cNvSpPr txBox="1"/>
          <p:nvPr/>
        </p:nvSpPr>
        <p:spPr>
          <a:xfrm>
            <a:off x="7381875" y="5413375"/>
            <a:ext cx="1031875" cy="1428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282C3C"/>
                </a:solidFill>
                <a:latin typeface="PingFang SC"/>
              </a:rPr>
              <a:t>输入特征 Fl（低频）</a:t>
            </a:r>
          </a:p>
        </p:txBody>
      </p:sp>
      <p:sp>
        <p:nvSpPr>
          <p:cNvPr id="263" name="FIG_G_m3_fl_bg"/>
          <p:cNvSpPr/>
          <p:nvPr/>
        </p:nvSpPr>
        <p:spPr>
          <a:xfrm>
            <a:off x="7508875" y="5572125"/>
            <a:ext cx="508000" cy="365125"/>
          </a:xfrm>
          <a:prstGeom prst="rect">
            <a:avLst/>
          </a:prstGeom>
          <a:solidFill>
            <a:srgbClr val="E0F2D8"/>
          </a:solidFill>
          <a:ln w="9525">
            <a:solidFill>
              <a:srgbClr val="70B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4" name="FIG_G_m3_fl_v1"/>
          <p:cNvCxnSpPr/>
          <p:nvPr/>
        </p:nvCxnSpPr>
        <p:spPr>
          <a:xfrm>
            <a:off x="7635875" y="5572125"/>
            <a:ext cx="0" cy="365125"/>
          </a:xfrm>
          <a:prstGeom prst="line">
            <a:avLst/>
          </a:prstGeom>
          <a:ln w="6350">
            <a:solidFill>
              <a:srgbClr val="70B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FIG_G_m3_fl_v2"/>
          <p:cNvCxnSpPr/>
          <p:nvPr/>
        </p:nvCxnSpPr>
        <p:spPr>
          <a:xfrm>
            <a:off x="7762875" y="5572125"/>
            <a:ext cx="0" cy="365125"/>
          </a:xfrm>
          <a:prstGeom prst="line">
            <a:avLst/>
          </a:prstGeom>
          <a:ln w="6350">
            <a:solidFill>
              <a:srgbClr val="70B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FIG_G_m3_fl_v3"/>
          <p:cNvCxnSpPr/>
          <p:nvPr/>
        </p:nvCxnSpPr>
        <p:spPr>
          <a:xfrm>
            <a:off x="7889875" y="5572125"/>
            <a:ext cx="0" cy="365125"/>
          </a:xfrm>
          <a:prstGeom prst="line">
            <a:avLst/>
          </a:prstGeom>
          <a:ln w="6350">
            <a:solidFill>
              <a:srgbClr val="70B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FIG_G_m3_fl_h1"/>
          <p:cNvCxnSpPr/>
          <p:nvPr/>
        </p:nvCxnSpPr>
        <p:spPr>
          <a:xfrm>
            <a:off x="7508875" y="5693833"/>
            <a:ext cx="508000" cy="0"/>
          </a:xfrm>
          <a:prstGeom prst="line">
            <a:avLst/>
          </a:prstGeom>
          <a:ln w="6350">
            <a:solidFill>
              <a:srgbClr val="70B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FIG_G_m3_fl_h2"/>
          <p:cNvCxnSpPr/>
          <p:nvPr/>
        </p:nvCxnSpPr>
        <p:spPr>
          <a:xfrm>
            <a:off x="7508875" y="5815541"/>
            <a:ext cx="508000" cy="0"/>
          </a:xfrm>
          <a:prstGeom prst="line">
            <a:avLst/>
          </a:prstGeom>
          <a:ln w="6350">
            <a:solidFill>
              <a:srgbClr val="70B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FIG_E_m3_low"/>
          <p:cNvSpPr/>
          <p:nvPr/>
        </p:nvSpPr>
        <p:spPr>
          <a:xfrm>
            <a:off x="8302625" y="5588000"/>
            <a:ext cx="762000" cy="317500"/>
          </a:xfrm>
          <a:prstGeom prst="roundRect">
            <a:avLst>
              <a:gd name="adj" fmla="val 8000"/>
            </a:avLst>
          </a:prstGeom>
          <a:solidFill>
            <a:srgbClr val="EBF8EE"/>
          </a:solidFill>
          <a:ln w="11430">
            <a:solidFill>
              <a:srgbClr val="1C9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FIG_T_m3_low"/>
          <p:cNvSpPr txBox="1"/>
          <p:nvPr/>
        </p:nvSpPr>
        <p:spPr>
          <a:xfrm>
            <a:off x="8302625" y="5619750"/>
            <a:ext cx="762000" cy="254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1C9454"/>
                </a:solidFill>
                <a:latin typeface="PingFang SC"/>
              </a:rPr>
              <a:t>低频分支
（结构信息）</a:t>
            </a:r>
          </a:p>
        </p:txBody>
      </p:sp>
      <p:sp>
        <p:nvSpPr>
          <p:cNvPr id="271" name="FIG_E_m3_add"/>
          <p:cNvSpPr/>
          <p:nvPr/>
        </p:nvSpPr>
        <p:spPr>
          <a:xfrm>
            <a:off x="9334500" y="5302250"/>
            <a:ext cx="222250" cy="222250"/>
          </a:xfrm>
          <a:prstGeom prst="ellipse">
            <a:avLst/>
          </a:prstGeom>
          <a:solidFill>
            <a:srgbClr val="343A4E"/>
          </a:solidFill>
          <a:ln w="12700">
            <a:solidFill>
              <a:srgbClr val="1E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IG_E_m3_add_text"/>
          <p:cNvSpPr txBox="1"/>
          <p:nvPr/>
        </p:nvSpPr>
        <p:spPr>
          <a:xfrm>
            <a:off x="9334500" y="5302250"/>
            <a:ext cx="222250" cy="222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ingFang SC"/>
              </a:rPr>
              <a:t>+</a:t>
            </a:r>
          </a:p>
        </p:txBody>
      </p:sp>
      <p:sp>
        <p:nvSpPr>
          <p:cNvPr id="273" name="FIG_G_m3_out_bg"/>
          <p:cNvSpPr/>
          <p:nvPr/>
        </p:nvSpPr>
        <p:spPr>
          <a:xfrm>
            <a:off x="9255125" y="5794375"/>
            <a:ext cx="412750" cy="317500"/>
          </a:xfrm>
          <a:prstGeom prst="rect">
            <a:avLst/>
          </a:prstGeom>
          <a:solidFill>
            <a:srgbClr val="D6E4FC"/>
          </a:solidFill>
          <a:ln w="9525">
            <a:solidFill>
              <a:srgbClr val="789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4" name="FIG_G_m3_out_v1"/>
          <p:cNvCxnSpPr/>
          <p:nvPr/>
        </p:nvCxnSpPr>
        <p:spPr>
          <a:xfrm>
            <a:off x="9392708" y="5794375"/>
            <a:ext cx="0" cy="3175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FIG_G_m3_out_v2"/>
          <p:cNvCxnSpPr/>
          <p:nvPr/>
        </p:nvCxnSpPr>
        <p:spPr>
          <a:xfrm>
            <a:off x="9530291" y="5794375"/>
            <a:ext cx="0" cy="31750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FIG_G_m3_out_h1"/>
          <p:cNvCxnSpPr/>
          <p:nvPr/>
        </p:nvCxnSpPr>
        <p:spPr>
          <a:xfrm>
            <a:off x="9255125" y="5953125"/>
            <a:ext cx="412750" cy="0"/>
          </a:xfrm>
          <a:prstGeom prst="line">
            <a:avLst/>
          </a:prstGeom>
          <a:ln w="6350">
            <a:solidFill>
              <a:srgbClr val="789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FIG_T_m3_out"/>
          <p:cNvSpPr txBox="1"/>
          <p:nvPr/>
        </p:nvSpPr>
        <p:spPr>
          <a:xfrm>
            <a:off x="9048750" y="6159500"/>
            <a:ext cx="873125" cy="1428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  <a:latin typeface="PingFang SC"/>
              </a:rPr>
              <a:t>输出特征</a:t>
            </a:r>
          </a:p>
        </p:txBody>
      </p:sp>
      <p:cxnSp>
        <p:nvCxnSpPr>
          <p:cNvPr id="278" name="FIG_L_m3_in_high"/>
          <p:cNvCxnSpPr/>
          <p:nvPr/>
        </p:nvCxnSpPr>
        <p:spPr>
          <a:xfrm>
            <a:off x="8016875" y="5080000"/>
            <a:ext cx="285750" cy="0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FIG_L_m3_in_low"/>
          <p:cNvCxnSpPr/>
          <p:nvPr/>
        </p:nvCxnSpPr>
        <p:spPr>
          <a:xfrm>
            <a:off x="8016875" y="5746750"/>
            <a:ext cx="285750" cy="0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FIG_L_m3_f1_1"/>
          <p:cNvCxnSpPr/>
          <p:nvPr/>
        </p:nvCxnSpPr>
        <p:spPr>
          <a:xfrm>
            <a:off x="9064625" y="5080000"/>
            <a:ext cx="269875" cy="0"/>
          </a:xfrm>
          <a:prstGeom prst="line">
            <a:avLst/>
          </a:prstGeom>
          <a:ln w="1270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FIG_L_m3_f1_2"/>
          <p:cNvCxnSpPr/>
          <p:nvPr/>
        </p:nvCxnSpPr>
        <p:spPr>
          <a:xfrm>
            <a:off x="9334500" y="5080000"/>
            <a:ext cx="0" cy="254000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FIG_L_m3_f2"/>
          <p:cNvCxnSpPr/>
          <p:nvPr/>
        </p:nvCxnSpPr>
        <p:spPr>
          <a:xfrm flipV="1">
            <a:off x="9064625" y="5476875"/>
            <a:ext cx="269875" cy="269875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FIG_L_m3_f3"/>
          <p:cNvCxnSpPr/>
          <p:nvPr/>
        </p:nvCxnSpPr>
        <p:spPr>
          <a:xfrm>
            <a:off x="9445625" y="5524500"/>
            <a:ext cx="0" cy="269875"/>
          </a:xfrm>
          <a:prstGeom prst="line">
            <a:avLst/>
          </a:prstGeom>
          <a:ln w="1270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FIG_T_m3_p0"/>
          <p:cNvSpPr txBox="1"/>
          <p:nvPr/>
        </p:nvSpPr>
        <p:spPr>
          <a:xfrm>
            <a:off x="10064750" y="4762500"/>
            <a:ext cx="1984375" cy="3492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  <a:latin typeface="PingFang SC"/>
              </a:rPr>
              <a:t>•  分离高频细节与低频结构信息</a:t>
            </a:r>
          </a:p>
        </p:txBody>
      </p:sp>
      <p:sp>
        <p:nvSpPr>
          <p:cNvPr id="285" name="FIG_T_m3_p1"/>
          <p:cNvSpPr txBox="1"/>
          <p:nvPr/>
        </p:nvSpPr>
        <p:spPr>
          <a:xfrm>
            <a:off x="10064750" y="5175250"/>
            <a:ext cx="1984375" cy="3492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  <a:latin typeface="PingFang SC"/>
              </a:rPr>
              <a:t>•  空间联合注意力自适应融合</a:t>
            </a:r>
          </a:p>
        </p:txBody>
      </p:sp>
      <p:sp>
        <p:nvSpPr>
          <p:cNvPr id="286" name="FIG_T_m3_p2"/>
          <p:cNvSpPr txBox="1"/>
          <p:nvPr/>
        </p:nvSpPr>
        <p:spPr>
          <a:xfrm>
            <a:off x="10064750" y="5588000"/>
            <a:ext cx="1984375" cy="3492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  <a:latin typeface="PingFang SC"/>
              </a:rPr>
              <a:t>•  突出关键细节，抑制噪声干扰</a:t>
            </a:r>
          </a:p>
        </p:txBody>
      </p:sp>
      <p:sp>
        <p:nvSpPr>
          <p:cNvPr id="287" name="FIG_T_m3_p3"/>
          <p:cNvSpPr txBox="1"/>
          <p:nvPr/>
        </p:nvSpPr>
        <p:spPr>
          <a:xfrm>
            <a:off x="10064750" y="6000750"/>
            <a:ext cx="1984375" cy="3492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  <a:latin typeface="PingFang SC"/>
              </a:rPr>
              <a:t>•  提升特征表达与泛化能力</a:t>
            </a:r>
          </a:p>
        </p:txBody>
      </p:sp>
      <p:sp>
        <p:nvSpPr>
          <p:cNvPr id="288" name="FIG_T_b1_title"/>
          <p:cNvSpPr txBox="1"/>
          <p:nvPr/>
        </p:nvSpPr>
        <p:spPr>
          <a:xfrm>
            <a:off x="95250" y="6826250"/>
            <a:ext cx="25558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  <a:latin typeface="PingFang SC"/>
              </a:rPr>
              <a:t>输出多尺度特征金字塔</a:t>
            </a:r>
          </a:p>
        </p:txBody>
      </p:sp>
      <p:sp>
        <p:nvSpPr>
          <p:cNvPr id="289" name="FIG_E_out_p3_top"/>
          <p:cNvSpPr/>
          <p:nvPr/>
        </p:nvSpPr>
        <p:spPr>
          <a:xfrm>
            <a:off x="368300" y="7112000"/>
            <a:ext cx="508000" cy="63500"/>
          </a:xfrm>
          <a:custGeom>
            <a:avLst/>
            <a:gdLst/>
            <a:ahLst/>
            <a:cxnLst/>
            <a:rect l="l" t="t" r="r" b="b"/>
            <a:pathLst>
              <a:path w="40" h="5">
                <a:moveTo>
                  <a:pt x="0" y="5"/>
                </a:moveTo>
                <a:lnTo>
                  <a:pt x="5" y="0"/>
                </a:lnTo>
                <a:lnTo>
                  <a:pt x="40" y="0"/>
                </a:lnTo>
                <a:lnTo>
                  <a:pt x="35" y="5"/>
                </a:lnTo>
                <a:close/>
              </a:path>
            </a:pathLst>
          </a:custGeom>
          <a:solidFill>
            <a:srgbClr val="FF965E"/>
          </a:soli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FIG_E_out_p3_front"/>
          <p:cNvSpPr/>
          <p:nvPr/>
        </p:nvSpPr>
        <p:spPr>
          <a:xfrm>
            <a:off x="368300" y="7175500"/>
            <a:ext cx="444500" cy="342900"/>
          </a:xfrm>
          <a:custGeom>
            <a:avLst/>
            <a:gdLst/>
            <a:ahLst/>
            <a:cxnLst/>
            <a:rect l="l" t="t" r="r" b="b"/>
            <a:pathLst>
              <a:path w="35" h="27">
                <a:moveTo>
                  <a:pt x="0" y="0"/>
                </a:moveTo>
                <a:lnTo>
                  <a:pt x="35" y="0"/>
                </a:lnTo>
                <a:lnTo>
                  <a:pt x="35" y="27"/>
                </a:lnTo>
                <a:lnTo>
                  <a:pt x="0" y="27"/>
                </a:lnTo>
                <a:close/>
              </a:path>
            </a:pathLst>
          </a:custGeom>
          <a:gradFill rotWithShape="1">
            <a:gsLst>
              <a:gs pos="0">
                <a:srgbClr val="FF8E56"/>
              </a:gs>
              <a:gs pos="100000">
                <a:srgbClr val="ED642C"/>
              </a:gs>
            </a:gsLst>
            <a:lin scaled="0" ang="16200000"/>
          </a:gra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FIG_E_out_p3_right"/>
          <p:cNvSpPr/>
          <p:nvPr/>
        </p:nvSpPr>
        <p:spPr>
          <a:xfrm>
            <a:off x="812800" y="7112000"/>
            <a:ext cx="63500" cy="406400"/>
          </a:xfrm>
          <a:custGeom>
            <a:avLst/>
            <a:gdLst/>
            <a:ahLst/>
            <a:cxnLst/>
            <a:rect l="l" t="t" r="r" b="b"/>
            <a:pathLst>
              <a:path w="5" h="32">
                <a:moveTo>
                  <a:pt x="0" y="5"/>
                </a:moveTo>
                <a:lnTo>
                  <a:pt x="5" y="0"/>
                </a:lnTo>
                <a:lnTo>
                  <a:pt x="5" y="28"/>
                </a:lnTo>
                <a:lnTo>
                  <a:pt x="0" y="32"/>
                </a:lnTo>
                <a:close/>
              </a:path>
            </a:pathLst>
          </a:custGeom>
          <a:solidFill>
            <a:srgbClr val="CF460E"/>
          </a:solidFill>
          <a:ln w="10160">
            <a:solidFill>
              <a:srgbClr val="B93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FIG_E_out_p3_label"/>
          <p:cNvSpPr txBox="1"/>
          <p:nvPr/>
        </p:nvSpPr>
        <p:spPr>
          <a:xfrm>
            <a:off x="269875" y="7635875"/>
            <a:ext cx="714375" cy="254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03A26"/>
                </a:solidFill>
                <a:latin typeface="PingFang SC"/>
              </a:rPr>
              <a:t>P3
（80×C）</a:t>
            </a:r>
          </a:p>
        </p:txBody>
      </p:sp>
      <p:sp>
        <p:nvSpPr>
          <p:cNvPr id="293" name="FIG_E_out_p4_top"/>
          <p:cNvSpPr/>
          <p:nvPr/>
        </p:nvSpPr>
        <p:spPr>
          <a:xfrm>
            <a:off x="1130300" y="7175500"/>
            <a:ext cx="419100" cy="63500"/>
          </a:xfrm>
          <a:custGeom>
            <a:avLst/>
            <a:gdLst/>
            <a:ahLst/>
            <a:cxnLst/>
            <a:rect l="l" t="t" r="r" b="b"/>
            <a:pathLst>
              <a:path w="33" h="5">
                <a:moveTo>
                  <a:pt x="0" y="5"/>
                </a:moveTo>
                <a:lnTo>
                  <a:pt x="5" y="0"/>
                </a:lnTo>
                <a:lnTo>
                  <a:pt x="33" y="0"/>
                </a:lnTo>
                <a:lnTo>
                  <a:pt x="29" y="5"/>
                </a:lnTo>
                <a:close/>
              </a:path>
            </a:pathLst>
          </a:custGeom>
          <a:solidFill>
            <a:srgbClr val="B1EAA4"/>
          </a:soli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FIG_E_out_p4_front"/>
          <p:cNvSpPr/>
          <p:nvPr/>
        </p:nvSpPr>
        <p:spPr>
          <a:xfrm>
            <a:off x="1130300" y="7239000"/>
            <a:ext cx="368300" cy="279400"/>
          </a:xfrm>
          <a:custGeom>
            <a:avLst/>
            <a:gdLst/>
            <a:ahLst/>
            <a:cxnLst/>
            <a:rect l="l" t="t" r="r" b="b"/>
            <a:pathLst>
              <a:path w="29" h="22">
                <a:moveTo>
                  <a:pt x="0" y="0"/>
                </a:moveTo>
                <a:lnTo>
                  <a:pt x="29" y="0"/>
                </a:lnTo>
                <a:lnTo>
                  <a:pt x="29" y="22"/>
                </a:lnTo>
                <a:lnTo>
                  <a:pt x="0" y="22"/>
                </a:lnTo>
                <a:close/>
              </a:path>
            </a:pathLst>
          </a:custGeom>
          <a:gradFill rotWithShape="1">
            <a:gsLst>
              <a:gs pos="0">
                <a:srgbClr val="A9E29C"/>
              </a:gs>
              <a:gs pos="100000">
                <a:srgbClr val="7FB872"/>
              </a:gs>
            </a:gsLst>
            <a:lin scaled="0" ang="16200000"/>
          </a:gra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FIG_E_out_p4_right"/>
          <p:cNvSpPr/>
          <p:nvPr/>
        </p:nvSpPr>
        <p:spPr>
          <a:xfrm>
            <a:off x="1498600" y="7175500"/>
            <a:ext cx="50800" cy="342900"/>
          </a:xfrm>
          <a:custGeom>
            <a:avLst/>
            <a:gdLst/>
            <a:ahLst/>
            <a:cxnLst/>
            <a:rect l="l" t="t" r="r" b="b"/>
            <a:pathLst>
              <a:path w="4" h="27">
                <a:moveTo>
                  <a:pt x="0" y="5"/>
                </a:moveTo>
                <a:lnTo>
                  <a:pt x="4" y="0"/>
                </a:lnTo>
                <a:lnTo>
                  <a:pt x="4" y="23"/>
                </a:lnTo>
                <a:lnTo>
                  <a:pt x="0" y="27"/>
                </a:lnTo>
                <a:close/>
              </a:path>
            </a:pathLst>
          </a:custGeom>
          <a:solidFill>
            <a:srgbClr val="619A54"/>
          </a:solidFill>
          <a:ln w="10160">
            <a:solidFill>
              <a:srgbClr val="4B8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FIG_E_out_p4_label"/>
          <p:cNvSpPr txBox="1"/>
          <p:nvPr/>
        </p:nvSpPr>
        <p:spPr>
          <a:xfrm>
            <a:off x="1031875" y="7635875"/>
            <a:ext cx="635000" cy="254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C9454"/>
                </a:solidFill>
                <a:latin typeface="PingFang SC"/>
              </a:rPr>
              <a:t>P4
（40×C）</a:t>
            </a:r>
          </a:p>
        </p:txBody>
      </p:sp>
      <p:sp>
        <p:nvSpPr>
          <p:cNvPr id="297" name="FIG_E_out_p5_top"/>
          <p:cNvSpPr/>
          <p:nvPr/>
        </p:nvSpPr>
        <p:spPr>
          <a:xfrm>
            <a:off x="1790700" y="7239000"/>
            <a:ext cx="368300" cy="63500"/>
          </a:xfrm>
          <a:custGeom>
            <a:avLst/>
            <a:gdLst/>
            <a:ahLst/>
            <a:cxnLst/>
            <a:rect l="l" t="t" r="r" b="b"/>
            <a:pathLst>
              <a:path w="29" h="5">
                <a:moveTo>
                  <a:pt x="0" y="5"/>
                </a:moveTo>
                <a:lnTo>
                  <a:pt x="5" y="0"/>
                </a:lnTo>
                <a:lnTo>
                  <a:pt x="29" y="0"/>
                </a:lnTo>
                <a:lnTo>
                  <a:pt x="24" y="5"/>
                </a:lnTo>
                <a:close/>
              </a:path>
            </a:pathLst>
          </a:custGeom>
          <a:solidFill>
            <a:srgbClr val="AED4FF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FIG_E_out_p5_front"/>
          <p:cNvSpPr/>
          <p:nvPr/>
        </p:nvSpPr>
        <p:spPr>
          <a:xfrm>
            <a:off x="1790700" y="7302500"/>
            <a:ext cx="304800" cy="215900"/>
          </a:xfrm>
          <a:custGeom>
            <a:avLst/>
            <a:gdLst/>
            <a:ahLst/>
            <a:cxnLst/>
            <a:rect l="l" t="t" r="r" b="b"/>
            <a:pathLst>
              <a:path w="24" h="17">
                <a:moveTo>
                  <a:pt x="0" y="0"/>
                </a:moveTo>
                <a:lnTo>
                  <a:pt x="24" y="0"/>
                </a:lnTo>
                <a:lnTo>
                  <a:pt x="24" y="17"/>
                </a:lnTo>
                <a:lnTo>
                  <a:pt x="0" y="17"/>
                </a:lnTo>
                <a:close/>
              </a:path>
            </a:pathLst>
          </a:custGeom>
          <a:gradFill rotWithShape="1">
            <a:gsLst>
              <a:gs pos="0">
                <a:srgbClr val="A6CCFF"/>
              </a:gs>
              <a:gs pos="100000">
                <a:srgbClr val="7CA2DC"/>
              </a:gs>
            </a:gsLst>
            <a:lin scaled="0" ang="16200000"/>
          </a:gra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FIG_E_out_p5_right"/>
          <p:cNvSpPr/>
          <p:nvPr/>
        </p:nvSpPr>
        <p:spPr>
          <a:xfrm>
            <a:off x="2095500" y="7239000"/>
            <a:ext cx="63500" cy="279400"/>
          </a:xfrm>
          <a:custGeom>
            <a:avLst/>
            <a:gdLst/>
            <a:ahLst/>
            <a:cxnLst/>
            <a:rect l="l" t="t" r="r" b="b"/>
            <a:pathLst>
              <a:path w="5" h="22">
                <a:moveTo>
                  <a:pt x="0" y="5"/>
                </a:moveTo>
                <a:lnTo>
                  <a:pt x="5" y="0"/>
                </a:lnTo>
                <a:lnTo>
                  <a:pt x="5" y="18"/>
                </a:lnTo>
                <a:lnTo>
                  <a:pt x="0" y="22"/>
                </a:lnTo>
                <a:close/>
              </a:path>
            </a:pathLst>
          </a:custGeom>
          <a:solidFill>
            <a:srgbClr val="5E84BE"/>
          </a:solidFill>
          <a:ln w="10160">
            <a:solidFill>
              <a:srgbClr val="48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FIG_E_out_p5_label"/>
          <p:cNvSpPr txBox="1"/>
          <p:nvPr/>
        </p:nvSpPr>
        <p:spPr>
          <a:xfrm>
            <a:off x="1698625" y="7635875"/>
            <a:ext cx="571500" cy="254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550D8"/>
                </a:solidFill>
                <a:latin typeface="PingFang SC"/>
              </a:rPr>
              <a:t>P5
（20×C）</a:t>
            </a:r>
          </a:p>
        </p:txBody>
      </p:sp>
      <p:sp>
        <p:nvSpPr>
          <p:cNvPr id="301" name="FIG_T_b2_title"/>
          <p:cNvSpPr txBox="1"/>
          <p:nvPr/>
        </p:nvSpPr>
        <p:spPr>
          <a:xfrm>
            <a:off x="2762250" y="6826250"/>
            <a:ext cx="430212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82C3C"/>
                </a:solidFill>
                <a:latin typeface="PingFang SC"/>
              </a:rPr>
              <a:t>输入到 RT-DETR Head</a:t>
            </a:r>
          </a:p>
        </p:txBody>
      </p:sp>
      <p:sp>
        <p:nvSpPr>
          <p:cNvPr id="302" name="FIG_T_b2_iou"/>
          <p:cNvSpPr txBox="1"/>
          <p:nvPr/>
        </p:nvSpPr>
        <p:spPr>
          <a:xfrm>
            <a:off x="3016250" y="7080250"/>
            <a:ext cx="1031875" cy="2698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282C3C"/>
                </a:solidFill>
                <a:latin typeface="PingFang SC"/>
              </a:rPr>
              <a:t>IoU-Aware
Query Selection</a:t>
            </a:r>
          </a:p>
        </p:txBody>
      </p:sp>
      <p:sp>
        <p:nvSpPr>
          <p:cNvPr id="303" name="FIG_E_b2_sq1_0"/>
          <p:cNvSpPr/>
          <p:nvPr/>
        </p:nvSpPr>
        <p:spPr>
          <a:xfrm>
            <a:off x="3063875" y="7413625"/>
            <a:ext cx="95250" cy="95250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FIG_E_b2_sq1_1"/>
          <p:cNvSpPr/>
          <p:nvPr/>
        </p:nvSpPr>
        <p:spPr>
          <a:xfrm>
            <a:off x="3198812" y="7413625"/>
            <a:ext cx="95250" cy="95250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FIG_E_b2_sq1_2"/>
          <p:cNvSpPr/>
          <p:nvPr/>
        </p:nvSpPr>
        <p:spPr>
          <a:xfrm>
            <a:off x="3333750" y="7413625"/>
            <a:ext cx="95250" cy="95250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FIG_E_b2_sq1_3"/>
          <p:cNvSpPr/>
          <p:nvPr/>
        </p:nvSpPr>
        <p:spPr>
          <a:xfrm>
            <a:off x="3468687" y="7413625"/>
            <a:ext cx="95250" cy="95250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FIG_E_b2_sq1_4"/>
          <p:cNvSpPr/>
          <p:nvPr/>
        </p:nvSpPr>
        <p:spPr>
          <a:xfrm>
            <a:off x="3603625" y="7413625"/>
            <a:ext cx="95250" cy="95250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FIG_E_b2_sq1_5"/>
          <p:cNvSpPr/>
          <p:nvPr/>
        </p:nvSpPr>
        <p:spPr>
          <a:xfrm>
            <a:off x="3738562" y="7413625"/>
            <a:ext cx="95250" cy="95250"/>
          </a:xfrm>
          <a:prstGeom prst="rect">
            <a:avLst/>
          </a:prstGeom>
          <a:solidFill>
            <a:srgbClr val="9678DC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FIG_E_b2_sq1_dots"/>
          <p:cNvSpPr txBox="1"/>
          <p:nvPr/>
        </p:nvSpPr>
        <p:spPr>
          <a:xfrm>
            <a:off x="3889375" y="7397750"/>
            <a:ext cx="238125" cy="127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787E8C"/>
                </a:solidFill>
                <a:latin typeface="PingFang SC"/>
              </a:rPr>
              <a:t>····</a:t>
            </a:r>
          </a:p>
        </p:txBody>
      </p:sp>
      <p:sp>
        <p:nvSpPr>
          <p:cNvPr id="310" name="FIG_T_b2_dec"/>
          <p:cNvSpPr txBox="1"/>
          <p:nvPr/>
        </p:nvSpPr>
        <p:spPr>
          <a:xfrm>
            <a:off x="4445000" y="6985000"/>
            <a:ext cx="1905000" cy="1428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282C3C"/>
                </a:solidFill>
                <a:latin typeface="PingFang SC"/>
              </a:rPr>
              <a:t>Transformer Decoder × 6 层</a:t>
            </a:r>
          </a:p>
        </p:txBody>
      </p:sp>
      <p:sp>
        <p:nvSpPr>
          <p:cNvPr id="311" name="FIG_E_b2_sq2_0"/>
          <p:cNvSpPr/>
          <p:nvPr/>
        </p:nvSpPr>
        <p:spPr>
          <a:xfrm>
            <a:off x="4635500" y="7318375"/>
            <a:ext cx="127000" cy="127000"/>
          </a:xfrm>
          <a:prstGeom prst="rect">
            <a:avLst/>
          </a:prstGeom>
          <a:solidFill>
            <a:srgbClr val="8C6ED6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FIG_E_b2_sq2_1"/>
          <p:cNvSpPr/>
          <p:nvPr/>
        </p:nvSpPr>
        <p:spPr>
          <a:xfrm>
            <a:off x="4833937" y="7318375"/>
            <a:ext cx="127000" cy="127000"/>
          </a:xfrm>
          <a:prstGeom prst="rect">
            <a:avLst/>
          </a:prstGeom>
          <a:solidFill>
            <a:srgbClr val="8C6ED6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FIG_E_b2_sq2_2"/>
          <p:cNvSpPr/>
          <p:nvPr/>
        </p:nvSpPr>
        <p:spPr>
          <a:xfrm>
            <a:off x="5032375" y="7318375"/>
            <a:ext cx="127000" cy="127000"/>
          </a:xfrm>
          <a:prstGeom prst="rect">
            <a:avLst/>
          </a:prstGeom>
          <a:solidFill>
            <a:srgbClr val="8C6ED6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FIG_E_b2_sq2_3"/>
          <p:cNvSpPr/>
          <p:nvPr/>
        </p:nvSpPr>
        <p:spPr>
          <a:xfrm>
            <a:off x="5230812" y="7318375"/>
            <a:ext cx="127000" cy="127000"/>
          </a:xfrm>
          <a:prstGeom prst="rect">
            <a:avLst/>
          </a:prstGeom>
          <a:solidFill>
            <a:srgbClr val="8C6ED6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FIG_E_b2_sq2_4"/>
          <p:cNvSpPr/>
          <p:nvPr/>
        </p:nvSpPr>
        <p:spPr>
          <a:xfrm>
            <a:off x="5429250" y="7318375"/>
            <a:ext cx="127000" cy="127000"/>
          </a:xfrm>
          <a:prstGeom prst="rect">
            <a:avLst/>
          </a:prstGeom>
          <a:solidFill>
            <a:srgbClr val="8C6ED6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FIG_E_b2_sq2_dots"/>
          <p:cNvSpPr txBox="1"/>
          <p:nvPr/>
        </p:nvSpPr>
        <p:spPr>
          <a:xfrm>
            <a:off x="5643562" y="7302500"/>
            <a:ext cx="23812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787E8C"/>
                </a:solidFill>
                <a:latin typeface="PingFang SC"/>
              </a:rPr>
              <a:t>····</a:t>
            </a:r>
          </a:p>
        </p:txBody>
      </p:sp>
      <p:cxnSp>
        <p:nvCxnSpPr>
          <p:cNvPr id="317" name="FIG_L_b2_dec_link1"/>
          <p:cNvCxnSpPr/>
          <p:nvPr/>
        </p:nvCxnSpPr>
        <p:spPr>
          <a:xfrm>
            <a:off x="4762500" y="7381875"/>
            <a:ext cx="71437" cy="0"/>
          </a:xfrm>
          <a:prstGeom prst="line">
            <a:avLst/>
          </a:prstGeom>
          <a:ln w="1143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FIG_L_b2_dec_link2"/>
          <p:cNvCxnSpPr/>
          <p:nvPr/>
        </p:nvCxnSpPr>
        <p:spPr>
          <a:xfrm>
            <a:off x="4960937" y="7381875"/>
            <a:ext cx="71438" cy="0"/>
          </a:xfrm>
          <a:prstGeom prst="line">
            <a:avLst/>
          </a:prstGeom>
          <a:ln w="1143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FIG_L_b2_dec_link3"/>
          <p:cNvCxnSpPr/>
          <p:nvPr/>
        </p:nvCxnSpPr>
        <p:spPr>
          <a:xfrm>
            <a:off x="5159375" y="7381875"/>
            <a:ext cx="71437" cy="0"/>
          </a:xfrm>
          <a:prstGeom prst="line">
            <a:avLst/>
          </a:prstGeom>
          <a:ln w="1143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FIG_L_b2_dec_link4"/>
          <p:cNvCxnSpPr/>
          <p:nvPr/>
        </p:nvCxnSpPr>
        <p:spPr>
          <a:xfrm>
            <a:off x="5357812" y="7381875"/>
            <a:ext cx="71438" cy="0"/>
          </a:xfrm>
          <a:prstGeom prst="line">
            <a:avLst/>
          </a:prstGeom>
          <a:ln w="1143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FIG_E_b2_last"/>
          <p:cNvSpPr/>
          <p:nvPr/>
        </p:nvSpPr>
        <p:spPr>
          <a:xfrm>
            <a:off x="6286500" y="7318375"/>
            <a:ext cx="127000" cy="127000"/>
          </a:xfrm>
          <a:prstGeom prst="rect">
            <a:avLst/>
          </a:prstGeom>
          <a:solidFill>
            <a:srgbClr val="8C6ED6"/>
          </a:solidFill>
          <a:ln w="7620">
            <a:solidFill>
              <a:srgbClr val="6E5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2" name="FIG_L_b2_flow"/>
          <p:cNvCxnSpPr/>
          <p:nvPr/>
        </p:nvCxnSpPr>
        <p:spPr>
          <a:xfrm>
            <a:off x="4095750" y="7381875"/>
            <a:ext cx="539750" cy="0"/>
          </a:xfrm>
          <a:prstGeom prst="line">
            <a:avLst/>
          </a:prstGeom>
          <a:ln w="15240">
            <a:solidFill>
              <a:srgbClr val="282C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FIG_L_b1_b2"/>
          <p:cNvCxnSpPr/>
          <p:nvPr/>
        </p:nvCxnSpPr>
        <p:spPr>
          <a:xfrm>
            <a:off x="2651125" y="7413625"/>
            <a:ext cx="111125" cy="0"/>
          </a:xfrm>
          <a:prstGeom prst="line">
            <a:avLst/>
          </a:prstGeom>
          <a:ln w="50800">
            <a:solidFill>
              <a:srgbClr val="2550D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FIG_L_b2_b3"/>
          <p:cNvCxnSpPr/>
          <p:nvPr/>
        </p:nvCxnSpPr>
        <p:spPr>
          <a:xfrm>
            <a:off x="7064375" y="7413625"/>
            <a:ext cx="142875" cy="0"/>
          </a:xfrm>
          <a:prstGeom prst="line">
            <a:avLst/>
          </a:prstGeom>
          <a:ln w="50800">
            <a:solidFill>
              <a:srgbClr val="2550D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FIG_T_b3_title"/>
          <p:cNvSpPr txBox="1"/>
          <p:nvPr/>
        </p:nvSpPr>
        <p:spPr>
          <a:xfrm>
            <a:off x="7207250" y="6826250"/>
            <a:ext cx="17938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82C3C"/>
                </a:solidFill>
                <a:latin typeface="PingFang SC"/>
              </a:rPr>
              <a:t>检测结果</a:t>
            </a:r>
          </a:p>
        </p:txBody>
      </p:sp>
      <p:sp>
        <p:nvSpPr>
          <p:cNvPr id="326" name="FIG_E_b3_bars_0"/>
          <p:cNvSpPr/>
          <p:nvPr/>
        </p:nvSpPr>
        <p:spPr>
          <a:xfrm>
            <a:off x="7429500" y="7223125"/>
            <a:ext cx="55562" cy="142875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IG_E_b3_bars_1"/>
          <p:cNvSpPr/>
          <p:nvPr/>
        </p:nvSpPr>
        <p:spPr>
          <a:xfrm>
            <a:off x="7508875" y="7127875"/>
            <a:ext cx="55562" cy="238125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IG_E_b3_bars_2"/>
          <p:cNvSpPr/>
          <p:nvPr/>
        </p:nvSpPr>
        <p:spPr>
          <a:xfrm>
            <a:off x="7588250" y="7270750"/>
            <a:ext cx="55562" cy="95250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FIG_E_b3_bars_3"/>
          <p:cNvSpPr/>
          <p:nvPr/>
        </p:nvSpPr>
        <p:spPr>
          <a:xfrm>
            <a:off x="7667625" y="7175500"/>
            <a:ext cx="55562" cy="190500"/>
          </a:xfrm>
          <a:prstGeom prst="rect">
            <a:avLst/>
          </a:prstGeom>
          <a:solidFill>
            <a:srgbClr val="5A7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0" name="FIG_E_b3_bars_axis"/>
          <p:cNvCxnSpPr/>
          <p:nvPr/>
        </p:nvCxnSpPr>
        <p:spPr>
          <a:xfrm>
            <a:off x="7405687" y="7373937"/>
            <a:ext cx="357188" cy="0"/>
          </a:xfrm>
          <a:prstGeom prst="line">
            <a:avLst/>
          </a:prstGeom>
          <a:ln w="10160">
            <a:solidFill>
              <a:srgbClr val="282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FIG_T_b3_bars"/>
          <p:cNvSpPr txBox="1"/>
          <p:nvPr/>
        </p:nvSpPr>
        <p:spPr>
          <a:xfrm>
            <a:off x="7270750" y="7508875"/>
            <a:ext cx="793750" cy="14287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282C3C"/>
                </a:solidFill>
                <a:latin typeface="PingFang SC"/>
              </a:rPr>
              <a:t>类别概率</a:t>
            </a:r>
          </a:p>
        </p:txBody>
      </p:sp>
      <p:sp>
        <p:nvSpPr>
          <p:cNvPr id="332" name="FIG_E_b3_box1"/>
          <p:cNvSpPr/>
          <p:nvPr/>
        </p:nvSpPr>
        <p:spPr>
          <a:xfrm>
            <a:off x="8175625" y="7080250"/>
            <a:ext cx="365125" cy="285750"/>
          </a:xfrm>
          <a:prstGeom prst="rect">
            <a:avLst/>
          </a:prstGeom>
          <a:noFill/>
          <a:ln w="15240">
            <a:solidFill>
              <a:srgbClr val="E03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IG_E_b3_box2"/>
          <p:cNvSpPr/>
          <p:nvPr/>
        </p:nvSpPr>
        <p:spPr>
          <a:xfrm>
            <a:off x="8318500" y="7207250"/>
            <a:ext cx="365125" cy="285750"/>
          </a:xfrm>
          <a:prstGeom prst="rect">
            <a:avLst/>
          </a:prstGeom>
          <a:noFill/>
          <a:ln w="15240">
            <a:solidFill>
              <a:srgbClr val="1C9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IG_T_b3_box"/>
          <p:cNvSpPr txBox="1"/>
          <p:nvPr/>
        </p:nvSpPr>
        <p:spPr>
          <a:xfrm>
            <a:off x="8016875" y="7508875"/>
            <a:ext cx="9525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282C3C"/>
                </a:solidFill>
                <a:latin typeface="PingFang SC"/>
              </a:rPr>
              <a:t>归一化边界
框坐标</a:t>
            </a:r>
          </a:p>
        </p:txBody>
      </p:sp>
      <p:sp>
        <p:nvSpPr>
          <p:cNvPr id="335" name="FIG_T_b4_title"/>
          <p:cNvSpPr txBox="1"/>
          <p:nvPr/>
        </p:nvSpPr>
        <p:spPr>
          <a:xfrm>
            <a:off x="9112250" y="6826250"/>
            <a:ext cx="3000375" cy="158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50D8"/>
                </a:solidFill>
                <a:latin typeface="PingFang SC"/>
              </a:rPr>
              <a:t>三模块协同优势</a:t>
            </a:r>
          </a:p>
        </p:txBody>
      </p:sp>
      <p:sp>
        <p:nvSpPr>
          <p:cNvPr id="336" name="FIG_E_b4_icon0"/>
          <p:cNvSpPr/>
          <p:nvPr/>
        </p:nvSpPr>
        <p:spPr>
          <a:xfrm>
            <a:off x="9286875" y="7048500"/>
            <a:ext cx="158750" cy="158750"/>
          </a:xfrm>
          <a:prstGeom prst="ellipse">
            <a:avLst/>
          </a:prstGeom>
          <a:solidFill>
            <a:srgbClr val="255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IG_T_b4_head0"/>
          <p:cNvSpPr txBox="1"/>
          <p:nvPr/>
        </p:nvSpPr>
        <p:spPr>
          <a:xfrm>
            <a:off x="9525000" y="7048500"/>
            <a:ext cx="555625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2550D8"/>
                </a:solidFill>
                <a:latin typeface="PingFang SC"/>
              </a:rPr>
              <a:t>更精细：</a:t>
            </a:r>
          </a:p>
        </p:txBody>
      </p:sp>
      <p:sp>
        <p:nvSpPr>
          <p:cNvPr id="338" name="FIG_T_b4_tail0"/>
          <p:cNvSpPr txBox="1"/>
          <p:nvPr/>
        </p:nvSpPr>
        <p:spPr>
          <a:xfrm>
            <a:off x="10064750" y="7048500"/>
            <a:ext cx="1984375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  <a:latin typeface="PingFang SC"/>
              </a:rPr>
              <a:t>保留小目标细粒度特征</a:t>
            </a:r>
          </a:p>
        </p:txBody>
      </p:sp>
      <p:sp>
        <p:nvSpPr>
          <p:cNvPr id="339" name="FIG_E_b4_icon1"/>
          <p:cNvSpPr/>
          <p:nvPr/>
        </p:nvSpPr>
        <p:spPr>
          <a:xfrm>
            <a:off x="9286875" y="7366000"/>
            <a:ext cx="158750" cy="158750"/>
          </a:xfrm>
          <a:prstGeom prst="ellipse">
            <a:avLst/>
          </a:prstGeom>
          <a:solidFill>
            <a:srgbClr val="1C9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IG_T_b4_head1"/>
          <p:cNvSpPr txBox="1"/>
          <p:nvPr/>
        </p:nvSpPr>
        <p:spPr>
          <a:xfrm>
            <a:off x="9525000" y="7366000"/>
            <a:ext cx="555625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C9454"/>
                </a:solidFill>
                <a:latin typeface="PingFang SC"/>
              </a:rPr>
              <a:t>更鲁棒：</a:t>
            </a:r>
          </a:p>
        </p:txBody>
      </p:sp>
      <p:sp>
        <p:nvSpPr>
          <p:cNvPr id="341" name="FIG_T_b4_tail1"/>
          <p:cNvSpPr txBox="1"/>
          <p:nvPr/>
        </p:nvSpPr>
        <p:spPr>
          <a:xfrm>
            <a:off x="10064750" y="7366000"/>
            <a:ext cx="1984375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  <a:latin typeface="PingFang SC"/>
              </a:rPr>
              <a:t>增强方向性缺陷感知</a:t>
            </a:r>
          </a:p>
        </p:txBody>
      </p:sp>
      <p:sp>
        <p:nvSpPr>
          <p:cNvPr id="342" name="FIG_E_b4_icon2"/>
          <p:cNvSpPr/>
          <p:nvPr/>
        </p:nvSpPr>
        <p:spPr>
          <a:xfrm>
            <a:off x="9286875" y="7683500"/>
            <a:ext cx="158750" cy="158750"/>
          </a:xfrm>
          <a:prstGeom prst="ellipse">
            <a:avLst/>
          </a:prstGeom>
          <a:solidFill>
            <a:srgbClr val="E03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IG_T_b4_head2"/>
          <p:cNvSpPr txBox="1"/>
          <p:nvPr/>
        </p:nvSpPr>
        <p:spPr>
          <a:xfrm>
            <a:off x="9525000" y="7683500"/>
            <a:ext cx="555625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E03A26"/>
                </a:solidFill>
                <a:latin typeface="PingFang SC"/>
              </a:rPr>
              <a:t>更高效：</a:t>
            </a:r>
          </a:p>
        </p:txBody>
      </p:sp>
      <p:sp>
        <p:nvSpPr>
          <p:cNvPr id="344" name="FIG_T_b4_tail2"/>
          <p:cNvSpPr txBox="1"/>
          <p:nvPr/>
        </p:nvSpPr>
        <p:spPr>
          <a:xfrm>
            <a:off x="10064750" y="7683500"/>
            <a:ext cx="1984375" cy="17462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82C3C"/>
                </a:solidFill>
                <a:latin typeface="PingFang SC"/>
              </a:rPr>
              <a:t>自适应融合多尺度特征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