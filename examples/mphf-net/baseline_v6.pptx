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MMER_E_shape_001"/>
          <p:cNvSpPr/>
          <p:nvPr/>
        </p:nvSpPr>
        <p:spPr>
          <a:xfrm>
            <a:off x="0" y="0"/>
            <a:ext cx="12192000" cy="81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MMER_E_shape_002"/>
          <p:cNvSpPr/>
          <p:nvPr/>
        </p:nvSpPr>
        <p:spPr>
          <a:xfrm>
            <a:off x="39687" y="31750"/>
            <a:ext cx="12112625" cy="476250"/>
          </a:xfrm>
          <a:prstGeom prst="roundRect">
            <a:avLst>
              <a:gd name="adj" fmla="val 8000"/>
            </a:avLst>
          </a:prstGeom>
          <a:solidFill>
            <a:srgbClr val="071D4F"/>
          </a:solidFill>
          <a:ln w="6350">
            <a:solidFill>
              <a:srgbClr val="071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MMER_E_text_003"/>
          <p:cNvSpPr txBox="1"/>
          <p:nvPr/>
        </p:nvSpPr>
        <p:spPr>
          <a:xfrm>
            <a:off x="1587500" y="55562"/>
            <a:ext cx="9017000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ingFang SC"/>
              </a:rPr>
              <a:t>MPHF-Net 工业表面缺陷检测网络结构设计图</a:t>
            </a:r>
          </a:p>
        </p:txBody>
      </p:sp>
      <p:sp>
        <p:nvSpPr>
          <p:cNvPr id="5" name="SUMMER_E_shape_004"/>
          <p:cNvSpPr/>
          <p:nvPr/>
        </p:nvSpPr>
        <p:spPr>
          <a:xfrm>
            <a:off x="95250" y="619125"/>
            <a:ext cx="1571625" cy="3690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MMER_E_shape_005"/>
          <p:cNvSpPr/>
          <p:nvPr/>
        </p:nvSpPr>
        <p:spPr>
          <a:xfrm>
            <a:off x="1793875" y="619125"/>
            <a:ext cx="2039937" cy="3690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MMER_E_shape_006"/>
          <p:cNvSpPr/>
          <p:nvPr/>
        </p:nvSpPr>
        <p:spPr>
          <a:xfrm>
            <a:off x="3944937" y="619125"/>
            <a:ext cx="4484687" cy="3690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MMER_E_shape_007"/>
          <p:cNvSpPr/>
          <p:nvPr/>
        </p:nvSpPr>
        <p:spPr>
          <a:xfrm>
            <a:off x="8532812" y="619125"/>
            <a:ext cx="2008187" cy="3690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C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MMER_E_shape_008"/>
          <p:cNvSpPr/>
          <p:nvPr/>
        </p:nvSpPr>
        <p:spPr>
          <a:xfrm>
            <a:off x="10636250" y="619125"/>
            <a:ext cx="1444625" cy="3690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UMMER_E_shape_009"/>
          <p:cNvSpPr/>
          <p:nvPr/>
        </p:nvSpPr>
        <p:spPr>
          <a:xfrm>
            <a:off x="95250" y="4421187"/>
            <a:ext cx="377825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UMMER_E_shape_010"/>
          <p:cNvSpPr/>
          <p:nvPr/>
        </p:nvSpPr>
        <p:spPr>
          <a:xfrm>
            <a:off x="3944937" y="4421187"/>
            <a:ext cx="3254375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UMMER_E_shape_011"/>
          <p:cNvSpPr/>
          <p:nvPr/>
        </p:nvSpPr>
        <p:spPr>
          <a:xfrm>
            <a:off x="7270750" y="4421187"/>
            <a:ext cx="4810125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UMMER_E_shape_012"/>
          <p:cNvSpPr/>
          <p:nvPr/>
        </p:nvSpPr>
        <p:spPr>
          <a:xfrm>
            <a:off x="95250" y="6707187"/>
            <a:ext cx="2428875" cy="13414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UMMER_E_shape_013"/>
          <p:cNvSpPr/>
          <p:nvPr/>
        </p:nvSpPr>
        <p:spPr>
          <a:xfrm>
            <a:off x="2770187" y="6707187"/>
            <a:ext cx="4206875" cy="13414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UMMER_E_shape_014"/>
          <p:cNvSpPr/>
          <p:nvPr/>
        </p:nvSpPr>
        <p:spPr>
          <a:xfrm>
            <a:off x="7207250" y="6707187"/>
            <a:ext cx="1793875" cy="13414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MMER_E_shape_015"/>
          <p:cNvSpPr/>
          <p:nvPr/>
        </p:nvSpPr>
        <p:spPr>
          <a:xfrm>
            <a:off x="9120187" y="6707187"/>
            <a:ext cx="2960687" cy="13414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9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UMMER_E_text_016"/>
          <p:cNvSpPr txBox="1"/>
          <p:nvPr/>
        </p:nvSpPr>
        <p:spPr>
          <a:xfrm>
            <a:off x="293687" y="738187"/>
            <a:ext cx="11906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PingFang SC"/>
              </a:rPr>
              <a:t>输入图像</a:t>
            </a:r>
          </a:p>
        </p:txBody>
      </p:sp>
      <p:pic>
        <p:nvPicPr>
          <p:cNvPr id="18" name="SUMMER_R_input_pcb" descr="01_R1_input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293812"/>
            <a:ext cx="1357312" cy="1936750"/>
          </a:xfrm>
          <a:prstGeom prst="rect">
            <a:avLst/>
          </a:prstGeom>
        </p:spPr>
      </p:pic>
      <p:sp>
        <p:nvSpPr>
          <p:cNvPr id="19" name="SUMMER_E_text_017"/>
          <p:cNvSpPr txBox="1"/>
          <p:nvPr/>
        </p:nvSpPr>
        <p:spPr>
          <a:xfrm>
            <a:off x="230187" y="3397250"/>
            <a:ext cx="1270000" cy="3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PingFang SC"/>
              </a:rPr>
              <a:t>640 × 640 × 3</a:t>
            </a:r>
          </a:p>
        </p:txBody>
      </p:sp>
      <p:sp>
        <p:nvSpPr>
          <p:cNvPr id="20" name="SUMMER_E_shape_018"/>
          <p:cNvSpPr/>
          <p:nvPr/>
        </p:nvSpPr>
        <p:spPr>
          <a:xfrm>
            <a:off x="1603375" y="2230437"/>
            <a:ext cx="190500" cy="238125"/>
          </a:xfrm>
          <a:prstGeom prst="rightArrow">
            <a:avLst/>
          </a:prstGeom>
          <a:solidFill>
            <a:srgbClr val="0B3EE3"/>
          </a:solidFill>
          <a:ln w="508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UMMER_E_text_019"/>
          <p:cNvSpPr txBox="1"/>
          <p:nvPr/>
        </p:nvSpPr>
        <p:spPr>
          <a:xfrm>
            <a:off x="1944687" y="698500"/>
            <a:ext cx="1785937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0B3EE3"/>
                </a:solidFill>
                <a:latin typeface="PingFang SC"/>
              </a:rPr>
              <a:t>Backbone: CSP-MEEM</a:t>
            </a:r>
          </a:p>
        </p:txBody>
      </p:sp>
      <p:sp>
        <p:nvSpPr>
          <p:cNvPr id="22" name="SUMMER_E_text_020"/>
          <p:cNvSpPr txBox="1"/>
          <p:nvPr/>
        </p:nvSpPr>
        <p:spPr>
          <a:xfrm>
            <a:off x="2024062" y="920750"/>
            <a:ext cx="1627187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PingFang SC"/>
              </a:rPr>
              <a:t>多尺度细粒度特征提取</a:t>
            </a:r>
          </a:p>
        </p:txBody>
      </p:sp>
      <p:sp>
        <p:nvSpPr>
          <p:cNvPr id="23" name="SUMMER_E_backbone_c3_front"/>
          <p:cNvSpPr/>
          <p:nvPr/>
        </p:nvSpPr>
        <p:spPr>
          <a:xfrm>
            <a:off x="2006600" y="3086100"/>
            <a:ext cx="482600" cy="419100"/>
          </a:xfrm>
          <a:custGeom>
            <a:avLst/>
            <a:gdLst/>
            <a:ahLst/>
            <a:cxnLst/>
            <a:rect l="l" t="t" r="r" b="b"/>
            <a:pathLst>
              <a:path w="38" h="33">
                <a:moveTo>
                  <a:pt x="0" y="0"/>
                </a:moveTo>
                <a:lnTo>
                  <a:pt x="38" y="0"/>
                </a:lnTo>
                <a:lnTo>
                  <a:pt x="38" y="33"/>
                </a:lnTo>
                <a:lnTo>
                  <a:pt x="0" y="33"/>
                </a:lnTo>
                <a:close/>
              </a:path>
            </a:pathLst>
          </a:custGeom>
          <a:gradFill rotWithShape="1">
            <a:gsLst>
              <a:gs pos="0">
                <a:srgbClr val="CEDFFB"/>
              </a:gs>
              <a:gs pos="100000">
                <a:srgbClr val="CCDCFA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UMMER_E_backbone_c3_top"/>
          <p:cNvSpPr/>
          <p:nvPr/>
        </p:nvSpPr>
        <p:spPr>
          <a:xfrm>
            <a:off x="2006600" y="2717800"/>
            <a:ext cx="736600" cy="368300"/>
          </a:xfrm>
          <a:custGeom>
            <a:avLst/>
            <a:gdLst/>
            <a:ahLst/>
            <a:cxnLst/>
            <a:rect l="l" t="t" r="r" b="b"/>
            <a:pathLst>
              <a:path w="58" h="29">
                <a:moveTo>
                  <a:pt x="0" y="29"/>
                </a:moveTo>
                <a:lnTo>
                  <a:pt x="12" y="11"/>
                </a:lnTo>
                <a:lnTo>
                  <a:pt x="58" y="0"/>
                </a:lnTo>
                <a:lnTo>
                  <a:pt x="38" y="29"/>
                </a:lnTo>
                <a:close/>
              </a:path>
            </a:pathLst>
          </a:custGeom>
          <a:gradFill rotWithShape="1">
            <a:gsLst>
              <a:gs pos="0">
                <a:srgbClr val="E3EEFD"/>
              </a:gs>
              <a:gs pos="100000">
                <a:srgbClr val="DBE9FC"/>
              </a:gs>
            </a:gsLst>
            <a:lin scaled="0" ang="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UMMER_E_backbone_c3_right"/>
          <p:cNvSpPr/>
          <p:nvPr/>
        </p:nvSpPr>
        <p:spPr>
          <a:xfrm>
            <a:off x="2489200" y="2717800"/>
            <a:ext cx="254000" cy="787400"/>
          </a:xfrm>
          <a:custGeom>
            <a:avLst/>
            <a:gdLst/>
            <a:ahLst/>
            <a:cxnLst/>
            <a:rect l="l" t="t" r="r" b="b"/>
            <a:pathLst>
              <a:path w="20" h="62">
                <a:moveTo>
                  <a:pt x="0" y="29"/>
                </a:moveTo>
                <a:lnTo>
                  <a:pt x="20" y="0"/>
                </a:lnTo>
                <a:lnTo>
                  <a:pt x="20" y="28"/>
                </a:lnTo>
                <a:lnTo>
                  <a:pt x="0" y="62"/>
                </a:lnTo>
                <a:close/>
              </a:path>
            </a:pathLst>
          </a:custGeom>
          <a:gradFill rotWithShape="1">
            <a:gsLst>
              <a:gs pos="0">
                <a:srgbClr val="9EB9F0"/>
              </a:gs>
              <a:gs pos="100000">
                <a:srgbClr val="96B3EE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UMMER_E_backbone_c4_deep_front"/>
          <p:cNvSpPr/>
          <p:nvPr/>
        </p:nvSpPr>
        <p:spPr>
          <a:xfrm>
            <a:off x="2108200" y="2540000"/>
            <a:ext cx="381000" cy="317500"/>
          </a:xfrm>
          <a:custGeom>
            <a:avLst/>
            <a:gdLst/>
            <a:ahLst/>
            <a:cxnLst/>
            <a:rect l="l" t="t" r="r" b="b"/>
            <a:pathLst>
              <a:path w="30" h="25">
                <a:moveTo>
                  <a:pt x="0" y="0"/>
                </a:moveTo>
                <a:lnTo>
                  <a:pt x="30" y="0"/>
                </a:lnTo>
                <a:lnTo>
                  <a:pt x="30" y="25"/>
                </a:lnTo>
                <a:lnTo>
                  <a:pt x="0" y="25"/>
                </a:lnTo>
                <a:close/>
              </a:path>
            </a:pathLst>
          </a:custGeom>
          <a:gradFill rotWithShape="1">
            <a:gsLst>
              <a:gs pos="0">
                <a:srgbClr val="7399E7"/>
              </a:gs>
              <a:gs pos="100000">
                <a:srgbClr val="6E96E5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UMMER_E_backbone_c4_deep_top"/>
          <p:cNvSpPr/>
          <p:nvPr/>
        </p:nvSpPr>
        <p:spPr>
          <a:xfrm>
            <a:off x="2108200" y="2298700"/>
            <a:ext cx="546100" cy="241300"/>
          </a:xfrm>
          <a:custGeom>
            <a:avLst/>
            <a:gdLst/>
            <a:ahLst/>
            <a:cxnLst/>
            <a:rect l="l" t="t" r="r" b="b"/>
            <a:pathLst>
              <a:path w="43" h="19">
                <a:moveTo>
                  <a:pt x="0" y="19"/>
                </a:moveTo>
                <a:lnTo>
                  <a:pt x="11" y="5"/>
                </a:lnTo>
                <a:lnTo>
                  <a:pt x="43" y="0"/>
                </a:lnTo>
                <a:lnTo>
                  <a:pt x="30" y="19"/>
                </a:lnTo>
                <a:close/>
              </a:path>
            </a:pathLst>
          </a:custGeom>
          <a:gradFill rotWithShape="1">
            <a:gsLst>
              <a:gs pos="0">
                <a:srgbClr val="A8C2F5"/>
              </a:gs>
              <a:gs pos="100000">
                <a:srgbClr val="9FBBF3"/>
              </a:gs>
            </a:gsLst>
            <a:lin scaled="0" ang="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UMMER_E_backbone_c4_deep_right"/>
          <p:cNvSpPr/>
          <p:nvPr/>
        </p:nvSpPr>
        <p:spPr>
          <a:xfrm>
            <a:off x="2489200" y="2298700"/>
            <a:ext cx="165100" cy="558800"/>
          </a:xfrm>
          <a:custGeom>
            <a:avLst/>
            <a:gdLst/>
            <a:ahLst/>
            <a:cxnLst/>
            <a:rect l="l" t="t" r="r" b="b"/>
            <a:pathLst>
              <a:path w="13" h="44">
                <a:moveTo>
                  <a:pt x="0" y="19"/>
                </a:moveTo>
                <a:lnTo>
                  <a:pt x="13" y="0"/>
                </a:lnTo>
                <a:lnTo>
                  <a:pt x="13" y="22"/>
                </a:lnTo>
                <a:lnTo>
                  <a:pt x="0" y="44"/>
                </a:lnTo>
                <a:close/>
              </a:path>
            </a:pathLst>
          </a:custGeom>
          <a:gradFill rotWithShape="1">
            <a:gsLst>
              <a:gs pos="0">
                <a:srgbClr val="5A85DC"/>
              </a:gs>
              <a:gs pos="100000">
                <a:srgbClr val="537ED9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UMMER_E_backbone_c4_light_front"/>
          <p:cNvSpPr/>
          <p:nvPr/>
        </p:nvSpPr>
        <p:spPr>
          <a:xfrm>
            <a:off x="2184400" y="2057400"/>
            <a:ext cx="292100" cy="304800"/>
          </a:xfrm>
          <a:custGeom>
            <a:avLst/>
            <a:gdLst/>
            <a:ahLst/>
            <a:cxnLst/>
            <a:rect l="l" t="t" r="r" b="b"/>
            <a:pathLst>
              <a:path w="23" h="24">
                <a:moveTo>
                  <a:pt x="0" y="0"/>
                </a:moveTo>
                <a:lnTo>
                  <a:pt x="23" y="0"/>
                </a:lnTo>
                <a:lnTo>
                  <a:pt x="23" y="24"/>
                </a:lnTo>
                <a:lnTo>
                  <a:pt x="0" y="24"/>
                </a:lnTo>
                <a:close/>
              </a:path>
            </a:pathLst>
          </a:custGeom>
          <a:gradFill rotWithShape="1">
            <a:gsLst>
              <a:gs pos="0">
                <a:srgbClr val="D0E0FB"/>
              </a:gs>
              <a:gs pos="100000">
                <a:srgbClr val="CCDDFA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UMMER_E_backbone_c4_light_top"/>
          <p:cNvSpPr/>
          <p:nvPr/>
        </p:nvSpPr>
        <p:spPr>
          <a:xfrm>
            <a:off x="2184400" y="1905000"/>
            <a:ext cx="393700" cy="152400"/>
          </a:xfrm>
          <a:custGeom>
            <a:avLst/>
            <a:gdLst/>
            <a:ahLst/>
            <a:cxnLst/>
            <a:rect l="l" t="t" r="r" b="b"/>
            <a:pathLst>
              <a:path w="31" h="12">
                <a:moveTo>
                  <a:pt x="0" y="12"/>
                </a:moveTo>
                <a:lnTo>
                  <a:pt x="8" y="0"/>
                </a:lnTo>
                <a:lnTo>
                  <a:pt x="31" y="0"/>
                </a:lnTo>
                <a:lnTo>
                  <a:pt x="23" y="12"/>
                </a:lnTo>
                <a:close/>
              </a:path>
            </a:pathLst>
          </a:custGeom>
          <a:gradFill rotWithShape="1">
            <a:gsLst>
              <a:gs pos="0">
                <a:srgbClr val="E7F0FD"/>
              </a:gs>
              <a:gs pos="100000">
                <a:srgbClr val="DAE7F8"/>
              </a:gs>
            </a:gsLst>
            <a:lin scaled="0" ang="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UMMER_E_backbone_c4_light_right"/>
          <p:cNvSpPr/>
          <p:nvPr/>
        </p:nvSpPr>
        <p:spPr>
          <a:xfrm>
            <a:off x="2476500" y="1905000"/>
            <a:ext cx="101600" cy="457200"/>
          </a:xfrm>
          <a:custGeom>
            <a:avLst/>
            <a:gdLst/>
            <a:ahLst/>
            <a:cxnLst/>
            <a:rect l="l" t="t" r="r" b="b"/>
            <a:pathLst>
              <a:path w="8" h="36">
                <a:moveTo>
                  <a:pt x="0" y="12"/>
                </a:moveTo>
                <a:lnTo>
                  <a:pt x="8" y="0"/>
                </a:lnTo>
                <a:lnTo>
                  <a:pt x="8" y="25"/>
                </a:lnTo>
                <a:lnTo>
                  <a:pt x="0" y="36"/>
                </a:lnTo>
                <a:close/>
              </a:path>
            </a:pathLst>
          </a:custGeom>
          <a:gradFill rotWithShape="1">
            <a:gsLst>
              <a:gs pos="0">
                <a:srgbClr val="99B5EF"/>
              </a:gs>
              <a:gs pos="100000">
                <a:srgbClr val="90AFEC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UMMER_E_backbone_c5_front"/>
          <p:cNvSpPr/>
          <p:nvPr/>
        </p:nvSpPr>
        <p:spPr>
          <a:xfrm>
            <a:off x="2235200" y="1371600"/>
            <a:ext cx="279400" cy="241300"/>
          </a:xfrm>
          <a:custGeom>
            <a:avLst/>
            <a:gdLst/>
            <a:ahLst/>
            <a:cxnLst/>
            <a:rect l="l" t="t" r="r" b="b"/>
            <a:pathLst>
              <a:path w="22" h="19">
                <a:moveTo>
                  <a:pt x="0" y="0"/>
                </a:moveTo>
                <a:lnTo>
                  <a:pt x="22" y="0"/>
                </a:lnTo>
                <a:lnTo>
                  <a:pt x="22" y="19"/>
                </a:lnTo>
                <a:lnTo>
                  <a:pt x="0" y="19"/>
                </a:lnTo>
                <a:close/>
              </a:path>
            </a:pathLst>
          </a:custGeom>
          <a:gradFill rotWithShape="1">
            <a:gsLst>
              <a:gs pos="0">
                <a:srgbClr val="6D93E4"/>
              </a:gs>
              <a:gs pos="100000">
                <a:srgbClr val="6890E2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UMMER_E_backbone_c5_top"/>
          <p:cNvSpPr/>
          <p:nvPr/>
        </p:nvSpPr>
        <p:spPr>
          <a:xfrm>
            <a:off x="2235200" y="1282700"/>
            <a:ext cx="355600" cy="88900"/>
          </a:xfrm>
          <a:custGeom>
            <a:avLst/>
            <a:gdLst/>
            <a:ahLst/>
            <a:cxnLst/>
            <a:rect l="l" t="t" r="r" b="b"/>
            <a:pathLst>
              <a:path w="28" h="7">
                <a:moveTo>
                  <a:pt x="0" y="7"/>
                </a:moveTo>
                <a:lnTo>
                  <a:pt x="9" y="0"/>
                </a:lnTo>
                <a:lnTo>
                  <a:pt x="28" y="0"/>
                </a:lnTo>
                <a:lnTo>
                  <a:pt x="22" y="7"/>
                </a:lnTo>
                <a:close/>
              </a:path>
            </a:pathLst>
          </a:custGeom>
          <a:gradFill rotWithShape="1">
            <a:gsLst>
              <a:gs pos="0">
                <a:srgbClr val="ADC5F3"/>
              </a:gs>
              <a:gs pos="100000">
                <a:srgbClr val="A6BFF1"/>
              </a:gs>
            </a:gsLst>
            <a:lin scaled="0" ang="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UMMER_E_backbone_c5_right"/>
          <p:cNvSpPr/>
          <p:nvPr/>
        </p:nvSpPr>
        <p:spPr>
          <a:xfrm>
            <a:off x="2514600" y="1282700"/>
            <a:ext cx="76200" cy="330200"/>
          </a:xfrm>
          <a:custGeom>
            <a:avLst/>
            <a:gdLst/>
            <a:ahLst/>
            <a:cxnLst/>
            <a:rect l="l" t="t" r="r" b="b"/>
            <a:pathLst>
              <a:path w="6" h="26">
                <a:moveTo>
                  <a:pt x="0" y="7"/>
                </a:moveTo>
                <a:lnTo>
                  <a:pt x="6" y="0"/>
                </a:lnTo>
                <a:lnTo>
                  <a:pt x="6" y="19"/>
                </a:lnTo>
                <a:lnTo>
                  <a:pt x="0" y="26"/>
                </a:lnTo>
                <a:close/>
              </a:path>
            </a:pathLst>
          </a:custGeom>
          <a:gradFill rotWithShape="1">
            <a:gsLst>
              <a:gs pos="0">
                <a:srgbClr val="517BDA"/>
              </a:gs>
              <a:gs pos="100000">
                <a:srgbClr val="4873D5"/>
              </a:gs>
            </a:gsLst>
            <a:lin scaled="0" ang="16200000"/>
          </a:gradFill>
          <a:ln w="9525">
            <a:solidFill>
              <a:srgbClr val="347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SUMMER_L_line_021"/>
          <p:cNvCxnSpPr/>
          <p:nvPr/>
        </p:nvCxnSpPr>
        <p:spPr>
          <a:xfrm>
            <a:off x="2373312" y="1619250"/>
            <a:ext cx="0" cy="436562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MMER_L_line_022"/>
          <p:cNvCxnSpPr/>
          <p:nvPr/>
        </p:nvCxnSpPr>
        <p:spPr>
          <a:xfrm>
            <a:off x="2333625" y="2365375"/>
            <a:ext cx="0" cy="182562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UMMER_L_line_023"/>
          <p:cNvCxnSpPr/>
          <p:nvPr/>
        </p:nvCxnSpPr>
        <p:spPr>
          <a:xfrm>
            <a:off x="2293937" y="2849562"/>
            <a:ext cx="0" cy="238125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MMER_E_text_024"/>
          <p:cNvSpPr txBox="1"/>
          <p:nvPr/>
        </p:nvSpPr>
        <p:spPr>
          <a:xfrm>
            <a:off x="2254250" y="3571875"/>
            <a:ext cx="277812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PingFang SC"/>
              </a:rPr>
              <a:t>⋮</a:t>
            </a:r>
          </a:p>
        </p:txBody>
      </p:sp>
      <p:cxnSp>
        <p:nvCxnSpPr>
          <p:cNvPr id="39" name="SUMMER_L_line_025"/>
          <p:cNvCxnSpPr/>
          <p:nvPr/>
        </p:nvCxnSpPr>
        <p:spPr>
          <a:xfrm>
            <a:off x="2590006" y="1452562"/>
            <a:ext cx="35480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UMMER_L_line_026"/>
          <p:cNvCxnSpPr/>
          <p:nvPr/>
        </p:nvCxnSpPr>
        <p:spPr>
          <a:xfrm>
            <a:off x="2944812" y="1452562"/>
            <a:ext cx="0" cy="341313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UMMER_L_line_027"/>
          <p:cNvCxnSpPr/>
          <p:nvPr/>
        </p:nvCxnSpPr>
        <p:spPr>
          <a:xfrm>
            <a:off x="2944812" y="1793875"/>
            <a:ext cx="182563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UMMER_L_line_028"/>
          <p:cNvCxnSpPr/>
          <p:nvPr/>
        </p:nvCxnSpPr>
        <p:spPr>
          <a:xfrm>
            <a:off x="2658268" y="2563812"/>
            <a:ext cx="286544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UMMER_L_line_029"/>
          <p:cNvCxnSpPr/>
          <p:nvPr/>
        </p:nvCxnSpPr>
        <p:spPr>
          <a:xfrm>
            <a:off x="2944812" y="2563812"/>
            <a:ext cx="182563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UMMER_L_line_030"/>
          <p:cNvCxnSpPr/>
          <p:nvPr/>
        </p:nvCxnSpPr>
        <p:spPr>
          <a:xfrm>
            <a:off x="2742406" y="3317875"/>
            <a:ext cx="202406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UMMER_L_line_031"/>
          <p:cNvCxnSpPr/>
          <p:nvPr/>
        </p:nvCxnSpPr>
        <p:spPr>
          <a:xfrm>
            <a:off x="2944812" y="3317875"/>
            <a:ext cx="182563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UMMER_E_shape_032"/>
          <p:cNvSpPr/>
          <p:nvPr/>
        </p:nvSpPr>
        <p:spPr>
          <a:xfrm>
            <a:off x="3127375" y="1587500"/>
            <a:ext cx="492125" cy="4206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UMMER_E_text_033"/>
          <p:cNvSpPr txBox="1"/>
          <p:nvPr/>
        </p:nvSpPr>
        <p:spPr>
          <a:xfrm>
            <a:off x="3127375" y="1587500"/>
            <a:ext cx="492125" cy="42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C5
20×C</a:t>
            </a:r>
          </a:p>
        </p:txBody>
      </p:sp>
      <p:sp>
        <p:nvSpPr>
          <p:cNvPr id="48" name="SUMMER_E_shape_034"/>
          <p:cNvSpPr/>
          <p:nvPr/>
        </p:nvSpPr>
        <p:spPr>
          <a:xfrm>
            <a:off x="3127375" y="2333625"/>
            <a:ext cx="492125" cy="420687"/>
          </a:xfrm>
          <a:prstGeom prst="roundRect">
            <a:avLst>
              <a:gd name="adj" fmla="val 8000"/>
            </a:avLst>
          </a:prstGeom>
          <a:solidFill>
            <a:srgbClr val="F8FFF5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UMMER_E_text_035"/>
          <p:cNvSpPr txBox="1"/>
          <p:nvPr/>
        </p:nvSpPr>
        <p:spPr>
          <a:xfrm>
            <a:off x="3127375" y="2333625"/>
            <a:ext cx="492125" cy="42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5A1C"/>
                </a:solidFill>
                <a:latin typeface="PingFang SC"/>
              </a:rPr>
              <a:t>C4
40×C</a:t>
            </a:r>
          </a:p>
        </p:txBody>
      </p:sp>
      <p:sp>
        <p:nvSpPr>
          <p:cNvPr id="50" name="SUMMER_E_shape_036"/>
          <p:cNvSpPr/>
          <p:nvPr/>
        </p:nvSpPr>
        <p:spPr>
          <a:xfrm>
            <a:off x="3127375" y="3087687"/>
            <a:ext cx="492125" cy="4206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UMMER_E_text_037"/>
          <p:cNvSpPr txBox="1"/>
          <p:nvPr/>
        </p:nvSpPr>
        <p:spPr>
          <a:xfrm>
            <a:off x="3127375" y="3087687"/>
            <a:ext cx="492125" cy="42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471B"/>
                </a:solidFill>
                <a:latin typeface="PingFang SC"/>
              </a:rPr>
              <a:t>C3
80×C</a:t>
            </a:r>
          </a:p>
        </p:txBody>
      </p:sp>
      <p:sp>
        <p:nvSpPr>
          <p:cNvPr id="52" name="SUMMER_E_shape_038"/>
          <p:cNvSpPr/>
          <p:nvPr/>
        </p:nvSpPr>
        <p:spPr>
          <a:xfrm>
            <a:off x="1905000" y="3976687"/>
            <a:ext cx="1722437" cy="269875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C9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UMMER_E_text_039"/>
          <p:cNvSpPr txBox="1"/>
          <p:nvPr/>
        </p:nvSpPr>
        <p:spPr>
          <a:xfrm>
            <a:off x="1905000" y="3976687"/>
            <a:ext cx="1722437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PingFang SC"/>
              </a:rPr>
              <a:t>输出多尺度特征</a:t>
            </a:r>
          </a:p>
        </p:txBody>
      </p:sp>
      <p:sp>
        <p:nvSpPr>
          <p:cNvPr id="54" name="SUMMER_E_text_040"/>
          <p:cNvSpPr txBox="1"/>
          <p:nvPr/>
        </p:nvSpPr>
        <p:spPr>
          <a:xfrm>
            <a:off x="4365625" y="658812"/>
            <a:ext cx="1587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5A1C"/>
                </a:solidFill>
                <a:latin typeface="PingFang SC"/>
              </a:rPr>
              <a:t>Neck: FPN–PAN</a:t>
            </a:r>
          </a:p>
        </p:txBody>
      </p:sp>
      <p:sp>
        <p:nvSpPr>
          <p:cNvPr id="55" name="SUMMER_E_text_041"/>
          <p:cNvSpPr txBox="1"/>
          <p:nvPr/>
        </p:nvSpPr>
        <p:spPr>
          <a:xfrm>
            <a:off x="5969000" y="658812"/>
            <a:ext cx="2143125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PingFang SC"/>
              </a:rPr>
              <a:t>（LOSC + CGAFusion）</a:t>
            </a:r>
          </a:p>
        </p:txBody>
      </p:sp>
      <p:sp>
        <p:nvSpPr>
          <p:cNvPr id="56" name="SUMMER_E_shape_042"/>
          <p:cNvSpPr/>
          <p:nvPr/>
        </p:nvSpPr>
        <p:spPr>
          <a:xfrm>
            <a:off x="4230687" y="936625"/>
            <a:ext cx="1174750" cy="214312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UMMER_E_text_043"/>
          <p:cNvSpPr txBox="1"/>
          <p:nvPr/>
        </p:nvSpPr>
        <p:spPr>
          <a:xfrm>
            <a:off x="4230687" y="936625"/>
            <a:ext cx="1174750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11111"/>
                </a:solidFill>
                <a:latin typeface="PingFang SC"/>
              </a:rPr>
              <a:t>Top–Down 路径</a:t>
            </a:r>
          </a:p>
        </p:txBody>
      </p:sp>
      <p:sp>
        <p:nvSpPr>
          <p:cNvPr id="58" name="SUMMER_E_shape_044"/>
          <p:cNvSpPr/>
          <p:nvPr/>
        </p:nvSpPr>
        <p:spPr>
          <a:xfrm>
            <a:off x="6580187" y="936625"/>
            <a:ext cx="1254125" cy="214312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UMMER_E_text_045"/>
          <p:cNvSpPr txBox="1"/>
          <p:nvPr/>
        </p:nvSpPr>
        <p:spPr>
          <a:xfrm>
            <a:off x="6580187" y="936625"/>
            <a:ext cx="1254125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11111"/>
                </a:solidFill>
                <a:latin typeface="PingFang SC"/>
              </a:rPr>
              <a:t>Bottom–Up 路径</a:t>
            </a:r>
          </a:p>
        </p:txBody>
      </p:sp>
      <p:sp>
        <p:nvSpPr>
          <p:cNvPr id="60" name="SUMMER_E_shape_046"/>
          <p:cNvSpPr/>
          <p:nvPr/>
        </p:nvSpPr>
        <p:spPr>
          <a:xfrm>
            <a:off x="4445000" y="1214437"/>
            <a:ext cx="357187" cy="214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UMMER_E_text_047"/>
          <p:cNvSpPr txBox="1"/>
          <p:nvPr/>
        </p:nvSpPr>
        <p:spPr>
          <a:xfrm>
            <a:off x="4445000" y="1214437"/>
            <a:ext cx="357187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B3EE3"/>
                </a:solidFill>
                <a:latin typeface="PingFang SC"/>
              </a:rPr>
              <a:t>C5</a:t>
            </a:r>
          </a:p>
        </p:txBody>
      </p:sp>
      <p:sp>
        <p:nvSpPr>
          <p:cNvPr id="62" name="SUMMER_E_shape_048"/>
          <p:cNvSpPr/>
          <p:nvPr/>
        </p:nvSpPr>
        <p:spPr>
          <a:xfrm>
            <a:off x="4452937" y="1587500"/>
            <a:ext cx="333375" cy="333375"/>
          </a:xfrm>
          <a:prstGeom prst="ellipse">
            <a:avLst/>
          </a:prstGeom>
          <a:solidFill>
            <a:srgbClr val="E9E1FF"/>
          </a:solidFill>
          <a:ln w="1270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UMMER_E_text_049"/>
          <p:cNvSpPr txBox="1"/>
          <p:nvPr/>
        </p:nvSpPr>
        <p:spPr>
          <a:xfrm>
            <a:off x="4452937" y="1587500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64" name="SUMMER_E_shape_050"/>
          <p:cNvSpPr/>
          <p:nvPr/>
        </p:nvSpPr>
        <p:spPr>
          <a:xfrm>
            <a:off x="4452937" y="2055812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UMMER_E_text_051"/>
          <p:cNvSpPr txBox="1"/>
          <p:nvPr/>
        </p:nvSpPr>
        <p:spPr>
          <a:xfrm>
            <a:off x="4452937" y="2055812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66" name="SUMMER_E_shape_052"/>
          <p:cNvSpPr/>
          <p:nvPr/>
        </p:nvSpPr>
        <p:spPr>
          <a:xfrm>
            <a:off x="4452937" y="2563812"/>
            <a:ext cx="333375" cy="333375"/>
          </a:xfrm>
          <a:prstGeom prst="ellipse">
            <a:avLst/>
          </a:prstGeom>
          <a:solidFill>
            <a:srgbClr val="E9E1FF"/>
          </a:solidFill>
          <a:ln w="1270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UMMER_E_text_053"/>
          <p:cNvSpPr txBox="1"/>
          <p:nvPr/>
        </p:nvSpPr>
        <p:spPr>
          <a:xfrm>
            <a:off x="4452937" y="2563812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68" name="SUMMER_E_shape_054"/>
          <p:cNvSpPr/>
          <p:nvPr/>
        </p:nvSpPr>
        <p:spPr>
          <a:xfrm>
            <a:off x="4452937" y="3175000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UMMER_E_text_055"/>
          <p:cNvSpPr txBox="1"/>
          <p:nvPr/>
        </p:nvSpPr>
        <p:spPr>
          <a:xfrm>
            <a:off x="4452937" y="3175000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cxnSp>
        <p:nvCxnSpPr>
          <p:cNvPr id="70" name="SUMMER_L_line_056"/>
          <p:cNvCxnSpPr/>
          <p:nvPr/>
        </p:nvCxnSpPr>
        <p:spPr>
          <a:xfrm>
            <a:off x="4619625" y="1428750"/>
            <a:ext cx="0" cy="15875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UMMER_L_line_057"/>
          <p:cNvCxnSpPr/>
          <p:nvPr/>
        </p:nvCxnSpPr>
        <p:spPr>
          <a:xfrm>
            <a:off x="4619625" y="1920875"/>
            <a:ext cx="0" cy="134937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UMMER_L_line_058"/>
          <p:cNvCxnSpPr/>
          <p:nvPr/>
        </p:nvCxnSpPr>
        <p:spPr>
          <a:xfrm>
            <a:off x="4619625" y="2389187"/>
            <a:ext cx="0" cy="174625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UMMER_L_line_059"/>
          <p:cNvCxnSpPr/>
          <p:nvPr/>
        </p:nvCxnSpPr>
        <p:spPr>
          <a:xfrm>
            <a:off x="4619625" y="2897187"/>
            <a:ext cx="0" cy="277813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SUMMER_E_shape_060"/>
          <p:cNvSpPr/>
          <p:nvPr/>
        </p:nvSpPr>
        <p:spPr>
          <a:xfrm>
            <a:off x="3992562" y="2127250"/>
            <a:ext cx="246062" cy="190500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UMMER_E_text_061"/>
          <p:cNvSpPr txBox="1"/>
          <p:nvPr/>
        </p:nvSpPr>
        <p:spPr>
          <a:xfrm>
            <a:off x="3992562" y="2127250"/>
            <a:ext cx="24606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B5A1C"/>
                </a:solidFill>
                <a:latin typeface="PingFang SC"/>
              </a:rPr>
              <a:t>C4</a:t>
            </a:r>
          </a:p>
        </p:txBody>
      </p:sp>
      <p:cxnSp>
        <p:nvCxnSpPr>
          <p:cNvPr id="76" name="SUMMER_L_line_062"/>
          <p:cNvCxnSpPr/>
          <p:nvPr/>
        </p:nvCxnSpPr>
        <p:spPr>
          <a:xfrm>
            <a:off x="4238625" y="2222500"/>
            <a:ext cx="214312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SUMMER_E_shape_063"/>
          <p:cNvSpPr/>
          <p:nvPr/>
        </p:nvSpPr>
        <p:spPr>
          <a:xfrm>
            <a:off x="3992562" y="3246437"/>
            <a:ext cx="246062" cy="190500"/>
          </a:xfrm>
          <a:prstGeom prst="roundRect">
            <a:avLst>
              <a:gd name="adj" fmla="val 8000"/>
            </a:avLst>
          </a:prstGeom>
          <a:solidFill>
            <a:srgbClr val="FFF0DE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UMMER_E_text_064"/>
          <p:cNvSpPr txBox="1"/>
          <p:nvPr/>
        </p:nvSpPr>
        <p:spPr>
          <a:xfrm>
            <a:off x="3992562" y="3246437"/>
            <a:ext cx="24606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11111"/>
                </a:solidFill>
                <a:latin typeface="PingFang SC"/>
              </a:rPr>
              <a:t>C3</a:t>
            </a:r>
          </a:p>
        </p:txBody>
      </p:sp>
      <p:cxnSp>
        <p:nvCxnSpPr>
          <p:cNvPr id="79" name="SUMMER_L_line_065"/>
          <p:cNvCxnSpPr/>
          <p:nvPr/>
        </p:nvCxnSpPr>
        <p:spPr>
          <a:xfrm>
            <a:off x="4238625" y="3341687"/>
            <a:ext cx="214312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UMMER_L_line_066"/>
          <p:cNvCxnSpPr/>
          <p:nvPr/>
        </p:nvCxnSpPr>
        <p:spPr>
          <a:xfrm>
            <a:off x="4786312" y="2222500"/>
            <a:ext cx="357188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UMMER_L_line_067"/>
          <p:cNvCxnSpPr/>
          <p:nvPr/>
        </p:nvCxnSpPr>
        <p:spPr>
          <a:xfrm>
            <a:off x="4786312" y="3341687"/>
            <a:ext cx="357188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SUMMER_E_shape_068"/>
          <p:cNvSpPr/>
          <p:nvPr/>
        </p:nvSpPr>
        <p:spPr>
          <a:xfrm>
            <a:off x="5151437" y="2063750"/>
            <a:ext cx="738187" cy="301625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UMMER_E_text_069"/>
          <p:cNvSpPr txBox="1"/>
          <p:nvPr/>
        </p:nvSpPr>
        <p:spPr>
          <a:xfrm>
            <a:off x="5151437" y="2063750"/>
            <a:ext cx="738187" cy="3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>
                <a:solidFill>
                  <a:srgbClr val="111111"/>
                </a:solidFill>
                <a:latin typeface="PingFang SC"/>
              </a:rPr>
              <a:t>CGAFusion</a:t>
            </a:r>
          </a:p>
        </p:txBody>
      </p:sp>
      <p:sp>
        <p:nvSpPr>
          <p:cNvPr id="84" name="SUMMER_E_shape_070"/>
          <p:cNvSpPr/>
          <p:nvPr/>
        </p:nvSpPr>
        <p:spPr>
          <a:xfrm>
            <a:off x="5151437" y="3182937"/>
            <a:ext cx="738187" cy="301625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UMMER_E_text_071"/>
          <p:cNvSpPr txBox="1"/>
          <p:nvPr/>
        </p:nvSpPr>
        <p:spPr>
          <a:xfrm>
            <a:off x="5151437" y="3182937"/>
            <a:ext cx="738187" cy="30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30" b="0">
                <a:solidFill>
                  <a:srgbClr val="111111"/>
                </a:solidFill>
                <a:latin typeface="PingFang SC"/>
              </a:rPr>
              <a:t>CGAFusion</a:t>
            </a:r>
          </a:p>
        </p:txBody>
      </p:sp>
      <p:cxnSp>
        <p:nvCxnSpPr>
          <p:cNvPr id="86" name="SUMMER_L_line_072"/>
          <p:cNvCxnSpPr/>
          <p:nvPr/>
        </p:nvCxnSpPr>
        <p:spPr>
          <a:xfrm flipV="1">
            <a:off x="5524500" y="2730500"/>
            <a:ext cx="0" cy="452437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UMMER_L_line_073"/>
          <p:cNvCxnSpPr/>
          <p:nvPr/>
        </p:nvCxnSpPr>
        <p:spPr>
          <a:xfrm flipH="1">
            <a:off x="4786312" y="2730500"/>
            <a:ext cx="738188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UMMER_L_neck_bottom_cga_skip"/>
          <p:cNvCxnSpPr/>
          <p:nvPr/>
        </p:nvCxnSpPr>
        <p:spPr>
          <a:xfrm flipV="1">
            <a:off x="5524500" y="3032125"/>
            <a:ext cx="0" cy="150812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SUMMER_E_shape_074"/>
          <p:cNvSpPr/>
          <p:nvPr/>
        </p:nvSpPr>
        <p:spPr>
          <a:xfrm>
            <a:off x="6921500" y="1285875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UMMER_E_text_075"/>
          <p:cNvSpPr txBox="1"/>
          <p:nvPr/>
        </p:nvSpPr>
        <p:spPr>
          <a:xfrm>
            <a:off x="6921500" y="1285875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91" name="SUMMER_E_shape_076"/>
          <p:cNvSpPr/>
          <p:nvPr/>
        </p:nvSpPr>
        <p:spPr>
          <a:xfrm>
            <a:off x="6913562" y="1738312"/>
            <a:ext cx="349250" cy="349250"/>
          </a:xfrm>
          <a:prstGeom prst="ellipse">
            <a:avLst/>
          </a:prstGeom>
          <a:solidFill>
            <a:srgbClr val="FFF0DE"/>
          </a:solidFill>
          <a:ln w="1270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MER_E_text_077"/>
          <p:cNvSpPr txBox="1"/>
          <p:nvPr/>
        </p:nvSpPr>
        <p:spPr>
          <a:xfrm>
            <a:off x="6913562" y="1738312"/>
            <a:ext cx="349250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93" name="SUMMER_E_shape_078"/>
          <p:cNvSpPr/>
          <p:nvPr/>
        </p:nvSpPr>
        <p:spPr>
          <a:xfrm>
            <a:off x="6850062" y="2238375"/>
            <a:ext cx="468312" cy="214312"/>
          </a:xfrm>
          <a:prstGeom prst="roundRect">
            <a:avLst>
              <a:gd name="adj" fmla="val 8000"/>
            </a:avLst>
          </a:prstGeom>
          <a:solidFill>
            <a:srgbClr val="FFF0DE"/>
          </a:solidFill>
          <a:ln w="889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UMMER_E_text_079"/>
          <p:cNvSpPr txBox="1"/>
          <p:nvPr/>
        </p:nvSpPr>
        <p:spPr>
          <a:xfrm>
            <a:off x="6850062" y="2238375"/>
            <a:ext cx="468312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PingFang SC"/>
              </a:rPr>
              <a:t>LOSC</a:t>
            </a:r>
          </a:p>
        </p:txBody>
      </p:sp>
      <p:sp>
        <p:nvSpPr>
          <p:cNvPr id="95" name="SUMMER_E_shape_080"/>
          <p:cNvSpPr/>
          <p:nvPr/>
        </p:nvSpPr>
        <p:spPr>
          <a:xfrm>
            <a:off x="6921500" y="2547937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UMMER_E_text_081"/>
          <p:cNvSpPr txBox="1"/>
          <p:nvPr/>
        </p:nvSpPr>
        <p:spPr>
          <a:xfrm>
            <a:off x="6921500" y="2547937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97" name="SUMMER_E_shape_082"/>
          <p:cNvSpPr/>
          <p:nvPr/>
        </p:nvSpPr>
        <p:spPr>
          <a:xfrm>
            <a:off x="6913562" y="3000375"/>
            <a:ext cx="349250" cy="349250"/>
          </a:xfrm>
          <a:prstGeom prst="ellipse">
            <a:avLst/>
          </a:prstGeom>
          <a:solidFill>
            <a:srgbClr val="FFF0DE"/>
          </a:solidFill>
          <a:ln w="1270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UMMER_E_text_083"/>
          <p:cNvSpPr txBox="1"/>
          <p:nvPr/>
        </p:nvSpPr>
        <p:spPr>
          <a:xfrm>
            <a:off x="6913562" y="3000375"/>
            <a:ext cx="349250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99" name="SUMMER_E_shape_084"/>
          <p:cNvSpPr/>
          <p:nvPr/>
        </p:nvSpPr>
        <p:spPr>
          <a:xfrm>
            <a:off x="6921500" y="3548062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UMMER_E_text_085"/>
          <p:cNvSpPr txBox="1"/>
          <p:nvPr/>
        </p:nvSpPr>
        <p:spPr>
          <a:xfrm>
            <a:off x="6921500" y="3548062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cxnSp>
        <p:nvCxnSpPr>
          <p:cNvPr id="101" name="SUMMER_L_line_086"/>
          <p:cNvCxnSpPr/>
          <p:nvPr/>
        </p:nvCxnSpPr>
        <p:spPr>
          <a:xfrm>
            <a:off x="7088187" y="1619250"/>
            <a:ext cx="0" cy="119062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UMMER_L_line_087"/>
          <p:cNvCxnSpPr/>
          <p:nvPr/>
        </p:nvCxnSpPr>
        <p:spPr>
          <a:xfrm>
            <a:off x="7088187" y="2087562"/>
            <a:ext cx="0" cy="150813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UMMER_L_line_088"/>
          <p:cNvCxnSpPr/>
          <p:nvPr/>
        </p:nvCxnSpPr>
        <p:spPr>
          <a:xfrm>
            <a:off x="7088187" y="2452687"/>
            <a:ext cx="0" cy="9525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UMMER_L_line_089"/>
          <p:cNvCxnSpPr/>
          <p:nvPr/>
        </p:nvCxnSpPr>
        <p:spPr>
          <a:xfrm>
            <a:off x="7088187" y="2881312"/>
            <a:ext cx="0" cy="119063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UMMER_L_line_090"/>
          <p:cNvCxnSpPr/>
          <p:nvPr/>
        </p:nvCxnSpPr>
        <p:spPr>
          <a:xfrm>
            <a:off x="7088187" y="3349625"/>
            <a:ext cx="0" cy="198437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UMMER_L_line_091"/>
          <p:cNvCxnSpPr/>
          <p:nvPr/>
        </p:nvCxnSpPr>
        <p:spPr>
          <a:xfrm>
            <a:off x="5889625" y="2222500"/>
            <a:ext cx="28575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UMMER_L_line_092"/>
          <p:cNvCxnSpPr/>
          <p:nvPr/>
        </p:nvCxnSpPr>
        <p:spPr>
          <a:xfrm flipV="1">
            <a:off x="6175375" y="1452562"/>
            <a:ext cx="0" cy="769938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UMMER_L_line_093"/>
          <p:cNvCxnSpPr/>
          <p:nvPr/>
        </p:nvCxnSpPr>
        <p:spPr>
          <a:xfrm>
            <a:off x="6175375" y="1452562"/>
            <a:ext cx="746125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UMMER_L_line_094"/>
          <p:cNvCxnSpPr/>
          <p:nvPr/>
        </p:nvCxnSpPr>
        <p:spPr>
          <a:xfrm>
            <a:off x="5889625" y="3341687"/>
            <a:ext cx="28575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UMMER_L_line_095"/>
          <p:cNvCxnSpPr/>
          <p:nvPr/>
        </p:nvCxnSpPr>
        <p:spPr>
          <a:xfrm flipV="1">
            <a:off x="6175375" y="2714625"/>
            <a:ext cx="0" cy="627062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UMMER_L_line_096"/>
          <p:cNvCxnSpPr/>
          <p:nvPr/>
        </p:nvCxnSpPr>
        <p:spPr>
          <a:xfrm>
            <a:off x="6175375" y="2714625"/>
            <a:ext cx="746125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UMMER_L_line_097"/>
          <p:cNvCxnSpPr/>
          <p:nvPr/>
        </p:nvCxnSpPr>
        <p:spPr>
          <a:xfrm>
            <a:off x="5524500" y="3484562"/>
            <a:ext cx="0" cy="230188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UMMER_L_line_098"/>
          <p:cNvCxnSpPr/>
          <p:nvPr/>
        </p:nvCxnSpPr>
        <p:spPr>
          <a:xfrm>
            <a:off x="5524500" y="3714750"/>
            <a:ext cx="1397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UMMER_L_line_099"/>
          <p:cNvCxnSpPr/>
          <p:nvPr/>
        </p:nvCxnSpPr>
        <p:spPr>
          <a:xfrm>
            <a:off x="7254875" y="1452562"/>
            <a:ext cx="452437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UMMER_L_line_100"/>
          <p:cNvCxnSpPr/>
          <p:nvPr/>
        </p:nvCxnSpPr>
        <p:spPr>
          <a:xfrm>
            <a:off x="7254875" y="2714625"/>
            <a:ext cx="452437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UMMER_L_line_101"/>
          <p:cNvCxnSpPr/>
          <p:nvPr/>
        </p:nvCxnSpPr>
        <p:spPr>
          <a:xfrm>
            <a:off x="7254875" y="3714750"/>
            <a:ext cx="452437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SUMMER_E_shape_102"/>
          <p:cNvSpPr/>
          <p:nvPr/>
        </p:nvSpPr>
        <p:spPr>
          <a:xfrm>
            <a:off x="7715250" y="1285875"/>
            <a:ext cx="309562" cy="309562"/>
          </a:xfrm>
          <a:prstGeom prst="cube">
            <a:avLst/>
          </a:prstGeom>
          <a:solidFill>
            <a:srgbClr val="DDEAFF"/>
          </a:solidFill>
          <a:ln w="8890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UMMER_E_shape_103"/>
          <p:cNvSpPr/>
          <p:nvPr/>
        </p:nvSpPr>
        <p:spPr>
          <a:xfrm>
            <a:off x="7715250" y="2547937"/>
            <a:ext cx="309562" cy="309562"/>
          </a:xfrm>
          <a:prstGeom prst="cube">
            <a:avLst/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UMMER_E_shape_104"/>
          <p:cNvSpPr/>
          <p:nvPr/>
        </p:nvSpPr>
        <p:spPr>
          <a:xfrm>
            <a:off x="7715250" y="3548062"/>
            <a:ext cx="309562" cy="309562"/>
          </a:xfrm>
          <a:prstGeom prst="cube">
            <a:avLst/>
          </a:prstGeom>
          <a:solidFill>
            <a:srgbClr val="FFF0DE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UMMER_E_text_105"/>
          <p:cNvSpPr txBox="1"/>
          <p:nvPr/>
        </p:nvSpPr>
        <p:spPr>
          <a:xfrm>
            <a:off x="8080375" y="1238250"/>
            <a:ext cx="3492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P5
20×C</a:t>
            </a:r>
          </a:p>
        </p:txBody>
      </p:sp>
      <p:sp>
        <p:nvSpPr>
          <p:cNvPr id="121" name="SUMMER_E_text_106"/>
          <p:cNvSpPr txBox="1"/>
          <p:nvPr/>
        </p:nvSpPr>
        <p:spPr>
          <a:xfrm>
            <a:off x="8080375" y="2500312"/>
            <a:ext cx="3492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5A1C"/>
                </a:solidFill>
                <a:latin typeface="PingFang SC"/>
              </a:rPr>
              <a:t>P4
40×C</a:t>
            </a:r>
          </a:p>
        </p:txBody>
      </p:sp>
      <p:sp>
        <p:nvSpPr>
          <p:cNvPr id="122" name="SUMMER_E_text_107"/>
          <p:cNvSpPr txBox="1"/>
          <p:nvPr/>
        </p:nvSpPr>
        <p:spPr>
          <a:xfrm>
            <a:off x="8080375" y="3500437"/>
            <a:ext cx="3492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2D19"/>
                </a:solidFill>
                <a:latin typeface="PingFang SC"/>
              </a:rPr>
              <a:t>P3
80×C</a:t>
            </a:r>
          </a:p>
        </p:txBody>
      </p:sp>
      <p:sp>
        <p:nvSpPr>
          <p:cNvPr id="123" name="SUMMER_E_shape_108"/>
          <p:cNvSpPr/>
          <p:nvPr/>
        </p:nvSpPr>
        <p:spPr>
          <a:xfrm>
            <a:off x="4087812" y="3976687"/>
            <a:ext cx="1881187" cy="269875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C9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UMMER_E_text_109"/>
          <p:cNvSpPr txBox="1"/>
          <p:nvPr/>
        </p:nvSpPr>
        <p:spPr>
          <a:xfrm>
            <a:off x="4087812" y="3976687"/>
            <a:ext cx="1881187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B3EE3"/>
                </a:solidFill>
                <a:latin typeface="PingFang SC"/>
              </a:rPr>
              <a:t>CGAFusion（高低频自适应融合）</a:t>
            </a:r>
          </a:p>
        </p:txBody>
      </p:sp>
      <p:sp>
        <p:nvSpPr>
          <p:cNvPr id="125" name="SUMMER_E_shape_110"/>
          <p:cNvSpPr/>
          <p:nvPr/>
        </p:nvSpPr>
        <p:spPr>
          <a:xfrm>
            <a:off x="6143625" y="3976687"/>
            <a:ext cx="1762125" cy="269875"/>
          </a:xfrm>
          <a:prstGeom prst="roundRect">
            <a:avLst>
              <a:gd name="adj" fmla="val 8000"/>
            </a:avLst>
          </a:prstGeom>
          <a:solidFill>
            <a:srgbClr val="FFF0DE"/>
          </a:solidFill>
          <a:ln w="8890">
            <a:solidFill>
              <a:srgbClr val="FF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UMMER_E_text_111"/>
          <p:cNvSpPr txBox="1"/>
          <p:nvPr/>
        </p:nvSpPr>
        <p:spPr>
          <a:xfrm>
            <a:off x="6143625" y="3976687"/>
            <a:ext cx="1762125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2D19"/>
                </a:solidFill>
                <a:latin typeface="PingFang SC"/>
              </a:rPr>
              <a:t>LOSC（方向性下采样建模）</a:t>
            </a:r>
          </a:p>
        </p:txBody>
      </p:sp>
      <p:sp>
        <p:nvSpPr>
          <p:cNvPr id="127" name="SUMMER_E_text_112"/>
          <p:cNvSpPr txBox="1"/>
          <p:nvPr/>
        </p:nvSpPr>
        <p:spPr>
          <a:xfrm>
            <a:off x="8588375" y="722312"/>
            <a:ext cx="1889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4B0DBD"/>
                </a:solidFill>
                <a:latin typeface="PingFang SC"/>
              </a:rPr>
              <a:t>Head: RT-DETR 原始检测头</a:t>
            </a:r>
          </a:p>
        </p:txBody>
      </p:sp>
      <p:sp>
        <p:nvSpPr>
          <p:cNvPr id="128" name="SUMMER_E_shape_113"/>
          <p:cNvSpPr/>
          <p:nvPr/>
        </p:nvSpPr>
        <p:spPr>
          <a:xfrm>
            <a:off x="8620125" y="1143000"/>
            <a:ext cx="1833562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8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UMMER_E_text_114"/>
          <p:cNvSpPr txBox="1"/>
          <p:nvPr/>
        </p:nvSpPr>
        <p:spPr>
          <a:xfrm>
            <a:off x="8890000" y="1254125"/>
            <a:ext cx="1309687" cy="365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PingFang SC"/>
              </a:rPr>
              <a:t>IoU-Aware
Query Selection</a:t>
            </a:r>
          </a:p>
        </p:txBody>
      </p:sp>
      <p:sp>
        <p:nvSpPr>
          <p:cNvPr id="130" name="SUMMER_E_shape_115"/>
          <p:cNvSpPr/>
          <p:nvPr/>
        </p:nvSpPr>
        <p:spPr>
          <a:xfrm>
            <a:off x="88979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UMMER_E_shape_116"/>
          <p:cNvSpPr/>
          <p:nvPr/>
        </p:nvSpPr>
        <p:spPr>
          <a:xfrm>
            <a:off x="90884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UMMER_E_shape_117"/>
          <p:cNvSpPr/>
          <p:nvPr/>
        </p:nvSpPr>
        <p:spPr>
          <a:xfrm>
            <a:off x="92789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UMMER_E_shape_118"/>
          <p:cNvSpPr/>
          <p:nvPr/>
        </p:nvSpPr>
        <p:spPr>
          <a:xfrm>
            <a:off x="94694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UMMER_E_shape_119"/>
          <p:cNvSpPr/>
          <p:nvPr/>
        </p:nvSpPr>
        <p:spPr>
          <a:xfrm>
            <a:off x="96599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UMMER_E_shape_120"/>
          <p:cNvSpPr/>
          <p:nvPr/>
        </p:nvSpPr>
        <p:spPr>
          <a:xfrm>
            <a:off x="9850437" y="1722437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UMMER_E_text_121"/>
          <p:cNvSpPr txBox="1"/>
          <p:nvPr/>
        </p:nvSpPr>
        <p:spPr>
          <a:xfrm>
            <a:off x="10033000" y="1698625"/>
            <a:ext cx="317500" cy="17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PingFang SC"/>
              </a:rPr>
              <a:t>••••</a:t>
            </a:r>
          </a:p>
        </p:txBody>
      </p:sp>
      <p:cxnSp>
        <p:nvCxnSpPr>
          <p:cNvPr id="137" name="SUMMER_L_line_122"/>
          <p:cNvCxnSpPr/>
          <p:nvPr/>
        </p:nvCxnSpPr>
        <p:spPr>
          <a:xfrm>
            <a:off x="9532937" y="2095500"/>
            <a:ext cx="0" cy="198437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SUMMER_E_shape_123"/>
          <p:cNvSpPr/>
          <p:nvPr/>
        </p:nvSpPr>
        <p:spPr>
          <a:xfrm>
            <a:off x="8620125" y="2301875"/>
            <a:ext cx="1833562" cy="1095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8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UMMER_E_text_124"/>
          <p:cNvSpPr txBox="1"/>
          <p:nvPr/>
        </p:nvSpPr>
        <p:spPr>
          <a:xfrm>
            <a:off x="8731250" y="2405062"/>
            <a:ext cx="15875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PingFang SC"/>
              </a:rPr>
              <a:t>Transformer Decoder × 6 层</a:t>
            </a:r>
          </a:p>
        </p:txBody>
      </p:sp>
      <p:cxnSp>
        <p:nvCxnSpPr>
          <p:cNvPr id="140" name="SUMMER_L_line_125"/>
          <p:cNvCxnSpPr/>
          <p:nvPr/>
        </p:nvCxnSpPr>
        <p:spPr>
          <a:xfrm>
            <a:off x="8818562" y="3048000"/>
            <a:ext cx="1381125" cy="0"/>
          </a:xfrm>
          <a:prstGeom prst="line">
            <a:avLst/>
          </a:prstGeom>
          <a:ln w="8890">
            <a:solidFill>
              <a:srgbClr val="8C6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SUMMER_E_shape_126"/>
          <p:cNvSpPr/>
          <p:nvPr/>
        </p:nvSpPr>
        <p:spPr>
          <a:xfrm>
            <a:off x="8747125" y="2952750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SUMMER_L_line_127"/>
          <p:cNvCxnSpPr/>
          <p:nvPr/>
        </p:nvCxnSpPr>
        <p:spPr>
          <a:xfrm>
            <a:off x="8818562" y="2889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UMMER_L_line_128"/>
          <p:cNvCxnSpPr/>
          <p:nvPr/>
        </p:nvCxnSpPr>
        <p:spPr>
          <a:xfrm>
            <a:off x="8818562" y="3143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SUMMER_E_shape_129"/>
          <p:cNvSpPr/>
          <p:nvPr/>
        </p:nvSpPr>
        <p:spPr>
          <a:xfrm>
            <a:off x="9092406" y="2952750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SUMMER_L_line_130"/>
          <p:cNvCxnSpPr/>
          <p:nvPr/>
        </p:nvCxnSpPr>
        <p:spPr>
          <a:xfrm>
            <a:off x="9163843" y="2889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UMMER_L_line_131"/>
          <p:cNvCxnSpPr/>
          <p:nvPr/>
        </p:nvCxnSpPr>
        <p:spPr>
          <a:xfrm>
            <a:off x="9163843" y="3143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SUMMER_E_shape_132"/>
          <p:cNvSpPr/>
          <p:nvPr/>
        </p:nvSpPr>
        <p:spPr>
          <a:xfrm>
            <a:off x="9437687" y="2952750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SUMMER_L_line_133"/>
          <p:cNvCxnSpPr/>
          <p:nvPr/>
        </p:nvCxnSpPr>
        <p:spPr>
          <a:xfrm>
            <a:off x="9509125" y="2889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UMMER_L_line_134"/>
          <p:cNvCxnSpPr/>
          <p:nvPr/>
        </p:nvCxnSpPr>
        <p:spPr>
          <a:xfrm>
            <a:off x="9509125" y="3143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SUMMER_E_shape_135"/>
          <p:cNvSpPr/>
          <p:nvPr/>
        </p:nvSpPr>
        <p:spPr>
          <a:xfrm>
            <a:off x="9782968" y="2952750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SUMMER_L_line_136"/>
          <p:cNvCxnSpPr/>
          <p:nvPr/>
        </p:nvCxnSpPr>
        <p:spPr>
          <a:xfrm>
            <a:off x="9854406" y="2889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UMMER_L_line_137"/>
          <p:cNvCxnSpPr/>
          <p:nvPr/>
        </p:nvCxnSpPr>
        <p:spPr>
          <a:xfrm>
            <a:off x="9854406" y="3143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SUMMER_E_shape_138"/>
          <p:cNvSpPr/>
          <p:nvPr/>
        </p:nvSpPr>
        <p:spPr>
          <a:xfrm>
            <a:off x="10128250" y="2952750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SUMMER_L_line_139"/>
          <p:cNvCxnSpPr/>
          <p:nvPr/>
        </p:nvCxnSpPr>
        <p:spPr>
          <a:xfrm>
            <a:off x="10199687" y="2889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UMMER_L_line_140"/>
          <p:cNvCxnSpPr/>
          <p:nvPr/>
        </p:nvCxnSpPr>
        <p:spPr>
          <a:xfrm>
            <a:off x="10199687" y="3143250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SUMMER_E_text_141"/>
          <p:cNvSpPr txBox="1"/>
          <p:nvPr/>
        </p:nvSpPr>
        <p:spPr>
          <a:xfrm>
            <a:off x="9702482" y="2936875"/>
            <a:ext cx="142875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PingFang SC"/>
              </a:rPr>
              <a:t>••••</a:t>
            </a:r>
          </a:p>
        </p:txBody>
      </p:sp>
      <p:cxnSp>
        <p:nvCxnSpPr>
          <p:cNvPr id="157" name="SUMMER_L_line_142"/>
          <p:cNvCxnSpPr/>
          <p:nvPr/>
        </p:nvCxnSpPr>
        <p:spPr>
          <a:xfrm>
            <a:off x="9532937" y="3397250"/>
            <a:ext cx="0" cy="87312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SUMMER_E_shape_143"/>
          <p:cNvSpPr/>
          <p:nvPr/>
        </p:nvSpPr>
        <p:spPr>
          <a:xfrm>
            <a:off x="8620125" y="3484562"/>
            <a:ext cx="1833562" cy="7461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8D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UMMER_E_text_144"/>
          <p:cNvSpPr txBox="1"/>
          <p:nvPr/>
        </p:nvSpPr>
        <p:spPr>
          <a:xfrm>
            <a:off x="8715375" y="3548062"/>
            <a:ext cx="162718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PingFang SC"/>
              </a:rPr>
              <a:t>输出：
类别概率 + 归一化边界框坐标</a:t>
            </a:r>
          </a:p>
        </p:txBody>
      </p:sp>
      <p:cxnSp>
        <p:nvCxnSpPr>
          <p:cNvPr id="160" name="SUMMER_L_line_145"/>
          <p:cNvCxnSpPr/>
          <p:nvPr/>
        </p:nvCxnSpPr>
        <p:spPr>
          <a:xfrm>
            <a:off x="8969375" y="4175125"/>
            <a:ext cx="333375" cy="0"/>
          </a:xfrm>
          <a:prstGeom prst="line">
            <a:avLst/>
          </a:prstGeom>
          <a:ln w="12700">
            <a:solidFill>
              <a:srgbClr val="4B0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UMMER_L_line_146"/>
          <p:cNvCxnSpPr/>
          <p:nvPr/>
        </p:nvCxnSpPr>
        <p:spPr>
          <a:xfrm flipV="1">
            <a:off x="8969375" y="3833749"/>
            <a:ext cx="0" cy="341376"/>
          </a:xfrm>
          <a:prstGeom prst="line">
            <a:avLst/>
          </a:prstGeom>
          <a:ln w="12700">
            <a:solidFill>
              <a:srgbClr val="4B0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SUMMER_E_shape_147"/>
          <p:cNvSpPr/>
          <p:nvPr/>
        </p:nvSpPr>
        <p:spPr>
          <a:xfrm>
            <a:off x="8993187" y="4035425"/>
            <a:ext cx="39687" cy="139700"/>
          </a:xfrm>
          <a:prstGeom prst="rect">
            <a:avLst/>
          </a:prstGeom>
          <a:solidFill>
            <a:srgbClr val="4B0DBD"/>
          </a:solidFill>
          <a:ln w="381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UMMER_E_shape_148"/>
          <p:cNvSpPr/>
          <p:nvPr/>
        </p:nvSpPr>
        <p:spPr>
          <a:xfrm>
            <a:off x="9048750" y="4098925"/>
            <a:ext cx="39687" cy="76200"/>
          </a:xfrm>
          <a:prstGeom prst="rect">
            <a:avLst/>
          </a:prstGeom>
          <a:solidFill>
            <a:srgbClr val="4B0DBD"/>
          </a:solidFill>
          <a:ln w="381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UMMER_E_shape_149"/>
          <p:cNvSpPr/>
          <p:nvPr/>
        </p:nvSpPr>
        <p:spPr>
          <a:xfrm>
            <a:off x="9104312" y="3992244"/>
            <a:ext cx="39687" cy="182879"/>
          </a:xfrm>
          <a:prstGeom prst="rect">
            <a:avLst/>
          </a:prstGeom>
          <a:solidFill>
            <a:srgbClr val="4B0DBD"/>
          </a:solidFill>
          <a:ln w="381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UMMER_E_shape_150"/>
          <p:cNvSpPr/>
          <p:nvPr/>
        </p:nvSpPr>
        <p:spPr>
          <a:xfrm>
            <a:off x="9159875" y="4068444"/>
            <a:ext cx="39687" cy="106680"/>
          </a:xfrm>
          <a:prstGeom prst="rect">
            <a:avLst/>
          </a:prstGeom>
          <a:solidFill>
            <a:srgbClr val="4B0DBD"/>
          </a:solidFill>
          <a:ln w="381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UMMER_E_shape_151"/>
          <p:cNvSpPr/>
          <p:nvPr/>
        </p:nvSpPr>
        <p:spPr>
          <a:xfrm>
            <a:off x="9215437" y="4119245"/>
            <a:ext cx="39687" cy="55880"/>
          </a:xfrm>
          <a:prstGeom prst="rect">
            <a:avLst/>
          </a:prstGeom>
          <a:solidFill>
            <a:srgbClr val="4B0DBD"/>
          </a:solidFill>
          <a:ln w="381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SUMMER_L_line_152"/>
          <p:cNvCxnSpPr/>
          <p:nvPr/>
        </p:nvCxnSpPr>
        <p:spPr>
          <a:xfrm>
            <a:off x="9683750" y="3913187"/>
            <a:ext cx="277812" cy="0"/>
          </a:xfrm>
          <a:prstGeom prst="line">
            <a:avLst/>
          </a:prstGeom>
          <a:ln w="15240">
            <a:solidFill>
              <a:srgbClr val="2E6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UMMER_L_line_153"/>
          <p:cNvCxnSpPr/>
          <p:nvPr/>
        </p:nvCxnSpPr>
        <p:spPr>
          <a:xfrm>
            <a:off x="9961562" y="3913187"/>
            <a:ext cx="0" cy="261938"/>
          </a:xfrm>
          <a:prstGeom prst="line">
            <a:avLst/>
          </a:prstGeom>
          <a:ln w="15240">
            <a:solidFill>
              <a:srgbClr val="2E6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UMMER_L_line_154"/>
          <p:cNvCxnSpPr/>
          <p:nvPr/>
        </p:nvCxnSpPr>
        <p:spPr>
          <a:xfrm flipH="1">
            <a:off x="9683750" y="4175125"/>
            <a:ext cx="277812" cy="0"/>
          </a:xfrm>
          <a:prstGeom prst="line">
            <a:avLst/>
          </a:prstGeom>
          <a:ln w="15240">
            <a:solidFill>
              <a:srgbClr val="2E6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UMMER_L_line_155"/>
          <p:cNvCxnSpPr/>
          <p:nvPr/>
        </p:nvCxnSpPr>
        <p:spPr>
          <a:xfrm flipV="1">
            <a:off x="9683750" y="3913187"/>
            <a:ext cx="0" cy="261938"/>
          </a:xfrm>
          <a:prstGeom prst="line">
            <a:avLst/>
          </a:prstGeom>
          <a:ln w="15240">
            <a:solidFill>
              <a:srgbClr val="2E6F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SUMMER_E_text_156"/>
          <p:cNvSpPr txBox="1"/>
          <p:nvPr/>
        </p:nvSpPr>
        <p:spPr>
          <a:xfrm>
            <a:off x="10795000" y="666750"/>
            <a:ext cx="115093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00000"/>
                </a:solidFill>
                <a:latin typeface="PingFang SC"/>
              </a:rPr>
              <a:t>图例说明</a:t>
            </a:r>
          </a:p>
        </p:txBody>
      </p:sp>
      <p:sp>
        <p:nvSpPr>
          <p:cNvPr id="172" name="SUMMER_E_shape_157"/>
          <p:cNvSpPr/>
          <p:nvPr/>
        </p:nvSpPr>
        <p:spPr>
          <a:xfrm>
            <a:off x="10818812" y="952500"/>
            <a:ext cx="174625" cy="174625"/>
          </a:xfrm>
          <a:prstGeom prst="cube">
            <a:avLst/>
          </a:prstGeom>
          <a:solidFill>
            <a:srgbClr val="DDEAFF"/>
          </a:solidFill>
          <a:ln w="8890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UMMER_E_text_158"/>
          <p:cNvSpPr txBox="1"/>
          <p:nvPr/>
        </p:nvSpPr>
        <p:spPr>
          <a:xfrm>
            <a:off x="11049000" y="936625"/>
            <a:ext cx="952500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P5 / C5（20×C）</a:t>
            </a:r>
          </a:p>
        </p:txBody>
      </p:sp>
      <p:sp>
        <p:nvSpPr>
          <p:cNvPr id="174" name="SUMMER_E_shape_159"/>
          <p:cNvSpPr/>
          <p:nvPr/>
        </p:nvSpPr>
        <p:spPr>
          <a:xfrm>
            <a:off x="10818812" y="1254125"/>
            <a:ext cx="174625" cy="174625"/>
          </a:xfrm>
          <a:prstGeom prst="cube">
            <a:avLst/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UMMER_E_text_160"/>
          <p:cNvSpPr txBox="1"/>
          <p:nvPr/>
        </p:nvSpPr>
        <p:spPr>
          <a:xfrm>
            <a:off x="11049000" y="1238250"/>
            <a:ext cx="952500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P4 / C4（40×C）</a:t>
            </a:r>
          </a:p>
        </p:txBody>
      </p:sp>
      <p:sp>
        <p:nvSpPr>
          <p:cNvPr id="176" name="SUMMER_E_shape_161"/>
          <p:cNvSpPr/>
          <p:nvPr/>
        </p:nvSpPr>
        <p:spPr>
          <a:xfrm>
            <a:off x="10818812" y="1555750"/>
            <a:ext cx="174625" cy="174625"/>
          </a:xfrm>
          <a:prstGeom prst="cube">
            <a:avLst/>
          </a:prstGeom>
          <a:solidFill>
            <a:srgbClr val="FFF0DE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UMMER_E_text_162"/>
          <p:cNvSpPr txBox="1"/>
          <p:nvPr/>
        </p:nvSpPr>
        <p:spPr>
          <a:xfrm>
            <a:off x="11049000" y="1539875"/>
            <a:ext cx="952500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P3 / C3（80×C）</a:t>
            </a:r>
          </a:p>
        </p:txBody>
      </p:sp>
      <p:sp>
        <p:nvSpPr>
          <p:cNvPr id="178" name="SUMMER_E_shape_163"/>
          <p:cNvSpPr/>
          <p:nvPr/>
        </p:nvSpPr>
        <p:spPr>
          <a:xfrm>
            <a:off x="10779125" y="1849437"/>
            <a:ext cx="222250" cy="222250"/>
          </a:xfrm>
          <a:prstGeom prst="ellipse">
            <a:avLst/>
          </a:prstGeom>
          <a:solidFill>
            <a:srgbClr val="E9E1FF"/>
          </a:solidFill>
          <a:ln w="1270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UMMER_E_text_164"/>
          <p:cNvSpPr txBox="1"/>
          <p:nvPr/>
        </p:nvSpPr>
        <p:spPr>
          <a:xfrm>
            <a:off x="10779125" y="1849437"/>
            <a:ext cx="2222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PingFang SC"/>
              </a:rPr>
              <a:t>UP
↑</a:t>
            </a:r>
          </a:p>
        </p:txBody>
      </p:sp>
      <p:sp>
        <p:nvSpPr>
          <p:cNvPr id="180" name="SUMMER_E_text_165"/>
          <p:cNvSpPr txBox="1"/>
          <p:nvPr/>
        </p:nvSpPr>
        <p:spPr>
          <a:xfrm>
            <a:off x="11080750" y="1849437"/>
            <a:ext cx="896937" cy="230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上采样（×2）</a:t>
            </a:r>
          </a:p>
        </p:txBody>
      </p:sp>
      <p:sp>
        <p:nvSpPr>
          <p:cNvPr id="181" name="SUMMER_E_shape_166"/>
          <p:cNvSpPr/>
          <p:nvPr/>
        </p:nvSpPr>
        <p:spPr>
          <a:xfrm>
            <a:off x="10779125" y="2206625"/>
            <a:ext cx="222250" cy="222250"/>
          </a:xfrm>
          <a:prstGeom prst="ellipse">
            <a:avLst/>
          </a:prstGeom>
          <a:solidFill>
            <a:srgbClr val="FFF0DE"/>
          </a:solidFill>
          <a:ln w="1270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UMMER_E_text_167"/>
          <p:cNvSpPr txBox="1"/>
          <p:nvPr/>
        </p:nvSpPr>
        <p:spPr>
          <a:xfrm>
            <a:off x="10779125" y="2206625"/>
            <a:ext cx="2222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sp>
        <p:nvSpPr>
          <p:cNvPr id="183" name="SUMMER_E_text_168"/>
          <p:cNvSpPr txBox="1"/>
          <p:nvPr/>
        </p:nvSpPr>
        <p:spPr>
          <a:xfrm>
            <a:off x="11080750" y="2206625"/>
            <a:ext cx="896937" cy="230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下采样（×2）</a:t>
            </a:r>
          </a:p>
        </p:txBody>
      </p:sp>
      <p:sp>
        <p:nvSpPr>
          <p:cNvPr id="184" name="SUMMER_E_shape_169"/>
          <p:cNvSpPr/>
          <p:nvPr/>
        </p:nvSpPr>
        <p:spPr>
          <a:xfrm>
            <a:off x="10779125" y="2547937"/>
            <a:ext cx="222250" cy="222250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UMMER_E_text_170"/>
          <p:cNvSpPr txBox="1"/>
          <p:nvPr/>
        </p:nvSpPr>
        <p:spPr>
          <a:xfrm>
            <a:off x="10779125" y="2547937"/>
            <a:ext cx="22225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sp>
        <p:nvSpPr>
          <p:cNvPr id="186" name="SUMMER_E_text_171"/>
          <p:cNvSpPr txBox="1"/>
          <p:nvPr/>
        </p:nvSpPr>
        <p:spPr>
          <a:xfrm>
            <a:off x="11080750" y="2547937"/>
            <a:ext cx="896937" cy="230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PingFang SC"/>
              </a:rPr>
              <a:t>拼接（Concat）</a:t>
            </a:r>
          </a:p>
        </p:txBody>
      </p:sp>
      <p:sp>
        <p:nvSpPr>
          <p:cNvPr id="187" name="SUMMER_E_shape_172"/>
          <p:cNvSpPr/>
          <p:nvPr/>
        </p:nvSpPr>
        <p:spPr>
          <a:xfrm>
            <a:off x="10755312" y="2905125"/>
            <a:ext cx="277812" cy="198437"/>
          </a:xfrm>
          <a:prstGeom prst="roundRect">
            <a:avLst>
              <a:gd name="adj" fmla="val 8000"/>
            </a:avLst>
          </a:prstGeom>
          <a:solidFill>
            <a:srgbClr val="FFF0DE"/>
          </a:solidFill>
          <a:ln w="889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UMMER_E_text_173"/>
          <p:cNvSpPr txBox="1"/>
          <p:nvPr/>
        </p:nvSpPr>
        <p:spPr>
          <a:xfrm>
            <a:off x="10755312" y="2905125"/>
            <a:ext cx="277812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" b="0">
                <a:solidFill>
                  <a:srgbClr val="111111"/>
                </a:solidFill>
                <a:latin typeface="PingFang SC"/>
              </a:rPr>
              <a:t>LOSC</a:t>
            </a:r>
          </a:p>
        </p:txBody>
      </p:sp>
      <p:sp>
        <p:nvSpPr>
          <p:cNvPr id="189" name="SUMMER_E_text_174"/>
          <p:cNvSpPr txBox="1"/>
          <p:nvPr/>
        </p:nvSpPr>
        <p:spPr>
          <a:xfrm>
            <a:off x="11080750" y="2897187"/>
            <a:ext cx="896937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PingFang SC"/>
              </a:rPr>
              <a:t>方向性下采样建模</a:t>
            </a:r>
          </a:p>
        </p:txBody>
      </p:sp>
      <p:sp>
        <p:nvSpPr>
          <p:cNvPr id="190" name="SUMMER_E_shape_175"/>
          <p:cNvSpPr/>
          <p:nvPr/>
        </p:nvSpPr>
        <p:spPr>
          <a:xfrm>
            <a:off x="10755312" y="3214687"/>
            <a:ext cx="293687" cy="158750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UMMER_E_text_176"/>
          <p:cNvSpPr txBox="1"/>
          <p:nvPr/>
        </p:nvSpPr>
        <p:spPr>
          <a:xfrm>
            <a:off x="10755312" y="3214687"/>
            <a:ext cx="293687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" b="0">
                <a:solidFill>
                  <a:srgbClr val="0B3EE3"/>
                </a:solidFill>
                <a:latin typeface="PingFang SC"/>
              </a:rPr>
              <a:t>CGAFusion</a:t>
            </a:r>
          </a:p>
        </p:txBody>
      </p:sp>
      <p:sp>
        <p:nvSpPr>
          <p:cNvPr id="192" name="SUMMER_E_text_177"/>
          <p:cNvSpPr txBox="1"/>
          <p:nvPr/>
        </p:nvSpPr>
        <p:spPr>
          <a:xfrm>
            <a:off x="11080750" y="3182937"/>
            <a:ext cx="896937" cy="230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PingFang SC"/>
              </a:rPr>
              <a:t>高低频自适应融合</a:t>
            </a:r>
          </a:p>
        </p:txBody>
      </p:sp>
      <p:cxnSp>
        <p:nvCxnSpPr>
          <p:cNvPr id="193" name="SUMMER_L_line_178"/>
          <p:cNvCxnSpPr/>
          <p:nvPr/>
        </p:nvCxnSpPr>
        <p:spPr>
          <a:xfrm>
            <a:off x="10787062" y="3722687"/>
            <a:ext cx="246063" cy="0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SUMMER_E_text_179"/>
          <p:cNvSpPr txBox="1"/>
          <p:nvPr/>
        </p:nvSpPr>
        <p:spPr>
          <a:xfrm>
            <a:off x="11168062" y="3611562"/>
            <a:ext cx="714375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PingFang SC"/>
              </a:rPr>
              <a:t>数据流向</a:t>
            </a:r>
          </a:p>
        </p:txBody>
      </p:sp>
      <p:cxnSp>
        <p:nvCxnSpPr>
          <p:cNvPr id="195" name="SUMMER_L_line_180"/>
          <p:cNvCxnSpPr/>
          <p:nvPr/>
        </p:nvCxnSpPr>
        <p:spPr>
          <a:xfrm>
            <a:off x="10787062" y="4024312"/>
            <a:ext cx="246063" cy="0"/>
          </a:xfrm>
          <a:prstGeom prst="line">
            <a:avLst/>
          </a:prstGeom>
          <a:ln w="10160">
            <a:solidFill>
              <a:srgbClr val="0000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SUMMER_E_text_181"/>
          <p:cNvSpPr txBox="1"/>
          <p:nvPr/>
        </p:nvSpPr>
        <p:spPr>
          <a:xfrm>
            <a:off x="11168062" y="3913187"/>
            <a:ext cx="714375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PingFang SC"/>
              </a:rPr>
              <a:t>跨层连接</a:t>
            </a:r>
          </a:p>
        </p:txBody>
      </p:sp>
      <p:sp>
        <p:nvSpPr>
          <p:cNvPr id="197" name="SUMMER_E_text_182"/>
          <p:cNvSpPr txBox="1"/>
          <p:nvPr/>
        </p:nvSpPr>
        <p:spPr>
          <a:xfrm>
            <a:off x="357187" y="4484687"/>
            <a:ext cx="3254375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3EE3"/>
                </a:solidFill>
                <a:latin typeface="PingFang SC"/>
              </a:rPr>
              <a:t>模块一：CSP-MEEM（多尺度细粒度特征提取）</a:t>
            </a:r>
          </a:p>
        </p:txBody>
      </p:sp>
      <p:sp>
        <p:nvSpPr>
          <p:cNvPr id="198" name="SUMMER_E_text_183"/>
          <p:cNvSpPr txBox="1"/>
          <p:nvPr/>
        </p:nvSpPr>
        <p:spPr>
          <a:xfrm>
            <a:off x="793750" y="4699000"/>
            <a:ext cx="793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PingFang SC"/>
              </a:rPr>
              <a:t>输入图像</a:t>
            </a:r>
          </a:p>
        </p:txBody>
      </p:sp>
      <p:sp>
        <p:nvSpPr>
          <p:cNvPr id="199" name="SUMMER_E_shape_184"/>
          <p:cNvSpPr/>
          <p:nvPr/>
        </p:nvSpPr>
        <p:spPr>
          <a:xfrm>
            <a:off x="873125" y="4897437"/>
            <a:ext cx="468312" cy="325437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UMMER_E_text_185"/>
          <p:cNvSpPr txBox="1"/>
          <p:nvPr/>
        </p:nvSpPr>
        <p:spPr>
          <a:xfrm>
            <a:off x="873125" y="4897437"/>
            <a:ext cx="468312" cy="325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PingFang SC"/>
              </a:rPr>
              <a:t>CSP
分割</a:t>
            </a:r>
          </a:p>
        </p:txBody>
      </p:sp>
      <p:sp>
        <p:nvSpPr>
          <p:cNvPr id="201" name="SUMMER_E_shape_186"/>
          <p:cNvSpPr/>
          <p:nvPr/>
        </p:nvSpPr>
        <p:spPr>
          <a:xfrm>
            <a:off x="309562" y="5373687"/>
            <a:ext cx="365125" cy="198437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UMMER_E_text_187"/>
          <p:cNvSpPr txBox="1"/>
          <p:nvPr/>
        </p:nvSpPr>
        <p:spPr>
          <a:xfrm>
            <a:off x="309562" y="5373687"/>
            <a:ext cx="36512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>
                <a:solidFill>
                  <a:srgbClr val="111111"/>
                </a:solidFill>
                <a:latin typeface="PingFang SC"/>
              </a:rPr>
              <a:t>分支1</a:t>
            </a:r>
          </a:p>
        </p:txBody>
      </p:sp>
      <p:sp>
        <p:nvSpPr>
          <p:cNvPr id="203" name="SUMMER_E_shape_188"/>
          <p:cNvSpPr/>
          <p:nvPr/>
        </p:nvSpPr>
        <p:spPr>
          <a:xfrm>
            <a:off x="920750" y="5373687"/>
            <a:ext cx="365125" cy="198437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UMMER_E_text_189"/>
          <p:cNvSpPr txBox="1"/>
          <p:nvPr/>
        </p:nvSpPr>
        <p:spPr>
          <a:xfrm>
            <a:off x="920750" y="5373687"/>
            <a:ext cx="36512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>
                <a:solidFill>
                  <a:srgbClr val="111111"/>
                </a:solidFill>
                <a:latin typeface="PingFang SC"/>
              </a:rPr>
              <a:t>分支2</a:t>
            </a:r>
          </a:p>
        </p:txBody>
      </p:sp>
      <p:sp>
        <p:nvSpPr>
          <p:cNvPr id="205" name="SUMMER_E_shape_190"/>
          <p:cNvSpPr/>
          <p:nvPr/>
        </p:nvSpPr>
        <p:spPr>
          <a:xfrm>
            <a:off x="1531937" y="5373687"/>
            <a:ext cx="365125" cy="198437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UMMER_E_text_191"/>
          <p:cNvSpPr txBox="1"/>
          <p:nvPr/>
        </p:nvSpPr>
        <p:spPr>
          <a:xfrm>
            <a:off x="1531937" y="5373687"/>
            <a:ext cx="36512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1">
                <a:solidFill>
                  <a:srgbClr val="111111"/>
                </a:solidFill>
                <a:latin typeface="PingFang SC"/>
              </a:rPr>
              <a:t>分支n</a:t>
            </a:r>
          </a:p>
        </p:txBody>
      </p:sp>
      <p:cxnSp>
        <p:nvCxnSpPr>
          <p:cNvPr id="207" name="SUMMER_L_module1_split_trunk"/>
          <p:cNvCxnSpPr/>
          <p:nvPr/>
        </p:nvCxnSpPr>
        <p:spPr>
          <a:xfrm>
            <a:off x="1103312" y="5222875"/>
            <a:ext cx="0" cy="635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UMMER_L_module1_split_bus"/>
          <p:cNvCxnSpPr/>
          <p:nvPr/>
        </p:nvCxnSpPr>
        <p:spPr>
          <a:xfrm>
            <a:off x="492125" y="5286375"/>
            <a:ext cx="122237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UMMER_L_module1_split_drop_left"/>
          <p:cNvCxnSpPr/>
          <p:nvPr/>
        </p:nvCxnSpPr>
        <p:spPr>
          <a:xfrm>
            <a:off x="492125" y="5286375"/>
            <a:ext cx="0" cy="87312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UMMER_L_module1_split_drop_center"/>
          <p:cNvCxnSpPr/>
          <p:nvPr/>
        </p:nvCxnSpPr>
        <p:spPr>
          <a:xfrm>
            <a:off x="1103312" y="5286375"/>
            <a:ext cx="0" cy="87312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UMMER_L_module1_split_drop_right"/>
          <p:cNvCxnSpPr/>
          <p:nvPr/>
        </p:nvCxnSpPr>
        <p:spPr>
          <a:xfrm>
            <a:off x="1714500" y="5286375"/>
            <a:ext cx="0" cy="87312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SUMMER_E_text_192"/>
          <p:cNvSpPr txBox="1"/>
          <p:nvPr/>
        </p:nvSpPr>
        <p:spPr>
          <a:xfrm>
            <a:off x="1325562" y="5357812"/>
            <a:ext cx="198437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PingFang SC"/>
              </a:rPr>
              <a:t>•••</a:t>
            </a:r>
          </a:p>
        </p:txBody>
      </p:sp>
      <p:sp>
        <p:nvSpPr>
          <p:cNvPr id="213" name="SUMMER_E_shape_193"/>
          <p:cNvSpPr/>
          <p:nvPr/>
        </p:nvSpPr>
        <p:spPr>
          <a:xfrm>
            <a:off x="666750" y="5691187"/>
            <a:ext cx="881062" cy="198437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UMMER_E_text_194"/>
          <p:cNvSpPr txBox="1"/>
          <p:nvPr/>
        </p:nvSpPr>
        <p:spPr>
          <a:xfrm>
            <a:off x="666750" y="5691187"/>
            <a:ext cx="881062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PingFang SC"/>
              </a:rPr>
              <a:t>融合</a:t>
            </a:r>
          </a:p>
        </p:txBody>
      </p:sp>
      <p:cxnSp>
        <p:nvCxnSpPr>
          <p:cNvPr id="215" name="SUMMER_L_module1_branch1_down"/>
          <p:cNvCxnSpPr/>
          <p:nvPr/>
        </p:nvCxnSpPr>
        <p:spPr>
          <a:xfrm>
            <a:off x="492125" y="5572125"/>
            <a:ext cx="0" cy="214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UMMER_L_module1_branch1_to_fusion"/>
          <p:cNvCxnSpPr/>
          <p:nvPr/>
        </p:nvCxnSpPr>
        <p:spPr>
          <a:xfrm>
            <a:off x="492125" y="5786437"/>
            <a:ext cx="174625" cy="0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UMMER_L_module1_branch2_to_fusion"/>
          <p:cNvCxnSpPr/>
          <p:nvPr/>
        </p:nvCxnSpPr>
        <p:spPr>
          <a:xfrm>
            <a:off x="1103312" y="5572125"/>
            <a:ext cx="0" cy="119062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UMMER_L_module1_branchn_down"/>
          <p:cNvCxnSpPr/>
          <p:nvPr/>
        </p:nvCxnSpPr>
        <p:spPr>
          <a:xfrm>
            <a:off x="1714500" y="5572125"/>
            <a:ext cx="0" cy="214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UMMER_L_module1_branchn_to_fusion"/>
          <p:cNvCxnSpPr/>
          <p:nvPr/>
        </p:nvCxnSpPr>
        <p:spPr>
          <a:xfrm flipH="1">
            <a:off x="1547812" y="5786437"/>
            <a:ext cx="166688" cy="0"/>
          </a:xfrm>
          <a:prstGeom prst="line">
            <a:avLst/>
          </a:prstGeom>
          <a:ln w="889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UMMER_L_line_195"/>
          <p:cNvCxnSpPr/>
          <p:nvPr/>
        </p:nvCxnSpPr>
        <p:spPr>
          <a:xfrm>
            <a:off x="1103312" y="5889625"/>
            <a:ext cx="0" cy="127000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UMMER_E_shape_196"/>
          <p:cNvSpPr/>
          <p:nvPr/>
        </p:nvSpPr>
        <p:spPr>
          <a:xfrm>
            <a:off x="666750" y="6016625"/>
            <a:ext cx="881062" cy="206375"/>
          </a:xfrm>
          <a:prstGeom prst="roundRect">
            <a:avLst>
              <a:gd name="adj" fmla="val 8000"/>
            </a:avLst>
          </a:prstGeom>
          <a:solidFill>
            <a:srgbClr val="FFF0DE"/>
          </a:solidFill>
          <a:ln w="889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UMMER_E_text_197"/>
          <p:cNvSpPr txBox="1"/>
          <p:nvPr/>
        </p:nvSpPr>
        <p:spPr>
          <a:xfrm>
            <a:off x="666750" y="6016625"/>
            <a:ext cx="881062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PingFang SC"/>
              </a:rPr>
              <a:t>EMA 注意力</a:t>
            </a:r>
          </a:p>
        </p:txBody>
      </p:sp>
      <p:cxnSp>
        <p:nvCxnSpPr>
          <p:cNvPr id="223" name="SUMMER_L_line_198"/>
          <p:cNvCxnSpPr/>
          <p:nvPr/>
        </p:nvCxnSpPr>
        <p:spPr>
          <a:xfrm>
            <a:off x="1103312" y="6223000"/>
            <a:ext cx="0" cy="126682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SUMMER_E_text_199"/>
          <p:cNvSpPr txBox="1"/>
          <p:nvPr/>
        </p:nvSpPr>
        <p:spPr>
          <a:xfrm>
            <a:off x="754062" y="6350000"/>
            <a:ext cx="71437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PingFang SC"/>
              </a:rPr>
              <a:t>输出特征</a:t>
            </a:r>
          </a:p>
        </p:txBody>
      </p:sp>
      <p:sp>
        <p:nvSpPr>
          <p:cNvPr id="225" name="SUMMER_E_text_200"/>
          <p:cNvSpPr txBox="1"/>
          <p:nvPr/>
        </p:nvSpPr>
        <p:spPr>
          <a:xfrm>
            <a:off x="2039937" y="4818062"/>
            <a:ext cx="1698625" cy="460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000000"/>
                </a:solidFill>
                <a:latin typeface="PingFang SC"/>
              </a:rPr>
              <a:t>•  多尺度并行感知，捕获不同
大小的缺陷信息</a:t>
            </a:r>
          </a:p>
        </p:txBody>
      </p:sp>
      <p:sp>
        <p:nvSpPr>
          <p:cNvPr id="226" name="SUMMER_E_text_201"/>
          <p:cNvSpPr txBox="1"/>
          <p:nvPr/>
        </p:nvSpPr>
        <p:spPr>
          <a:xfrm>
            <a:off x="2039937" y="5278437"/>
            <a:ext cx="1698625" cy="460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000000"/>
                </a:solidFill>
                <a:latin typeface="PingFang SC"/>
              </a:rPr>
              <a:t>•  增强细节特征表达，保留
边缘和纹理</a:t>
            </a:r>
          </a:p>
        </p:txBody>
      </p:sp>
      <p:sp>
        <p:nvSpPr>
          <p:cNvPr id="227" name="SUMMER_E_text_202"/>
          <p:cNvSpPr txBox="1"/>
          <p:nvPr/>
        </p:nvSpPr>
        <p:spPr>
          <a:xfrm>
            <a:off x="2039937" y="5738812"/>
            <a:ext cx="1698625" cy="460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000000"/>
                </a:solidFill>
                <a:latin typeface="PingFang SC"/>
              </a:rPr>
              <a:t>•  EMA 注意力增强关键特征，
抑制冗余信息</a:t>
            </a:r>
          </a:p>
        </p:txBody>
      </p:sp>
      <p:sp>
        <p:nvSpPr>
          <p:cNvPr id="228" name="SUMMER_E_text_203"/>
          <p:cNvSpPr txBox="1"/>
          <p:nvPr/>
        </p:nvSpPr>
        <p:spPr>
          <a:xfrm>
            <a:off x="4286250" y="4484687"/>
            <a:ext cx="2579687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2D19"/>
                </a:solidFill>
                <a:latin typeface="PingFang SC"/>
              </a:rPr>
              <a:t>模块二：LOSC（方向性下采样建模）</a:t>
            </a:r>
          </a:p>
        </p:txBody>
      </p:sp>
      <p:sp>
        <p:nvSpPr>
          <p:cNvPr id="229" name="SUMMER_E_text_204"/>
          <p:cNvSpPr txBox="1"/>
          <p:nvPr/>
        </p:nvSpPr>
        <p:spPr>
          <a:xfrm>
            <a:off x="4286250" y="4699000"/>
            <a:ext cx="793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PingFang SC"/>
              </a:rPr>
              <a:t>输入特征</a:t>
            </a:r>
          </a:p>
        </p:txBody>
      </p:sp>
      <p:sp>
        <p:nvSpPr>
          <p:cNvPr id="230" name="SUMMER_E_shape_205"/>
          <p:cNvSpPr/>
          <p:nvPr/>
        </p:nvSpPr>
        <p:spPr>
          <a:xfrm>
            <a:off x="4294187" y="4905375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UMMER_E_shape_206"/>
          <p:cNvSpPr/>
          <p:nvPr/>
        </p:nvSpPr>
        <p:spPr>
          <a:xfrm>
            <a:off x="4410075" y="4905375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UMMER_E_shape_207"/>
          <p:cNvSpPr/>
          <p:nvPr/>
        </p:nvSpPr>
        <p:spPr>
          <a:xfrm>
            <a:off x="4525962" y="4905375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UMMER_E_shape_208"/>
          <p:cNvSpPr/>
          <p:nvPr/>
        </p:nvSpPr>
        <p:spPr>
          <a:xfrm>
            <a:off x="4641850" y="4905375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UMMER_E_shape_209"/>
          <p:cNvSpPr/>
          <p:nvPr/>
        </p:nvSpPr>
        <p:spPr>
          <a:xfrm>
            <a:off x="4757737" y="4905375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UMMER_E_shape_210"/>
          <p:cNvSpPr/>
          <p:nvPr/>
        </p:nvSpPr>
        <p:spPr>
          <a:xfrm>
            <a:off x="4294187" y="5021791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UMMER_E_shape_211"/>
          <p:cNvSpPr/>
          <p:nvPr/>
        </p:nvSpPr>
        <p:spPr>
          <a:xfrm>
            <a:off x="4410075" y="5021791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UMMER_E_shape_212"/>
          <p:cNvSpPr/>
          <p:nvPr/>
        </p:nvSpPr>
        <p:spPr>
          <a:xfrm>
            <a:off x="4525962" y="5021791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UMMER_E_shape_213"/>
          <p:cNvSpPr/>
          <p:nvPr/>
        </p:nvSpPr>
        <p:spPr>
          <a:xfrm>
            <a:off x="4641850" y="5021791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UMMER_E_shape_214"/>
          <p:cNvSpPr/>
          <p:nvPr/>
        </p:nvSpPr>
        <p:spPr>
          <a:xfrm>
            <a:off x="4757737" y="5021791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UMMER_E_shape_215"/>
          <p:cNvSpPr/>
          <p:nvPr/>
        </p:nvSpPr>
        <p:spPr>
          <a:xfrm>
            <a:off x="4294187" y="5138208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UMMER_E_shape_216"/>
          <p:cNvSpPr/>
          <p:nvPr/>
        </p:nvSpPr>
        <p:spPr>
          <a:xfrm>
            <a:off x="4410075" y="5138208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UMMER_E_shape_217"/>
          <p:cNvSpPr/>
          <p:nvPr/>
        </p:nvSpPr>
        <p:spPr>
          <a:xfrm>
            <a:off x="4525962" y="5138208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UMMER_E_shape_218"/>
          <p:cNvSpPr/>
          <p:nvPr/>
        </p:nvSpPr>
        <p:spPr>
          <a:xfrm>
            <a:off x="4641850" y="5138208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UMMER_E_shape_219"/>
          <p:cNvSpPr/>
          <p:nvPr/>
        </p:nvSpPr>
        <p:spPr>
          <a:xfrm>
            <a:off x="4757737" y="5138208"/>
            <a:ext cx="115887" cy="116416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SUMMER_L_line_220"/>
          <p:cNvCxnSpPr/>
          <p:nvPr/>
        </p:nvCxnSpPr>
        <p:spPr>
          <a:xfrm>
            <a:off x="4587875" y="5262562"/>
            <a:ext cx="0" cy="222568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SUMMER_E_shape_221"/>
          <p:cNvSpPr/>
          <p:nvPr/>
        </p:nvSpPr>
        <p:spPr>
          <a:xfrm>
            <a:off x="4389437" y="5484812"/>
            <a:ext cx="396875" cy="396875"/>
          </a:xfrm>
          <a:prstGeom prst="ellipse">
            <a:avLst/>
          </a:prstGeom>
          <a:solidFill>
            <a:srgbClr val="FFF0DE"/>
          </a:solidFill>
          <a:ln w="12700">
            <a:solidFill>
              <a:srgbClr val="F39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UMMER_E_text_222"/>
          <p:cNvSpPr txBox="1"/>
          <p:nvPr/>
        </p:nvSpPr>
        <p:spPr>
          <a:xfrm>
            <a:off x="4389437" y="5484812"/>
            <a:ext cx="396875" cy="396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PingFang SC"/>
              </a:rPr>
              <a:t>Down
↓</a:t>
            </a:r>
          </a:p>
        </p:txBody>
      </p:sp>
      <p:cxnSp>
        <p:nvCxnSpPr>
          <p:cNvPr id="248" name="SUMMER_L_line_223"/>
          <p:cNvCxnSpPr/>
          <p:nvPr/>
        </p:nvCxnSpPr>
        <p:spPr>
          <a:xfrm>
            <a:off x="4587875" y="5881687"/>
            <a:ext cx="0" cy="22225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UMMER_E_shape_224"/>
          <p:cNvSpPr/>
          <p:nvPr/>
        </p:nvSpPr>
        <p:spPr>
          <a:xfrm>
            <a:off x="4357687" y="611187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UMMER_E_shape_225"/>
          <p:cNvSpPr/>
          <p:nvPr/>
        </p:nvSpPr>
        <p:spPr>
          <a:xfrm>
            <a:off x="4449762" y="611187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UMMER_E_shape_226"/>
          <p:cNvSpPr/>
          <p:nvPr/>
        </p:nvSpPr>
        <p:spPr>
          <a:xfrm>
            <a:off x="4541837" y="611187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UMMER_E_shape_227"/>
          <p:cNvSpPr/>
          <p:nvPr/>
        </p:nvSpPr>
        <p:spPr>
          <a:xfrm>
            <a:off x="4633912" y="611187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UMMER_E_shape_228"/>
          <p:cNvSpPr/>
          <p:nvPr/>
        </p:nvSpPr>
        <p:spPr>
          <a:xfrm>
            <a:off x="4725987" y="611187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UMMER_E_shape_229"/>
          <p:cNvSpPr/>
          <p:nvPr/>
        </p:nvSpPr>
        <p:spPr>
          <a:xfrm>
            <a:off x="4357687" y="6191250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UMMER_E_shape_230"/>
          <p:cNvSpPr/>
          <p:nvPr/>
        </p:nvSpPr>
        <p:spPr>
          <a:xfrm>
            <a:off x="4449762" y="6191250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UMMER_E_shape_231"/>
          <p:cNvSpPr/>
          <p:nvPr/>
        </p:nvSpPr>
        <p:spPr>
          <a:xfrm>
            <a:off x="4541837" y="6191250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UMMER_E_shape_232"/>
          <p:cNvSpPr/>
          <p:nvPr/>
        </p:nvSpPr>
        <p:spPr>
          <a:xfrm>
            <a:off x="4633912" y="6191250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UMMER_E_shape_233"/>
          <p:cNvSpPr/>
          <p:nvPr/>
        </p:nvSpPr>
        <p:spPr>
          <a:xfrm>
            <a:off x="4725987" y="6191250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UMMER_E_shape_234"/>
          <p:cNvSpPr/>
          <p:nvPr/>
        </p:nvSpPr>
        <p:spPr>
          <a:xfrm>
            <a:off x="4357687" y="627062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UMMER_E_shape_235"/>
          <p:cNvSpPr/>
          <p:nvPr/>
        </p:nvSpPr>
        <p:spPr>
          <a:xfrm>
            <a:off x="4449762" y="627062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UMMER_E_shape_236"/>
          <p:cNvSpPr/>
          <p:nvPr/>
        </p:nvSpPr>
        <p:spPr>
          <a:xfrm>
            <a:off x="4541837" y="627062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UMMER_E_shape_237"/>
          <p:cNvSpPr/>
          <p:nvPr/>
        </p:nvSpPr>
        <p:spPr>
          <a:xfrm>
            <a:off x="4633912" y="627062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UMMER_E_shape_238"/>
          <p:cNvSpPr/>
          <p:nvPr/>
        </p:nvSpPr>
        <p:spPr>
          <a:xfrm>
            <a:off x="4725987" y="6270625"/>
            <a:ext cx="920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UMMER_E_text_239"/>
          <p:cNvSpPr txBox="1"/>
          <p:nvPr/>
        </p:nvSpPr>
        <p:spPr>
          <a:xfrm>
            <a:off x="4246562" y="6357937"/>
            <a:ext cx="698500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PingFang SC"/>
              </a:rPr>
              <a:t>输出特征</a:t>
            </a:r>
          </a:p>
        </p:txBody>
      </p:sp>
      <p:sp>
        <p:nvSpPr>
          <p:cNvPr id="265" name="SUMMER_E_text_240"/>
          <p:cNvSpPr txBox="1"/>
          <p:nvPr/>
        </p:nvSpPr>
        <p:spPr>
          <a:xfrm>
            <a:off x="5286375" y="4786312"/>
            <a:ext cx="1746250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PingFang SC"/>
              </a:rPr>
              <a:t>•  引入方向性卷积核</a:t>
            </a:r>
          </a:p>
        </p:txBody>
      </p:sp>
      <p:sp>
        <p:nvSpPr>
          <p:cNvPr id="266" name="SUMMER_E_text_241"/>
          <p:cNvSpPr txBox="1"/>
          <p:nvPr/>
        </p:nvSpPr>
        <p:spPr>
          <a:xfrm>
            <a:off x="5286375" y="5143500"/>
            <a:ext cx="1746250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PingFang SC"/>
              </a:rPr>
              <a:t>•  沿关键方向提取特征</a:t>
            </a:r>
          </a:p>
        </p:txBody>
      </p:sp>
      <p:sp>
        <p:nvSpPr>
          <p:cNvPr id="267" name="SUMMER_E_text_242"/>
          <p:cNvSpPr txBox="1"/>
          <p:nvPr/>
        </p:nvSpPr>
        <p:spPr>
          <a:xfrm>
            <a:off x="5286375" y="5500687"/>
            <a:ext cx="1746250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PingFang SC"/>
              </a:rPr>
              <a:t>•  抑制无关干扰，保留方向信息</a:t>
            </a:r>
          </a:p>
        </p:txBody>
      </p:sp>
      <p:sp>
        <p:nvSpPr>
          <p:cNvPr id="268" name="SUMMER_E_text_243"/>
          <p:cNvSpPr txBox="1"/>
          <p:nvPr/>
        </p:nvSpPr>
        <p:spPr>
          <a:xfrm>
            <a:off x="5286375" y="5857875"/>
            <a:ext cx="1746250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PingFang SC"/>
              </a:rPr>
              <a:t>•  增强对工业表面纹理与缺陷
形态的建模能力</a:t>
            </a:r>
          </a:p>
        </p:txBody>
      </p:sp>
      <p:sp>
        <p:nvSpPr>
          <p:cNvPr id="269" name="SUMMER_E_text_244"/>
          <p:cNvSpPr txBox="1"/>
          <p:nvPr/>
        </p:nvSpPr>
        <p:spPr>
          <a:xfrm>
            <a:off x="7659687" y="4484687"/>
            <a:ext cx="4008437" cy="206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3EE3"/>
                </a:solidFill>
                <a:latin typeface="PingFang SC"/>
              </a:rPr>
              <a:t>模块三：CGAFusion（高低频自适应融合）</a:t>
            </a:r>
          </a:p>
        </p:txBody>
      </p:sp>
      <p:sp>
        <p:nvSpPr>
          <p:cNvPr id="270" name="SUMMER_E_text_245"/>
          <p:cNvSpPr txBox="1"/>
          <p:nvPr/>
        </p:nvSpPr>
        <p:spPr>
          <a:xfrm>
            <a:off x="7373937" y="4699000"/>
            <a:ext cx="873125" cy="17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PingFang SC"/>
              </a:rPr>
              <a:t>输入特征 Fₕ（高频）</a:t>
            </a:r>
          </a:p>
        </p:txBody>
      </p:sp>
      <p:sp>
        <p:nvSpPr>
          <p:cNvPr id="271" name="SUMMER_E_shape_246"/>
          <p:cNvSpPr/>
          <p:nvPr/>
        </p:nvSpPr>
        <p:spPr>
          <a:xfrm>
            <a:off x="7508875" y="4897437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UMMER_E_shape_247"/>
          <p:cNvSpPr/>
          <p:nvPr/>
        </p:nvSpPr>
        <p:spPr>
          <a:xfrm>
            <a:off x="7594600" y="4897437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UMMER_E_shape_248"/>
          <p:cNvSpPr/>
          <p:nvPr/>
        </p:nvSpPr>
        <p:spPr>
          <a:xfrm>
            <a:off x="7680325" y="4897437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UMMER_E_shape_249"/>
          <p:cNvSpPr/>
          <p:nvPr/>
        </p:nvSpPr>
        <p:spPr>
          <a:xfrm>
            <a:off x="7766050" y="4897437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UMMER_E_shape_250"/>
          <p:cNvSpPr/>
          <p:nvPr/>
        </p:nvSpPr>
        <p:spPr>
          <a:xfrm>
            <a:off x="7851775" y="4897437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UMMER_E_shape_251"/>
          <p:cNvSpPr/>
          <p:nvPr/>
        </p:nvSpPr>
        <p:spPr>
          <a:xfrm>
            <a:off x="7508875" y="5016500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UMMER_E_shape_252"/>
          <p:cNvSpPr/>
          <p:nvPr/>
        </p:nvSpPr>
        <p:spPr>
          <a:xfrm>
            <a:off x="7594600" y="5016500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UMMER_E_shape_253"/>
          <p:cNvSpPr/>
          <p:nvPr/>
        </p:nvSpPr>
        <p:spPr>
          <a:xfrm>
            <a:off x="7680325" y="5016500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UMMER_E_shape_254"/>
          <p:cNvSpPr/>
          <p:nvPr/>
        </p:nvSpPr>
        <p:spPr>
          <a:xfrm>
            <a:off x="7766050" y="5016500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UMMER_E_shape_255"/>
          <p:cNvSpPr/>
          <p:nvPr/>
        </p:nvSpPr>
        <p:spPr>
          <a:xfrm>
            <a:off x="7851775" y="5016500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UMMER_E_shape_256"/>
          <p:cNvSpPr/>
          <p:nvPr/>
        </p:nvSpPr>
        <p:spPr>
          <a:xfrm>
            <a:off x="7508875" y="5135562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UMMER_E_shape_257"/>
          <p:cNvSpPr/>
          <p:nvPr/>
        </p:nvSpPr>
        <p:spPr>
          <a:xfrm>
            <a:off x="7594600" y="5135562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UMMER_E_shape_258"/>
          <p:cNvSpPr/>
          <p:nvPr/>
        </p:nvSpPr>
        <p:spPr>
          <a:xfrm>
            <a:off x="7680325" y="5135562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UMMER_E_shape_259"/>
          <p:cNvSpPr/>
          <p:nvPr/>
        </p:nvSpPr>
        <p:spPr>
          <a:xfrm>
            <a:off x="7766050" y="5135562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UMMER_E_shape_260"/>
          <p:cNvSpPr/>
          <p:nvPr/>
        </p:nvSpPr>
        <p:spPr>
          <a:xfrm>
            <a:off x="7851775" y="5135562"/>
            <a:ext cx="85725" cy="119062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UMMER_E_shape_261"/>
          <p:cNvSpPr/>
          <p:nvPr/>
        </p:nvSpPr>
        <p:spPr>
          <a:xfrm>
            <a:off x="8429625" y="4897437"/>
            <a:ext cx="746125" cy="357187"/>
          </a:xfrm>
          <a:prstGeom prst="roundRect">
            <a:avLst>
              <a:gd name="adj" fmla="val 8000"/>
            </a:avLst>
          </a:prstGeom>
          <a:solidFill>
            <a:srgbClr val="DDEAFF"/>
          </a:solidFill>
          <a:ln w="8890">
            <a:solidFill>
              <a:srgbClr val="3E8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UMMER_E_text_262"/>
          <p:cNvSpPr txBox="1"/>
          <p:nvPr/>
        </p:nvSpPr>
        <p:spPr>
          <a:xfrm>
            <a:off x="8429625" y="4897437"/>
            <a:ext cx="746125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PingFang SC"/>
              </a:rPr>
              <a:t>高频分支
（细节信息）</a:t>
            </a:r>
          </a:p>
        </p:txBody>
      </p:sp>
      <p:cxnSp>
        <p:nvCxnSpPr>
          <p:cNvPr id="288" name="SUMMER_L_line_263"/>
          <p:cNvCxnSpPr/>
          <p:nvPr/>
        </p:nvCxnSpPr>
        <p:spPr>
          <a:xfrm>
            <a:off x="7937500" y="5080000"/>
            <a:ext cx="492125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SUMMER_E_text_264"/>
          <p:cNvSpPr txBox="1"/>
          <p:nvPr/>
        </p:nvSpPr>
        <p:spPr>
          <a:xfrm>
            <a:off x="7373937" y="5341937"/>
            <a:ext cx="873125" cy="17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PingFang SC"/>
              </a:rPr>
              <a:t>输入特征 Fₗ（低频）</a:t>
            </a:r>
          </a:p>
        </p:txBody>
      </p:sp>
      <p:sp>
        <p:nvSpPr>
          <p:cNvPr id="290" name="SUMMER_E_shape_265"/>
          <p:cNvSpPr/>
          <p:nvPr/>
        </p:nvSpPr>
        <p:spPr>
          <a:xfrm>
            <a:off x="7508875" y="5556250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UMMER_E_shape_266"/>
          <p:cNvSpPr/>
          <p:nvPr/>
        </p:nvSpPr>
        <p:spPr>
          <a:xfrm>
            <a:off x="7594600" y="5556250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UMMER_E_shape_267"/>
          <p:cNvSpPr/>
          <p:nvPr/>
        </p:nvSpPr>
        <p:spPr>
          <a:xfrm>
            <a:off x="7680325" y="5556250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UMMER_E_shape_268"/>
          <p:cNvSpPr/>
          <p:nvPr/>
        </p:nvSpPr>
        <p:spPr>
          <a:xfrm>
            <a:off x="7766050" y="5556250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UMMER_E_shape_269"/>
          <p:cNvSpPr/>
          <p:nvPr/>
        </p:nvSpPr>
        <p:spPr>
          <a:xfrm>
            <a:off x="7851775" y="5556250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UMMER_E_shape_270"/>
          <p:cNvSpPr/>
          <p:nvPr/>
        </p:nvSpPr>
        <p:spPr>
          <a:xfrm>
            <a:off x="7508875" y="5675312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UMMER_E_shape_271"/>
          <p:cNvSpPr/>
          <p:nvPr/>
        </p:nvSpPr>
        <p:spPr>
          <a:xfrm>
            <a:off x="7594600" y="5675312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UMMER_E_shape_272"/>
          <p:cNvSpPr/>
          <p:nvPr/>
        </p:nvSpPr>
        <p:spPr>
          <a:xfrm>
            <a:off x="7680325" y="5675312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UMMER_E_shape_273"/>
          <p:cNvSpPr/>
          <p:nvPr/>
        </p:nvSpPr>
        <p:spPr>
          <a:xfrm>
            <a:off x="7766050" y="5675312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UMMER_E_shape_274"/>
          <p:cNvSpPr/>
          <p:nvPr/>
        </p:nvSpPr>
        <p:spPr>
          <a:xfrm>
            <a:off x="7851775" y="5675312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UMMER_E_shape_275"/>
          <p:cNvSpPr/>
          <p:nvPr/>
        </p:nvSpPr>
        <p:spPr>
          <a:xfrm>
            <a:off x="7508875" y="5794375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UMMER_E_shape_276"/>
          <p:cNvSpPr/>
          <p:nvPr/>
        </p:nvSpPr>
        <p:spPr>
          <a:xfrm>
            <a:off x="7594600" y="5794375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UMMER_E_shape_277"/>
          <p:cNvSpPr/>
          <p:nvPr/>
        </p:nvSpPr>
        <p:spPr>
          <a:xfrm>
            <a:off x="7680325" y="5794375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UMMER_E_shape_278"/>
          <p:cNvSpPr/>
          <p:nvPr/>
        </p:nvSpPr>
        <p:spPr>
          <a:xfrm>
            <a:off x="7766050" y="5794375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UMMER_E_shape_279"/>
          <p:cNvSpPr/>
          <p:nvPr/>
        </p:nvSpPr>
        <p:spPr>
          <a:xfrm>
            <a:off x="7851775" y="5794375"/>
            <a:ext cx="85725" cy="119062"/>
          </a:xfrm>
          <a:prstGeom prst="rect">
            <a:avLst/>
          </a:prstGeom>
          <a:solidFill>
            <a:srgbClr val="E0F1D7"/>
          </a:solidFill>
          <a:ln w="5715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UMMER_E_shape_280"/>
          <p:cNvSpPr/>
          <p:nvPr/>
        </p:nvSpPr>
        <p:spPr>
          <a:xfrm>
            <a:off x="8429625" y="5556250"/>
            <a:ext cx="746125" cy="357187"/>
          </a:xfrm>
          <a:prstGeom prst="roundRect">
            <a:avLst>
              <a:gd name="adj" fmla="val 8000"/>
            </a:avLst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UMMER_E_text_281"/>
          <p:cNvSpPr txBox="1"/>
          <p:nvPr/>
        </p:nvSpPr>
        <p:spPr>
          <a:xfrm>
            <a:off x="8429625" y="5556250"/>
            <a:ext cx="746125" cy="357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PingFang SC"/>
              </a:rPr>
              <a:t>低频分支
（结构信息）</a:t>
            </a:r>
          </a:p>
        </p:txBody>
      </p:sp>
      <p:cxnSp>
        <p:nvCxnSpPr>
          <p:cNvPr id="307" name="SUMMER_L_line_282"/>
          <p:cNvCxnSpPr/>
          <p:nvPr/>
        </p:nvCxnSpPr>
        <p:spPr>
          <a:xfrm>
            <a:off x="7937500" y="5738812"/>
            <a:ext cx="492125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SUMMER_E_shape_283"/>
          <p:cNvSpPr/>
          <p:nvPr/>
        </p:nvSpPr>
        <p:spPr>
          <a:xfrm>
            <a:off x="9461500" y="5572125"/>
            <a:ext cx="333375" cy="333375"/>
          </a:xfrm>
          <a:prstGeom prst="ellipse">
            <a:avLst/>
          </a:prstGeom>
          <a:solidFill>
            <a:srgbClr val="DDF5F7"/>
          </a:solidFill>
          <a:ln w="12700">
            <a:solidFill>
              <a:srgbClr val="44B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UMMER_E_text_284"/>
          <p:cNvSpPr txBox="1"/>
          <p:nvPr/>
        </p:nvSpPr>
        <p:spPr>
          <a:xfrm>
            <a:off x="9461500" y="5572125"/>
            <a:ext cx="33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PingFang SC"/>
              </a:rPr>
              <a:t>+</a:t>
            </a:r>
          </a:p>
        </p:txBody>
      </p:sp>
      <p:cxnSp>
        <p:nvCxnSpPr>
          <p:cNvPr id="310" name="SUMMER_L_line_285"/>
          <p:cNvCxnSpPr/>
          <p:nvPr/>
        </p:nvCxnSpPr>
        <p:spPr>
          <a:xfrm>
            <a:off x="9175750" y="5080000"/>
            <a:ext cx="452437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UMMER_L_line_286"/>
          <p:cNvCxnSpPr/>
          <p:nvPr/>
        </p:nvCxnSpPr>
        <p:spPr>
          <a:xfrm>
            <a:off x="9628187" y="5080000"/>
            <a:ext cx="0" cy="492125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UMMER_L_line_287"/>
          <p:cNvCxnSpPr/>
          <p:nvPr/>
        </p:nvCxnSpPr>
        <p:spPr>
          <a:xfrm>
            <a:off x="9175750" y="5738812"/>
            <a:ext cx="285750" cy="0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UMMER_L_line_288"/>
          <p:cNvCxnSpPr/>
          <p:nvPr/>
        </p:nvCxnSpPr>
        <p:spPr>
          <a:xfrm>
            <a:off x="9628187" y="5905500"/>
            <a:ext cx="0" cy="198437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SUMMER_E_shape_289"/>
          <p:cNvSpPr/>
          <p:nvPr/>
        </p:nvSpPr>
        <p:spPr>
          <a:xfrm>
            <a:off x="9429750" y="611187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UMMER_E_shape_290"/>
          <p:cNvSpPr/>
          <p:nvPr/>
        </p:nvSpPr>
        <p:spPr>
          <a:xfrm>
            <a:off x="9509125" y="611187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UMMER_E_shape_291"/>
          <p:cNvSpPr/>
          <p:nvPr/>
        </p:nvSpPr>
        <p:spPr>
          <a:xfrm>
            <a:off x="9588500" y="611187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UMMER_E_shape_292"/>
          <p:cNvSpPr/>
          <p:nvPr/>
        </p:nvSpPr>
        <p:spPr>
          <a:xfrm>
            <a:off x="9667875" y="611187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UMMER_E_shape_293"/>
          <p:cNvSpPr/>
          <p:nvPr/>
        </p:nvSpPr>
        <p:spPr>
          <a:xfrm>
            <a:off x="9747250" y="611187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UMMER_E_shape_294"/>
          <p:cNvSpPr/>
          <p:nvPr/>
        </p:nvSpPr>
        <p:spPr>
          <a:xfrm>
            <a:off x="9429750" y="6191250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SUMMER_E_shape_295"/>
          <p:cNvSpPr/>
          <p:nvPr/>
        </p:nvSpPr>
        <p:spPr>
          <a:xfrm>
            <a:off x="9509125" y="6191250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UMMER_E_shape_296"/>
          <p:cNvSpPr/>
          <p:nvPr/>
        </p:nvSpPr>
        <p:spPr>
          <a:xfrm>
            <a:off x="9588500" y="6191250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UMMER_E_shape_297"/>
          <p:cNvSpPr/>
          <p:nvPr/>
        </p:nvSpPr>
        <p:spPr>
          <a:xfrm>
            <a:off x="9667875" y="6191250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UMMER_E_shape_298"/>
          <p:cNvSpPr/>
          <p:nvPr/>
        </p:nvSpPr>
        <p:spPr>
          <a:xfrm>
            <a:off x="9747250" y="6191250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SUMMER_E_shape_299"/>
          <p:cNvSpPr/>
          <p:nvPr/>
        </p:nvSpPr>
        <p:spPr>
          <a:xfrm>
            <a:off x="9429750" y="627062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SUMMER_E_shape_300"/>
          <p:cNvSpPr/>
          <p:nvPr/>
        </p:nvSpPr>
        <p:spPr>
          <a:xfrm>
            <a:off x="9509125" y="627062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SUMMER_E_shape_301"/>
          <p:cNvSpPr/>
          <p:nvPr/>
        </p:nvSpPr>
        <p:spPr>
          <a:xfrm>
            <a:off x="9588500" y="627062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SUMMER_E_shape_302"/>
          <p:cNvSpPr/>
          <p:nvPr/>
        </p:nvSpPr>
        <p:spPr>
          <a:xfrm>
            <a:off x="9667875" y="627062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SUMMER_E_shape_303"/>
          <p:cNvSpPr/>
          <p:nvPr/>
        </p:nvSpPr>
        <p:spPr>
          <a:xfrm>
            <a:off x="9747250" y="6270625"/>
            <a:ext cx="79375" cy="79375"/>
          </a:xfrm>
          <a:prstGeom prst="rect">
            <a:avLst/>
          </a:prstGeom>
          <a:solidFill>
            <a:srgbClr val="DDEAFF"/>
          </a:solidFill>
          <a:ln w="5715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SUMMER_E_text_304"/>
          <p:cNvSpPr txBox="1"/>
          <p:nvPr/>
        </p:nvSpPr>
        <p:spPr>
          <a:xfrm>
            <a:off x="9286875" y="6357937"/>
            <a:ext cx="68262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PingFang SC"/>
              </a:rPr>
              <a:t>输出特征</a:t>
            </a:r>
          </a:p>
        </p:txBody>
      </p:sp>
      <p:sp>
        <p:nvSpPr>
          <p:cNvPr id="330" name="SUMMER_E_text_305"/>
          <p:cNvSpPr txBox="1"/>
          <p:nvPr/>
        </p:nvSpPr>
        <p:spPr>
          <a:xfrm>
            <a:off x="10096500" y="4786312"/>
            <a:ext cx="1825625" cy="341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PingFang SC"/>
              </a:rPr>
              <a:t>•  分离高频细节与低频结构信息</a:t>
            </a:r>
          </a:p>
        </p:txBody>
      </p:sp>
      <p:sp>
        <p:nvSpPr>
          <p:cNvPr id="331" name="SUMMER_E_text_306"/>
          <p:cNvSpPr txBox="1"/>
          <p:nvPr/>
        </p:nvSpPr>
        <p:spPr>
          <a:xfrm>
            <a:off x="10096500" y="5127625"/>
            <a:ext cx="1825625" cy="341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PingFang SC"/>
              </a:rPr>
              <a:t>•  空间联合注意力自适应融合</a:t>
            </a:r>
          </a:p>
        </p:txBody>
      </p:sp>
      <p:sp>
        <p:nvSpPr>
          <p:cNvPr id="332" name="SUMMER_E_text_307"/>
          <p:cNvSpPr txBox="1"/>
          <p:nvPr/>
        </p:nvSpPr>
        <p:spPr>
          <a:xfrm>
            <a:off x="10096500" y="5468937"/>
            <a:ext cx="1825625" cy="341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PingFang SC"/>
              </a:rPr>
              <a:t>•  突出关键细节，抑制噪声干扰</a:t>
            </a:r>
          </a:p>
        </p:txBody>
      </p:sp>
      <p:sp>
        <p:nvSpPr>
          <p:cNvPr id="333" name="SUMMER_E_text_308"/>
          <p:cNvSpPr txBox="1"/>
          <p:nvPr/>
        </p:nvSpPr>
        <p:spPr>
          <a:xfrm>
            <a:off x="10096500" y="5810250"/>
            <a:ext cx="1825625" cy="341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PingFang SC"/>
              </a:rPr>
              <a:t>•  提升特征表达与泛化能力</a:t>
            </a:r>
          </a:p>
        </p:txBody>
      </p:sp>
      <p:sp>
        <p:nvSpPr>
          <p:cNvPr id="334" name="SUMMER_E_text_309"/>
          <p:cNvSpPr txBox="1"/>
          <p:nvPr/>
        </p:nvSpPr>
        <p:spPr>
          <a:xfrm>
            <a:off x="452437" y="6746875"/>
            <a:ext cx="1746250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输出多尺度特征金字塔</a:t>
            </a:r>
          </a:p>
        </p:txBody>
      </p:sp>
      <p:sp>
        <p:nvSpPr>
          <p:cNvPr id="335" name="SUMMER_E_shape_310"/>
          <p:cNvSpPr/>
          <p:nvPr/>
        </p:nvSpPr>
        <p:spPr>
          <a:xfrm>
            <a:off x="365125" y="7096125"/>
            <a:ext cx="349250" cy="349250"/>
          </a:xfrm>
          <a:prstGeom prst="cube">
            <a:avLst/>
          </a:prstGeom>
          <a:solidFill>
            <a:srgbClr val="FFF0DE"/>
          </a:solidFill>
          <a:ln w="889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SUMMER_E_text_311"/>
          <p:cNvSpPr txBox="1"/>
          <p:nvPr/>
        </p:nvSpPr>
        <p:spPr>
          <a:xfrm>
            <a:off x="301625" y="7469187"/>
            <a:ext cx="476250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>
                <a:solidFill>
                  <a:srgbClr val="FF471B"/>
                </a:solidFill>
                <a:latin typeface="PingFang SC"/>
              </a:rPr>
              <a:t>P3
(80×C)</a:t>
            </a:r>
          </a:p>
        </p:txBody>
      </p:sp>
      <p:sp>
        <p:nvSpPr>
          <p:cNvPr id="337" name="SUMMER_E_shape_312"/>
          <p:cNvSpPr/>
          <p:nvPr/>
        </p:nvSpPr>
        <p:spPr>
          <a:xfrm>
            <a:off x="1087437" y="7096125"/>
            <a:ext cx="349250" cy="349250"/>
          </a:xfrm>
          <a:prstGeom prst="cube">
            <a:avLst/>
          </a:prstGeom>
          <a:solidFill>
            <a:srgbClr val="E0F1D7"/>
          </a:solidFill>
          <a:ln w="8890">
            <a:solidFill>
              <a:srgbClr val="70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SUMMER_E_text_313"/>
          <p:cNvSpPr txBox="1"/>
          <p:nvPr/>
        </p:nvSpPr>
        <p:spPr>
          <a:xfrm>
            <a:off x="1023937" y="7469187"/>
            <a:ext cx="476250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>
                <a:solidFill>
                  <a:srgbClr val="70B85B"/>
                </a:solidFill>
                <a:latin typeface="PingFang SC"/>
              </a:rPr>
              <a:t>P4
(40×C)</a:t>
            </a:r>
          </a:p>
        </p:txBody>
      </p:sp>
      <p:sp>
        <p:nvSpPr>
          <p:cNvPr id="339" name="SUMMER_E_shape_314"/>
          <p:cNvSpPr/>
          <p:nvPr/>
        </p:nvSpPr>
        <p:spPr>
          <a:xfrm>
            <a:off x="1809750" y="7096125"/>
            <a:ext cx="349250" cy="349250"/>
          </a:xfrm>
          <a:prstGeom prst="cube">
            <a:avLst/>
          </a:prstGeom>
          <a:solidFill>
            <a:srgbClr val="DDEAFF"/>
          </a:solidFill>
          <a:ln w="8890">
            <a:solidFill>
              <a:srgbClr val="2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SUMMER_E_text_315"/>
          <p:cNvSpPr txBox="1"/>
          <p:nvPr/>
        </p:nvSpPr>
        <p:spPr>
          <a:xfrm>
            <a:off x="1746250" y="7469187"/>
            <a:ext cx="476250" cy="404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>
                <a:solidFill>
                  <a:srgbClr val="2E6FEF"/>
                </a:solidFill>
                <a:latin typeface="PingFang SC"/>
              </a:rPr>
              <a:t>P5
(20×C)</a:t>
            </a:r>
          </a:p>
        </p:txBody>
      </p:sp>
      <p:sp>
        <p:nvSpPr>
          <p:cNvPr id="341" name="SUMMER_E_shape_316"/>
          <p:cNvSpPr/>
          <p:nvPr/>
        </p:nvSpPr>
        <p:spPr>
          <a:xfrm>
            <a:off x="2563812" y="7175500"/>
            <a:ext cx="198437" cy="246062"/>
          </a:xfrm>
          <a:prstGeom prst="rightArrow">
            <a:avLst/>
          </a:prstGeom>
          <a:solidFill>
            <a:srgbClr val="0B3EE3"/>
          </a:solidFill>
          <a:ln w="508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SUMMER_E_text_317"/>
          <p:cNvSpPr txBox="1"/>
          <p:nvPr/>
        </p:nvSpPr>
        <p:spPr>
          <a:xfrm>
            <a:off x="3095625" y="6746875"/>
            <a:ext cx="1508125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输入到 RT-DETR Head</a:t>
            </a:r>
          </a:p>
        </p:txBody>
      </p:sp>
      <p:sp>
        <p:nvSpPr>
          <p:cNvPr id="343" name="SUMMER_E_text_318"/>
          <p:cNvSpPr txBox="1"/>
          <p:nvPr/>
        </p:nvSpPr>
        <p:spPr>
          <a:xfrm>
            <a:off x="3270250" y="7024687"/>
            <a:ext cx="1031875" cy="34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0B3EE3"/>
                </a:solidFill>
                <a:latin typeface="PingFang SC"/>
              </a:rPr>
              <a:t>IoU-Aware
Query Selection</a:t>
            </a:r>
          </a:p>
        </p:txBody>
      </p:sp>
      <p:sp>
        <p:nvSpPr>
          <p:cNvPr id="344" name="SUMMER_E_shape_319"/>
          <p:cNvSpPr/>
          <p:nvPr/>
        </p:nvSpPr>
        <p:spPr>
          <a:xfrm>
            <a:off x="30480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SUMMER_E_shape_320"/>
          <p:cNvSpPr/>
          <p:nvPr/>
        </p:nvSpPr>
        <p:spPr>
          <a:xfrm>
            <a:off x="32385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SUMMER_E_shape_321"/>
          <p:cNvSpPr/>
          <p:nvPr/>
        </p:nvSpPr>
        <p:spPr>
          <a:xfrm>
            <a:off x="34290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SUMMER_E_shape_322"/>
          <p:cNvSpPr/>
          <p:nvPr/>
        </p:nvSpPr>
        <p:spPr>
          <a:xfrm>
            <a:off x="36195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SUMMER_E_shape_323"/>
          <p:cNvSpPr/>
          <p:nvPr/>
        </p:nvSpPr>
        <p:spPr>
          <a:xfrm>
            <a:off x="38100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UMMER_E_shape_324"/>
          <p:cNvSpPr/>
          <p:nvPr/>
        </p:nvSpPr>
        <p:spPr>
          <a:xfrm>
            <a:off x="4000500" y="7477125"/>
            <a:ext cx="142875" cy="142875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 w="8255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SUMMER_E_text_325"/>
          <p:cNvSpPr txBox="1"/>
          <p:nvPr/>
        </p:nvSpPr>
        <p:spPr>
          <a:xfrm>
            <a:off x="4191000" y="7453312"/>
            <a:ext cx="22225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PingFang SC"/>
              </a:rPr>
              <a:t>••••</a:t>
            </a:r>
          </a:p>
        </p:txBody>
      </p:sp>
      <p:cxnSp>
        <p:nvCxnSpPr>
          <p:cNvPr id="351" name="SUMMER_L_line_326"/>
          <p:cNvCxnSpPr/>
          <p:nvPr/>
        </p:nvCxnSpPr>
        <p:spPr>
          <a:xfrm>
            <a:off x="4389437" y="7548562"/>
            <a:ext cx="190500" cy="0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SUMMER_E_text_327"/>
          <p:cNvSpPr txBox="1"/>
          <p:nvPr/>
        </p:nvSpPr>
        <p:spPr>
          <a:xfrm>
            <a:off x="4841875" y="6945312"/>
            <a:ext cx="1746250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0B3EE3"/>
                </a:solidFill>
                <a:latin typeface="PingFang SC"/>
              </a:rPr>
              <a:t>Transformer Decoder × 6 层</a:t>
            </a:r>
          </a:p>
        </p:txBody>
      </p:sp>
      <p:cxnSp>
        <p:nvCxnSpPr>
          <p:cNvPr id="353" name="SUMMER_L_line_328"/>
          <p:cNvCxnSpPr/>
          <p:nvPr/>
        </p:nvCxnSpPr>
        <p:spPr>
          <a:xfrm>
            <a:off x="4802187" y="7437437"/>
            <a:ext cx="1825625" cy="0"/>
          </a:xfrm>
          <a:prstGeom prst="line">
            <a:avLst/>
          </a:prstGeom>
          <a:ln w="8890">
            <a:solidFill>
              <a:srgbClr val="8C6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SUMMER_E_shape_329"/>
          <p:cNvSpPr/>
          <p:nvPr/>
        </p:nvSpPr>
        <p:spPr>
          <a:xfrm>
            <a:off x="4730750" y="7342187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SUMMER_L_line_330"/>
          <p:cNvCxnSpPr/>
          <p:nvPr/>
        </p:nvCxnSpPr>
        <p:spPr>
          <a:xfrm>
            <a:off x="4802187" y="7278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UMMER_L_line_331"/>
          <p:cNvCxnSpPr/>
          <p:nvPr/>
        </p:nvCxnSpPr>
        <p:spPr>
          <a:xfrm>
            <a:off x="4802187" y="7532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SUMMER_E_shape_332"/>
          <p:cNvSpPr/>
          <p:nvPr/>
        </p:nvSpPr>
        <p:spPr>
          <a:xfrm>
            <a:off x="5187156" y="7342187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SUMMER_L_line_333"/>
          <p:cNvCxnSpPr/>
          <p:nvPr/>
        </p:nvCxnSpPr>
        <p:spPr>
          <a:xfrm>
            <a:off x="5258593" y="7278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UMMER_L_line_334"/>
          <p:cNvCxnSpPr/>
          <p:nvPr/>
        </p:nvCxnSpPr>
        <p:spPr>
          <a:xfrm>
            <a:off x="5258593" y="7532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SUMMER_E_shape_335"/>
          <p:cNvSpPr/>
          <p:nvPr/>
        </p:nvSpPr>
        <p:spPr>
          <a:xfrm>
            <a:off x="5643562" y="7342187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SUMMER_L_line_336"/>
          <p:cNvCxnSpPr/>
          <p:nvPr/>
        </p:nvCxnSpPr>
        <p:spPr>
          <a:xfrm>
            <a:off x="5715000" y="7278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SUMMER_L_line_337"/>
          <p:cNvCxnSpPr/>
          <p:nvPr/>
        </p:nvCxnSpPr>
        <p:spPr>
          <a:xfrm>
            <a:off x="5715000" y="7532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SUMMER_E_shape_338"/>
          <p:cNvSpPr/>
          <p:nvPr/>
        </p:nvSpPr>
        <p:spPr>
          <a:xfrm>
            <a:off x="6099968" y="7342187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SUMMER_L_line_339"/>
          <p:cNvCxnSpPr/>
          <p:nvPr/>
        </p:nvCxnSpPr>
        <p:spPr>
          <a:xfrm>
            <a:off x="6171406" y="7278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UMMER_L_line_340"/>
          <p:cNvCxnSpPr/>
          <p:nvPr/>
        </p:nvCxnSpPr>
        <p:spPr>
          <a:xfrm>
            <a:off x="6171406" y="7532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SUMMER_E_shape_341"/>
          <p:cNvSpPr/>
          <p:nvPr/>
        </p:nvSpPr>
        <p:spPr>
          <a:xfrm>
            <a:off x="6556375" y="7342187"/>
            <a:ext cx="142875" cy="190500"/>
          </a:xfrm>
          <a:prstGeom prst="roundRect">
            <a:avLst>
              <a:gd name="adj" fmla="val 8000"/>
            </a:avLst>
          </a:prstGeom>
          <a:solidFill>
            <a:srgbClr val="8C68DC"/>
          </a:solidFill>
          <a:ln w="8890">
            <a:solidFill>
              <a:srgbClr val="4B0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SUMMER_L_line_342"/>
          <p:cNvCxnSpPr/>
          <p:nvPr/>
        </p:nvCxnSpPr>
        <p:spPr>
          <a:xfrm>
            <a:off x="6627812" y="7278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UMMER_L_line_343"/>
          <p:cNvCxnSpPr/>
          <p:nvPr/>
        </p:nvCxnSpPr>
        <p:spPr>
          <a:xfrm>
            <a:off x="6627812" y="7532687"/>
            <a:ext cx="0" cy="63500"/>
          </a:xfrm>
          <a:prstGeom prst="line">
            <a:avLst/>
          </a:prstGeom>
          <a:ln w="8890">
            <a:solidFill>
              <a:srgbClr val="4B0D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SUMMER_E_text_344"/>
          <p:cNvSpPr txBox="1"/>
          <p:nvPr/>
        </p:nvSpPr>
        <p:spPr>
          <a:xfrm>
            <a:off x="5970587" y="7326312"/>
            <a:ext cx="142875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PingFang SC"/>
              </a:rPr>
              <a:t>••••</a:t>
            </a:r>
          </a:p>
        </p:txBody>
      </p:sp>
      <p:sp>
        <p:nvSpPr>
          <p:cNvPr id="370" name="SUMMER_E_shape_345"/>
          <p:cNvSpPr/>
          <p:nvPr/>
        </p:nvSpPr>
        <p:spPr>
          <a:xfrm>
            <a:off x="7000875" y="7175500"/>
            <a:ext cx="198437" cy="246062"/>
          </a:xfrm>
          <a:prstGeom prst="rightArrow">
            <a:avLst/>
          </a:prstGeom>
          <a:solidFill>
            <a:srgbClr val="0B3EE3"/>
          </a:solidFill>
          <a:ln w="508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UMMER_E_text_346"/>
          <p:cNvSpPr txBox="1"/>
          <p:nvPr/>
        </p:nvSpPr>
        <p:spPr>
          <a:xfrm>
            <a:off x="7556500" y="6746875"/>
            <a:ext cx="1111250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检测结果</a:t>
            </a:r>
          </a:p>
        </p:txBody>
      </p:sp>
      <p:cxnSp>
        <p:nvCxnSpPr>
          <p:cNvPr id="372" name="SUMMER_L_line_347"/>
          <p:cNvCxnSpPr/>
          <p:nvPr/>
        </p:nvCxnSpPr>
        <p:spPr>
          <a:xfrm>
            <a:off x="7477125" y="7604125"/>
            <a:ext cx="460375" cy="0"/>
          </a:xfrm>
          <a:prstGeom prst="line">
            <a:avLst/>
          </a:prstGeom>
          <a:ln w="12700">
            <a:solidFill>
              <a:srgbClr val="0B3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UMMER_L_line_348"/>
          <p:cNvCxnSpPr/>
          <p:nvPr/>
        </p:nvCxnSpPr>
        <p:spPr>
          <a:xfrm flipV="1">
            <a:off x="7477125" y="7175500"/>
            <a:ext cx="0" cy="428625"/>
          </a:xfrm>
          <a:prstGeom prst="line">
            <a:avLst/>
          </a:prstGeom>
          <a:ln w="12700">
            <a:solidFill>
              <a:srgbClr val="0B3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SUMMER_E_shape_349"/>
          <p:cNvSpPr/>
          <p:nvPr/>
        </p:nvSpPr>
        <p:spPr>
          <a:xfrm>
            <a:off x="7500937" y="7368381"/>
            <a:ext cx="39687" cy="235743"/>
          </a:xfrm>
          <a:prstGeom prst="rect">
            <a:avLst/>
          </a:prstGeom>
          <a:solidFill>
            <a:srgbClr val="0B3EE3"/>
          </a:solidFill>
          <a:ln w="381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SUMMER_E_shape_350"/>
          <p:cNvSpPr/>
          <p:nvPr/>
        </p:nvSpPr>
        <p:spPr>
          <a:xfrm>
            <a:off x="7556500" y="7475537"/>
            <a:ext cx="39687" cy="128587"/>
          </a:xfrm>
          <a:prstGeom prst="rect">
            <a:avLst/>
          </a:prstGeom>
          <a:solidFill>
            <a:srgbClr val="0B3EE3"/>
          </a:solidFill>
          <a:ln w="381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SUMMER_E_shape_351"/>
          <p:cNvSpPr/>
          <p:nvPr/>
        </p:nvSpPr>
        <p:spPr>
          <a:xfrm>
            <a:off x="7612062" y="7295515"/>
            <a:ext cx="39687" cy="308609"/>
          </a:xfrm>
          <a:prstGeom prst="rect">
            <a:avLst/>
          </a:prstGeom>
          <a:solidFill>
            <a:srgbClr val="0B3EE3"/>
          </a:solidFill>
          <a:ln w="381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SUMMER_E_shape_352"/>
          <p:cNvSpPr/>
          <p:nvPr/>
        </p:nvSpPr>
        <p:spPr>
          <a:xfrm>
            <a:off x="7667625" y="7424102"/>
            <a:ext cx="39687" cy="180022"/>
          </a:xfrm>
          <a:prstGeom prst="rect">
            <a:avLst/>
          </a:prstGeom>
          <a:solidFill>
            <a:srgbClr val="0B3EE3"/>
          </a:solidFill>
          <a:ln w="381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SUMMER_E_shape_353"/>
          <p:cNvSpPr/>
          <p:nvPr/>
        </p:nvSpPr>
        <p:spPr>
          <a:xfrm>
            <a:off x="7723187" y="7509827"/>
            <a:ext cx="39687" cy="94297"/>
          </a:xfrm>
          <a:prstGeom prst="rect">
            <a:avLst/>
          </a:prstGeom>
          <a:solidFill>
            <a:srgbClr val="0B3EE3"/>
          </a:solidFill>
          <a:ln w="381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SUMMER_L_line_354"/>
          <p:cNvCxnSpPr/>
          <p:nvPr/>
        </p:nvCxnSpPr>
        <p:spPr>
          <a:xfrm>
            <a:off x="8255000" y="7104062"/>
            <a:ext cx="301625" cy="0"/>
          </a:xfrm>
          <a:prstGeom prst="line">
            <a:avLst/>
          </a:prstGeom>
          <a:ln w="15240">
            <a:solidFill>
              <a:srgbClr val="FF2D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UMMER_L_line_355"/>
          <p:cNvCxnSpPr/>
          <p:nvPr/>
        </p:nvCxnSpPr>
        <p:spPr>
          <a:xfrm>
            <a:off x="8556625" y="7104062"/>
            <a:ext cx="0" cy="357188"/>
          </a:xfrm>
          <a:prstGeom prst="line">
            <a:avLst/>
          </a:prstGeom>
          <a:ln w="15240">
            <a:solidFill>
              <a:srgbClr val="FF2D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SUMMER_L_line_356"/>
          <p:cNvCxnSpPr/>
          <p:nvPr/>
        </p:nvCxnSpPr>
        <p:spPr>
          <a:xfrm flipH="1">
            <a:off x="8255000" y="7461250"/>
            <a:ext cx="301625" cy="0"/>
          </a:xfrm>
          <a:prstGeom prst="line">
            <a:avLst/>
          </a:prstGeom>
          <a:ln w="15240">
            <a:solidFill>
              <a:srgbClr val="FF2D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UMMER_L_line_357"/>
          <p:cNvCxnSpPr/>
          <p:nvPr/>
        </p:nvCxnSpPr>
        <p:spPr>
          <a:xfrm flipV="1">
            <a:off x="8255000" y="7104062"/>
            <a:ext cx="0" cy="357188"/>
          </a:xfrm>
          <a:prstGeom prst="line">
            <a:avLst/>
          </a:prstGeom>
          <a:ln w="15240">
            <a:solidFill>
              <a:srgbClr val="FF2D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SUMMER_L_line_358"/>
          <p:cNvCxnSpPr/>
          <p:nvPr/>
        </p:nvCxnSpPr>
        <p:spPr>
          <a:xfrm>
            <a:off x="8374062" y="7254875"/>
            <a:ext cx="309563" cy="0"/>
          </a:xfrm>
          <a:prstGeom prst="line">
            <a:avLst/>
          </a:prstGeom>
          <a:ln w="15240">
            <a:solidFill>
              <a:srgbClr val="13C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SUMMER_L_line_359"/>
          <p:cNvCxnSpPr/>
          <p:nvPr/>
        </p:nvCxnSpPr>
        <p:spPr>
          <a:xfrm>
            <a:off x="8683625" y="7254875"/>
            <a:ext cx="0" cy="341312"/>
          </a:xfrm>
          <a:prstGeom prst="line">
            <a:avLst/>
          </a:prstGeom>
          <a:ln w="15240">
            <a:solidFill>
              <a:srgbClr val="13C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UMMER_L_line_360"/>
          <p:cNvCxnSpPr/>
          <p:nvPr/>
        </p:nvCxnSpPr>
        <p:spPr>
          <a:xfrm flipH="1">
            <a:off x="8374062" y="7596187"/>
            <a:ext cx="309563" cy="0"/>
          </a:xfrm>
          <a:prstGeom prst="line">
            <a:avLst/>
          </a:prstGeom>
          <a:ln w="15240">
            <a:solidFill>
              <a:srgbClr val="13C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SUMMER_L_line_361"/>
          <p:cNvCxnSpPr/>
          <p:nvPr/>
        </p:nvCxnSpPr>
        <p:spPr>
          <a:xfrm flipV="1">
            <a:off x="8374062" y="7254875"/>
            <a:ext cx="0" cy="341312"/>
          </a:xfrm>
          <a:prstGeom prst="line">
            <a:avLst/>
          </a:prstGeom>
          <a:ln w="15240">
            <a:solidFill>
              <a:srgbClr val="13C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SUMMER_E_text_362"/>
          <p:cNvSpPr txBox="1"/>
          <p:nvPr/>
        </p:nvSpPr>
        <p:spPr>
          <a:xfrm>
            <a:off x="7366000" y="7699375"/>
            <a:ext cx="650875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PingFang SC"/>
              </a:rPr>
              <a:t>类别概率</a:t>
            </a:r>
          </a:p>
        </p:txBody>
      </p:sp>
      <p:sp>
        <p:nvSpPr>
          <p:cNvPr id="388" name="SUMMER_E_text_363"/>
          <p:cNvSpPr txBox="1"/>
          <p:nvPr/>
        </p:nvSpPr>
        <p:spPr>
          <a:xfrm>
            <a:off x="8024812" y="7699375"/>
            <a:ext cx="873125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000000"/>
                </a:solidFill>
                <a:latin typeface="PingFang SC"/>
              </a:rPr>
              <a:t>归一化边界框坐标</a:t>
            </a:r>
          </a:p>
        </p:txBody>
      </p:sp>
      <p:sp>
        <p:nvSpPr>
          <p:cNvPr id="389" name="SUMMER_E_text_364"/>
          <p:cNvSpPr txBox="1"/>
          <p:nvPr/>
        </p:nvSpPr>
        <p:spPr>
          <a:xfrm>
            <a:off x="10040937" y="6746875"/>
            <a:ext cx="1230312" cy="198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0B3EE3"/>
                </a:solidFill>
                <a:latin typeface="PingFang SC"/>
              </a:rPr>
              <a:t>三模块协同优势</a:t>
            </a:r>
          </a:p>
        </p:txBody>
      </p:sp>
      <p:sp>
        <p:nvSpPr>
          <p:cNvPr id="390" name="SUMMER_E_advantage_target_outer"/>
          <p:cNvSpPr/>
          <p:nvPr/>
        </p:nvSpPr>
        <p:spPr>
          <a:xfrm>
            <a:off x="9255125" y="6977062"/>
            <a:ext cx="254000" cy="269875"/>
          </a:xfrm>
          <a:prstGeom prst="ellipse">
            <a:avLst/>
          </a:prstGeom>
          <a:noFill/>
          <a:ln w="18415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SUMMER_E_advantage_target_middle"/>
          <p:cNvSpPr/>
          <p:nvPr/>
        </p:nvSpPr>
        <p:spPr>
          <a:xfrm>
            <a:off x="9302750" y="7024687"/>
            <a:ext cx="174625" cy="174625"/>
          </a:xfrm>
          <a:prstGeom prst="ellipse">
            <a:avLst/>
          </a:prstGeom>
          <a:noFill/>
          <a:ln w="17145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SUMMER_E_advantage_target_inner"/>
          <p:cNvSpPr/>
          <p:nvPr/>
        </p:nvSpPr>
        <p:spPr>
          <a:xfrm>
            <a:off x="9350375" y="7072312"/>
            <a:ext cx="79375" cy="79375"/>
          </a:xfrm>
          <a:prstGeom prst="ellipse">
            <a:avLst/>
          </a:prstGeom>
          <a:noFill/>
          <a:ln w="15875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SUMMER_E_advantage_target_dot"/>
          <p:cNvSpPr/>
          <p:nvPr/>
        </p:nvSpPr>
        <p:spPr>
          <a:xfrm>
            <a:off x="9382125" y="7112000"/>
            <a:ext cx="31750" cy="31750"/>
          </a:xfrm>
          <a:prstGeom prst="ellipse">
            <a:avLst/>
          </a:prstGeom>
          <a:solidFill>
            <a:srgbClr val="0B3EE3"/>
          </a:solidFill>
          <a:ln w="5080">
            <a:solidFill>
              <a:srgbClr val="0B3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SUMMER_E_advantage_target_gap"/>
          <p:cNvSpPr/>
          <p:nvPr/>
        </p:nvSpPr>
        <p:spPr>
          <a:xfrm>
            <a:off x="9445625" y="6969125"/>
            <a:ext cx="87312" cy="87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SUMMER_L_advantage_target_arrow_shaft"/>
          <p:cNvCxnSpPr/>
          <p:nvPr/>
        </p:nvCxnSpPr>
        <p:spPr>
          <a:xfrm flipV="1">
            <a:off x="9398000" y="6977062"/>
            <a:ext cx="111125" cy="142875"/>
          </a:xfrm>
          <a:prstGeom prst="line">
            <a:avLst/>
          </a:prstGeom>
          <a:ln w="22860">
            <a:solidFill>
              <a:srgbClr val="0B3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SUMMER_L_advantage_target_arrow_head_1"/>
          <p:cNvCxnSpPr/>
          <p:nvPr/>
        </p:nvCxnSpPr>
        <p:spPr>
          <a:xfrm flipH="1">
            <a:off x="9445625" y="6977062"/>
            <a:ext cx="63500" cy="23813"/>
          </a:xfrm>
          <a:prstGeom prst="line">
            <a:avLst/>
          </a:prstGeom>
          <a:ln w="22860">
            <a:solidFill>
              <a:srgbClr val="0B3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UMMER_L_advantage_target_arrow_head_2"/>
          <p:cNvCxnSpPr/>
          <p:nvPr/>
        </p:nvCxnSpPr>
        <p:spPr>
          <a:xfrm flipH="1">
            <a:off x="9493250" y="6977062"/>
            <a:ext cx="15875" cy="71438"/>
          </a:xfrm>
          <a:prstGeom prst="line">
            <a:avLst/>
          </a:prstGeom>
          <a:ln w="22860">
            <a:solidFill>
              <a:srgbClr val="0B3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SUMMER_E_text_365"/>
          <p:cNvSpPr txBox="1"/>
          <p:nvPr/>
        </p:nvSpPr>
        <p:spPr>
          <a:xfrm>
            <a:off x="9683750" y="6969125"/>
            <a:ext cx="2143125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B3EE3"/>
                </a:solidFill>
                <a:latin typeface="PingFang SC"/>
              </a:rPr>
              <a:t>更精细：保留小目标细粒度特征</a:t>
            </a:r>
          </a:p>
        </p:txBody>
      </p:sp>
      <p:sp>
        <p:nvSpPr>
          <p:cNvPr id="399" name="SUMMER_E_advantage_shield"/>
          <p:cNvSpPr/>
          <p:nvPr/>
        </p:nvSpPr>
        <p:spPr>
          <a:xfrm>
            <a:off x="9271000" y="7289800"/>
            <a:ext cx="254000" cy="317500"/>
          </a:xfrm>
          <a:custGeom>
            <a:avLst/>
            <a:gdLst/>
            <a:ahLst/>
            <a:cxnLst/>
            <a:rect l="l" t="t" r="r" b="b"/>
            <a:pathLst>
              <a:path w="20" h="25">
                <a:moveTo>
                  <a:pt x="0" y="4"/>
                </a:moveTo>
                <a:lnTo>
                  <a:pt x="10" y="0"/>
                </a:lnTo>
                <a:lnTo>
                  <a:pt x="20" y="4"/>
                </a:lnTo>
                <a:lnTo>
                  <a:pt x="19" y="17"/>
                </a:lnTo>
                <a:lnTo>
                  <a:pt x="16" y="22"/>
                </a:lnTo>
                <a:lnTo>
                  <a:pt x="10" y="25"/>
                </a:lnTo>
                <a:lnTo>
                  <a:pt x="4" y="22"/>
                </a:lnTo>
                <a:lnTo>
                  <a:pt x="1" y="17"/>
                </a:lnTo>
                <a:close/>
              </a:path>
            </a:pathLst>
          </a:custGeom>
          <a:solidFill>
            <a:srgbClr val="00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SUMMER_L_advantage_shield_check_1"/>
          <p:cNvCxnSpPr/>
          <p:nvPr/>
        </p:nvCxnSpPr>
        <p:spPr>
          <a:xfrm>
            <a:off x="9334500" y="7461250"/>
            <a:ext cx="47625" cy="47625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SUMMER_L_advantage_shield_check_2"/>
          <p:cNvCxnSpPr/>
          <p:nvPr/>
        </p:nvCxnSpPr>
        <p:spPr>
          <a:xfrm flipV="1">
            <a:off x="9382125" y="7397750"/>
            <a:ext cx="87312" cy="111125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SUMMER_E_text_366"/>
          <p:cNvSpPr txBox="1"/>
          <p:nvPr/>
        </p:nvSpPr>
        <p:spPr>
          <a:xfrm>
            <a:off x="9683750" y="7326312"/>
            <a:ext cx="2143125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B5A1C"/>
                </a:solidFill>
                <a:latin typeface="PingFang SC"/>
              </a:rPr>
              <a:t>更鲁棒：增强方向性缺陷感知</a:t>
            </a:r>
          </a:p>
        </p:txBody>
      </p:sp>
      <p:sp>
        <p:nvSpPr>
          <p:cNvPr id="403" name="SUMMER_E_advantage_bar_1"/>
          <p:cNvSpPr/>
          <p:nvPr/>
        </p:nvSpPr>
        <p:spPr>
          <a:xfrm>
            <a:off x="9271000" y="7834312"/>
            <a:ext cx="47625" cy="95250"/>
          </a:xfrm>
          <a:prstGeom prst="rect">
            <a:avLst/>
          </a:prstGeom>
          <a:solidFill>
            <a:srgbClr val="FF471B"/>
          </a:solidFill>
          <a:ln w="381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UMMER_E_advantage_bar_2"/>
          <p:cNvSpPr/>
          <p:nvPr/>
        </p:nvSpPr>
        <p:spPr>
          <a:xfrm>
            <a:off x="9350375" y="7770812"/>
            <a:ext cx="55562" cy="158750"/>
          </a:xfrm>
          <a:prstGeom prst="rect">
            <a:avLst/>
          </a:prstGeom>
          <a:solidFill>
            <a:srgbClr val="FF471B"/>
          </a:solidFill>
          <a:ln w="381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SUMMER_E_advantage_bar_3"/>
          <p:cNvSpPr/>
          <p:nvPr/>
        </p:nvSpPr>
        <p:spPr>
          <a:xfrm>
            <a:off x="9445625" y="7715250"/>
            <a:ext cx="55562" cy="214312"/>
          </a:xfrm>
          <a:prstGeom prst="rect">
            <a:avLst/>
          </a:prstGeom>
          <a:solidFill>
            <a:srgbClr val="FF471B"/>
          </a:solidFill>
          <a:ln w="3810">
            <a:solidFill>
              <a:srgbClr val="FF4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SUMMER_L_advantage_growth_1"/>
          <p:cNvCxnSpPr/>
          <p:nvPr/>
        </p:nvCxnSpPr>
        <p:spPr>
          <a:xfrm flipV="1">
            <a:off x="9263062" y="7778750"/>
            <a:ext cx="71438" cy="71437"/>
          </a:xfrm>
          <a:prstGeom prst="line">
            <a:avLst/>
          </a:prstGeom>
          <a:ln w="25400">
            <a:solidFill>
              <a:srgbClr val="FF4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UMMER_L_advantage_growth_2"/>
          <p:cNvCxnSpPr/>
          <p:nvPr/>
        </p:nvCxnSpPr>
        <p:spPr>
          <a:xfrm>
            <a:off x="9334500" y="7778750"/>
            <a:ext cx="55562" cy="47625"/>
          </a:xfrm>
          <a:prstGeom prst="line">
            <a:avLst/>
          </a:prstGeom>
          <a:ln w="25400">
            <a:solidFill>
              <a:srgbClr val="FF4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UMMER_L_advantage_growth_3"/>
          <p:cNvCxnSpPr/>
          <p:nvPr/>
        </p:nvCxnSpPr>
        <p:spPr>
          <a:xfrm flipV="1">
            <a:off x="9390062" y="7699375"/>
            <a:ext cx="111125" cy="127000"/>
          </a:xfrm>
          <a:prstGeom prst="line">
            <a:avLst/>
          </a:prstGeom>
          <a:ln w="25400">
            <a:solidFill>
              <a:srgbClr val="FF4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UMMER_L_advantage_growth_head_1"/>
          <p:cNvCxnSpPr/>
          <p:nvPr/>
        </p:nvCxnSpPr>
        <p:spPr>
          <a:xfrm flipH="1">
            <a:off x="9437687" y="7699375"/>
            <a:ext cx="63500" cy="15875"/>
          </a:xfrm>
          <a:prstGeom prst="line">
            <a:avLst/>
          </a:prstGeom>
          <a:ln w="25400">
            <a:solidFill>
              <a:srgbClr val="FF4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UMMER_L_advantage_growth_head_2"/>
          <p:cNvCxnSpPr/>
          <p:nvPr/>
        </p:nvCxnSpPr>
        <p:spPr>
          <a:xfrm flipH="1">
            <a:off x="9493250" y="7699375"/>
            <a:ext cx="7937" cy="63500"/>
          </a:xfrm>
          <a:prstGeom prst="line">
            <a:avLst/>
          </a:prstGeom>
          <a:ln w="25400">
            <a:solidFill>
              <a:srgbClr val="FF4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SUMMER_E_text_367"/>
          <p:cNvSpPr txBox="1"/>
          <p:nvPr/>
        </p:nvSpPr>
        <p:spPr>
          <a:xfrm>
            <a:off x="9683750" y="7699375"/>
            <a:ext cx="2143125" cy="269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F2D19"/>
                </a:solidFill>
                <a:latin typeface="PingFang SC"/>
              </a:rPr>
              <a:t>更高效：自适应融合多尺度特征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MMER_R_reference_full" descr="02_referenc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