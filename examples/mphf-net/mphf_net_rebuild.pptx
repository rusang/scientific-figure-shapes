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MMER_B_banner"/>
          <p:cNvSpPr/>
          <p:nvPr/>
        </p:nvSpPr>
        <p:spPr>
          <a:xfrm>
            <a:off x="79375" y="63500"/>
            <a:ext cx="12033250" cy="428625"/>
          </a:xfrm>
          <a:prstGeom prst="roundRect">
            <a:avLst>
              <a:gd name="adj" fmla="val 18000"/>
            </a:avLst>
          </a:prstGeom>
          <a:solidFill>
            <a:srgbClr val="18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SUMMER_T_banner"/>
          <p:cNvSpPr txBox="1"/>
          <p:nvPr/>
        </p:nvSpPr>
        <p:spPr>
          <a:xfrm>
            <a:off x="79375" y="95250"/>
            <a:ext cx="12033250" cy="3651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MPHF-Net 工业表面缺陷检测网络结构设计图</a:t>
            </a:r>
          </a:p>
        </p:txBody>
      </p:sp>
      <p:sp>
        <p:nvSpPr>
          <p:cNvPr id="4" name="SUMMER_E_panel_input"/>
          <p:cNvSpPr/>
          <p:nvPr/>
        </p:nvSpPr>
        <p:spPr>
          <a:xfrm>
            <a:off x="95250" y="603250"/>
            <a:ext cx="1587500" cy="3651250"/>
          </a:xfrm>
          <a:prstGeom prst="roundRect">
            <a:avLst>
              <a:gd name="adj" fmla="val 5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SUMMER_E_panel_backbone"/>
          <p:cNvSpPr/>
          <p:nvPr/>
        </p:nvSpPr>
        <p:spPr>
          <a:xfrm>
            <a:off x="1809750" y="603250"/>
            <a:ext cx="2047875" cy="3651250"/>
          </a:xfrm>
          <a:prstGeom prst="roundRect">
            <a:avLst>
              <a:gd name="adj" fmla="val 5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SUMMER_E_panel_neck"/>
          <p:cNvSpPr/>
          <p:nvPr/>
        </p:nvSpPr>
        <p:spPr>
          <a:xfrm>
            <a:off x="3952875" y="603250"/>
            <a:ext cx="4556125" cy="3651250"/>
          </a:xfrm>
          <a:prstGeom prst="roundRect">
            <a:avLst>
              <a:gd name="adj" fmla="val 5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SUMMER_E_panel_head"/>
          <p:cNvSpPr/>
          <p:nvPr/>
        </p:nvSpPr>
        <p:spPr>
          <a:xfrm>
            <a:off x="8620125" y="603250"/>
            <a:ext cx="1905000" cy="3651250"/>
          </a:xfrm>
          <a:prstGeom prst="roundRect">
            <a:avLst>
              <a:gd name="adj" fmla="val 5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SUMMER_E_panel_legend"/>
          <p:cNvSpPr/>
          <p:nvPr/>
        </p:nvSpPr>
        <p:spPr>
          <a:xfrm>
            <a:off x="10636250" y="603250"/>
            <a:ext cx="1476375" cy="3651250"/>
          </a:xfrm>
          <a:prstGeom prst="roundRect">
            <a:avLst>
              <a:gd name="adj" fmla="val 5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SUMMER_T_input_title"/>
          <p:cNvSpPr txBox="1"/>
          <p:nvPr/>
        </p:nvSpPr>
        <p:spPr>
          <a:xfrm>
            <a:off x="95250" y="682625"/>
            <a:ext cx="1587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100" b="1">
                <a:solidFill>
                  <a:srgbClr val="282C3C"/>
                </a:solidFill>
              </a:rPr>
              <a:t>输入图像</a:t>
            </a:r>
          </a:p>
        </p:txBody>
      </p:sp>
      <p:pic>
        <p:nvPicPr>
          <p:cNvPr id="10" name="SUMMER_R1_pcb" descr="01_R1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285875"/>
            <a:ext cx="1357312" cy="1936750"/>
          </a:xfrm>
          <a:prstGeom prst="rect">
            <a:avLst/>
          </a:prstGeom>
        </p:spPr>
      </p:pic>
      <p:sp>
        <p:nvSpPr>
          <p:cNvPr id="11" name="SUMMER_T_input_size"/>
          <p:cNvSpPr txBox="1"/>
          <p:nvPr/>
        </p:nvSpPr>
        <p:spPr>
          <a:xfrm>
            <a:off x="95250" y="3413125"/>
            <a:ext cx="1587500" cy="1905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100" b="0">
                <a:solidFill>
                  <a:srgbClr val="282C3C"/>
                </a:solidFill>
              </a:rPr>
              <a:t>640 × 640 × 3</a:t>
            </a:r>
          </a:p>
        </p:txBody>
      </p:sp>
      <p:sp>
        <p:nvSpPr>
          <p:cNvPr id="12" name="SUMMER_T_backbone_title"/>
          <p:cNvSpPr txBox="1"/>
          <p:nvPr/>
        </p:nvSpPr>
        <p:spPr>
          <a:xfrm>
            <a:off x="1809750" y="682625"/>
            <a:ext cx="2047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100" b="1">
                <a:solidFill>
                  <a:srgbClr val="2550D8"/>
                </a:solidFill>
              </a:rPr>
              <a:t>Backbone：CSP-MEEM</a:t>
            </a:r>
          </a:p>
        </p:txBody>
      </p:sp>
      <p:sp>
        <p:nvSpPr>
          <p:cNvPr id="13" name="SUMMER_T_backbone_sub"/>
          <p:cNvSpPr txBox="1"/>
          <p:nvPr/>
        </p:nvSpPr>
        <p:spPr>
          <a:xfrm>
            <a:off x="1809750" y="857250"/>
            <a:ext cx="2047875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787E8C"/>
                </a:solidFill>
              </a:rPr>
              <a:t>多尺度细粒度特征提取</a:t>
            </a:r>
          </a:p>
        </p:txBody>
      </p:sp>
      <p:sp>
        <p:nvSpPr>
          <p:cNvPr id="14" name="SUMMER_E_bb1_top"/>
          <p:cNvSpPr/>
          <p:nvPr/>
        </p:nvSpPr>
        <p:spPr>
          <a:xfrm>
            <a:off x="2301875" y="1190625"/>
            <a:ext cx="285750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SUMMER_E_bb1_front"/>
          <p:cNvSpPr/>
          <p:nvPr/>
        </p:nvSpPr>
        <p:spPr>
          <a:xfrm>
            <a:off x="2301875" y="1254125"/>
            <a:ext cx="285750" cy="238125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SUMMER_E_bb1_right"/>
          <p:cNvSpPr/>
          <p:nvPr/>
        </p:nvSpPr>
        <p:spPr>
          <a:xfrm>
            <a:off x="2587625" y="1254125"/>
            <a:ext cx="63500" cy="238125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SUMMER_E_bb2_top"/>
          <p:cNvSpPr/>
          <p:nvPr/>
        </p:nvSpPr>
        <p:spPr>
          <a:xfrm>
            <a:off x="2143125" y="1444625"/>
            <a:ext cx="412750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SUMMER_E_bb2_front"/>
          <p:cNvSpPr/>
          <p:nvPr/>
        </p:nvSpPr>
        <p:spPr>
          <a:xfrm>
            <a:off x="2143125" y="1508125"/>
            <a:ext cx="412750" cy="365125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SUMMER_E_bb2_right"/>
          <p:cNvSpPr/>
          <p:nvPr/>
        </p:nvSpPr>
        <p:spPr>
          <a:xfrm>
            <a:off x="2555875" y="1508125"/>
            <a:ext cx="63500" cy="365125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SUMMER_E_bb3_top"/>
          <p:cNvSpPr/>
          <p:nvPr/>
        </p:nvSpPr>
        <p:spPr>
          <a:xfrm>
            <a:off x="1968500" y="1841500"/>
            <a:ext cx="555625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SUMMER_E_bb3_front"/>
          <p:cNvSpPr/>
          <p:nvPr/>
        </p:nvSpPr>
        <p:spPr>
          <a:xfrm>
            <a:off x="1968500" y="1905000"/>
            <a:ext cx="555625" cy="508000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SUMMER_E_bb3_right"/>
          <p:cNvSpPr/>
          <p:nvPr/>
        </p:nvSpPr>
        <p:spPr>
          <a:xfrm>
            <a:off x="2524125" y="1905000"/>
            <a:ext cx="63500" cy="508000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SUMMER_E_bb4_top"/>
          <p:cNvSpPr/>
          <p:nvPr/>
        </p:nvSpPr>
        <p:spPr>
          <a:xfrm>
            <a:off x="1762125" y="2349500"/>
            <a:ext cx="762000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SUMMER_E_bb4_front"/>
          <p:cNvSpPr/>
          <p:nvPr/>
        </p:nvSpPr>
        <p:spPr>
          <a:xfrm>
            <a:off x="1762125" y="2413000"/>
            <a:ext cx="762000" cy="666750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SUMMER_E_bb4_right"/>
          <p:cNvSpPr/>
          <p:nvPr/>
        </p:nvSpPr>
        <p:spPr>
          <a:xfrm>
            <a:off x="2524125" y="2413000"/>
            <a:ext cx="63500" cy="666750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SUMMER_T_backbone_dots"/>
          <p:cNvSpPr txBox="1"/>
          <p:nvPr/>
        </p:nvSpPr>
        <p:spPr>
          <a:xfrm>
            <a:off x="2143125" y="3587750"/>
            <a:ext cx="317500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100" b="1">
                <a:solidFill>
                  <a:srgbClr val="787E8C"/>
                </a:solidFill>
              </a:rPr>
              <a:t>⋮</a:t>
            </a:r>
          </a:p>
        </p:txBody>
      </p:sp>
      <p:sp>
        <p:nvSpPr>
          <p:cNvPr id="27" name="SUMMER_E_bb_c5"/>
          <p:cNvSpPr/>
          <p:nvPr/>
        </p:nvSpPr>
        <p:spPr>
          <a:xfrm>
            <a:off x="3143250" y="1516062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SUMMER_T_bb_c5"/>
          <p:cNvSpPr txBox="1"/>
          <p:nvPr/>
        </p:nvSpPr>
        <p:spPr>
          <a:xfrm>
            <a:off x="3143250" y="1547812"/>
            <a:ext cx="460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C5</a:t>
            </a:r>
          </a:p>
        </p:txBody>
      </p:sp>
      <p:sp>
        <p:nvSpPr>
          <p:cNvPr id="29" name="SUMMER_T_bb_c5_dim"/>
          <p:cNvSpPr txBox="1"/>
          <p:nvPr/>
        </p:nvSpPr>
        <p:spPr>
          <a:xfrm>
            <a:off x="3143250" y="1690687"/>
            <a:ext cx="46037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</a:rPr>
              <a:t>20×C</a:t>
            </a:r>
          </a:p>
        </p:txBody>
      </p:sp>
      <p:cxnSp>
        <p:nvCxnSpPr>
          <p:cNvPr id="30" name="SUMMER_L_bb_to_c5"/>
          <p:cNvCxnSpPr/>
          <p:nvPr/>
        </p:nvCxnSpPr>
        <p:spPr>
          <a:xfrm>
            <a:off x="2619375" y="1690687"/>
            <a:ext cx="523875" cy="0"/>
          </a:xfrm>
          <a:prstGeom prst="line">
            <a:avLst/>
          </a:prstGeom>
          <a:ln w="1524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UMMER_E_bb_c4"/>
          <p:cNvSpPr/>
          <p:nvPr/>
        </p:nvSpPr>
        <p:spPr>
          <a:xfrm>
            <a:off x="3143250" y="1984375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SUMMER_T_bb_c4"/>
          <p:cNvSpPr txBox="1"/>
          <p:nvPr/>
        </p:nvSpPr>
        <p:spPr>
          <a:xfrm>
            <a:off x="3143250" y="2016125"/>
            <a:ext cx="460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C4</a:t>
            </a:r>
          </a:p>
        </p:txBody>
      </p:sp>
      <p:sp>
        <p:nvSpPr>
          <p:cNvPr id="33" name="SUMMER_T_bb_c4_dim"/>
          <p:cNvSpPr txBox="1"/>
          <p:nvPr/>
        </p:nvSpPr>
        <p:spPr>
          <a:xfrm>
            <a:off x="3143250" y="2159000"/>
            <a:ext cx="46037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</a:rPr>
              <a:t>40×C</a:t>
            </a:r>
          </a:p>
        </p:txBody>
      </p:sp>
      <p:cxnSp>
        <p:nvCxnSpPr>
          <p:cNvPr id="34" name="SUMMER_L_bb_to_c4"/>
          <p:cNvCxnSpPr/>
          <p:nvPr/>
        </p:nvCxnSpPr>
        <p:spPr>
          <a:xfrm>
            <a:off x="2587625" y="2159000"/>
            <a:ext cx="555625" cy="0"/>
          </a:xfrm>
          <a:prstGeom prst="line">
            <a:avLst/>
          </a:prstGeom>
          <a:ln w="1524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MMER_E_bb_c3"/>
          <p:cNvSpPr/>
          <p:nvPr/>
        </p:nvSpPr>
        <p:spPr>
          <a:xfrm>
            <a:off x="3143250" y="2571750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SUMMER_T_bb_c3"/>
          <p:cNvSpPr txBox="1"/>
          <p:nvPr/>
        </p:nvSpPr>
        <p:spPr>
          <a:xfrm>
            <a:off x="3143250" y="2603500"/>
            <a:ext cx="460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</a:rPr>
              <a:t>C3</a:t>
            </a:r>
          </a:p>
        </p:txBody>
      </p:sp>
      <p:sp>
        <p:nvSpPr>
          <p:cNvPr id="37" name="SUMMER_T_bb_c3_dim"/>
          <p:cNvSpPr txBox="1"/>
          <p:nvPr/>
        </p:nvSpPr>
        <p:spPr>
          <a:xfrm>
            <a:off x="3143250" y="2746375"/>
            <a:ext cx="46037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</a:rPr>
              <a:t>80×C</a:t>
            </a:r>
          </a:p>
        </p:txBody>
      </p:sp>
      <p:cxnSp>
        <p:nvCxnSpPr>
          <p:cNvPr id="38" name="SUMMER_L_bb_to_c3"/>
          <p:cNvCxnSpPr/>
          <p:nvPr/>
        </p:nvCxnSpPr>
        <p:spPr>
          <a:xfrm>
            <a:off x="2587625" y="2746375"/>
            <a:ext cx="555625" cy="0"/>
          </a:xfrm>
          <a:prstGeom prst="line">
            <a:avLst/>
          </a:prstGeom>
          <a:ln w="1524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UMMER_E_bb_outbar"/>
          <p:cNvSpPr/>
          <p:nvPr/>
        </p:nvSpPr>
        <p:spPr>
          <a:xfrm>
            <a:off x="1905000" y="3857625"/>
            <a:ext cx="1714500" cy="238125"/>
          </a:xfrm>
          <a:prstGeom prst="roundRect">
            <a:avLst>
              <a:gd name="adj" fmla="val 8000"/>
            </a:avLst>
          </a:prstGeom>
          <a:solidFill>
            <a:srgbClr val="EBF1FF"/>
          </a:solidFill>
          <a:ln w="1270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SUMMER_T_bb_outbar"/>
          <p:cNvSpPr txBox="1"/>
          <p:nvPr/>
        </p:nvSpPr>
        <p:spPr>
          <a:xfrm>
            <a:off x="1905000" y="3889375"/>
            <a:ext cx="1714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</a:rPr>
              <a:t>输出多尺度特征</a:t>
            </a:r>
          </a:p>
        </p:txBody>
      </p:sp>
      <p:sp>
        <p:nvSpPr>
          <p:cNvPr id="41" name="SUMMER_T_neck_title"/>
          <p:cNvSpPr txBox="1"/>
          <p:nvPr/>
        </p:nvSpPr>
        <p:spPr>
          <a:xfrm>
            <a:off x="3952875" y="682625"/>
            <a:ext cx="455612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100" b="1">
                <a:solidFill>
                  <a:srgbClr val="1C9454"/>
                </a:solidFill>
              </a:rPr>
              <a:t>Neck：FPN-PAN （LOSC + CGAFusion）</a:t>
            </a:r>
          </a:p>
        </p:txBody>
      </p:sp>
      <p:sp>
        <p:nvSpPr>
          <p:cNvPr id="42" name="SUMMER_E_neck_td"/>
          <p:cNvSpPr/>
          <p:nvPr/>
        </p:nvSpPr>
        <p:spPr>
          <a:xfrm>
            <a:off x="4286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E2F4E6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SUMMER_T_neck_td"/>
          <p:cNvSpPr txBox="1"/>
          <p:nvPr/>
        </p:nvSpPr>
        <p:spPr>
          <a:xfrm>
            <a:off x="4286250" y="944562"/>
            <a:ext cx="1031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1">
                <a:solidFill>
                  <a:srgbClr val="1C9454"/>
                </a:solidFill>
              </a:rPr>
              <a:t>Top-Down 路径</a:t>
            </a:r>
          </a:p>
        </p:txBody>
      </p:sp>
      <p:sp>
        <p:nvSpPr>
          <p:cNvPr id="44" name="SUMMER_E_neck_bu"/>
          <p:cNvSpPr/>
          <p:nvPr/>
        </p:nvSpPr>
        <p:spPr>
          <a:xfrm>
            <a:off x="6572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FCECE2"/>
          </a:solidFill>
          <a:ln w="11430">
            <a:solidFill>
              <a:srgbClr val="E27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SUMMER_T_neck_bu"/>
          <p:cNvSpPr txBox="1"/>
          <p:nvPr/>
        </p:nvSpPr>
        <p:spPr>
          <a:xfrm>
            <a:off x="6572250" y="944562"/>
            <a:ext cx="1031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1">
                <a:solidFill>
                  <a:srgbClr val="CE6428"/>
                </a:solidFill>
              </a:rPr>
              <a:t>Bottom-Up 路径</a:t>
            </a:r>
          </a:p>
        </p:txBody>
      </p:sp>
      <p:sp>
        <p:nvSpPr>
          <p:cNvPr id="46" name="SUMMER_E_neck_c5"/>
          <p:cNvSpPr/>
          <p:nvPr/>
        </p:nvSpPr>
        <p:spPr>
          <a:xfrm>
            <a:off x="4381500" y="1206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SUMMER_T_neck_c5"/>
          <p:cNvSpPr txBox="1"/>
          <p:nvPr/>
        </p:nvSpPr>
        <p:spPr>
          <a:xfrm>
            <a:off x="4381500" y="1238250"/>
            <a:ext cx="317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</a:rPr>
              <a:t>C5</a:t>
            </a:r>
          </a:p>
        </p:txBody>
      </p:sp>
      <p:sp>
        <p:nvSpPr>
          <p:cNvPr id="48" name="SUMMER_E_neck_c4"/>
          <p:cNvSpPr/>
          <p:nvPr/>
        </p:nvSpPr>
        <p:spPr>
          <a:xfrm>
            <a:off x="4032250" y="2111375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SUMMER_T_neck_c4"/>
          <p:cNvSpPr txBox="1"/>
          <p:nvPr/>
        </p:nvSpPr>
        <p:spPr>
          <a:xfrm>
            <a:off x="4032250" y="2143125"/>
            <a:ext cx="317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</a:rPr>
              <a:t>C4</a:t>
            </a:r>
          </a:p>
        </p:txBody>
      </p:sp>
      <p:sp>
        <p:nvSpPr>
          <p:cNvPr id="50" name="SUMMER_E_neck_c3"/>
          <p:cNvSpPr/>
          <p:nvPr/>
        </p:nvSpPr>
        <p:spPr>
          <a:xfrm>
            <a:off x="4032250" y="3238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SUMMER_T_neck_c3"/>
          <p:cNvSpPr txBox="1"/>
          <p:nvPr/>
        </p:nvSpPr>
        <p:spPr>
          <a:xfrm>
            <a:off x="4032250" y="3270250"/>
            <a:ext cx="317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</a:rPr>
              <a:t>C3</a:t>
            </a:r>
          </a:p>
        </p:txBody>
      </p:sp>
      <p:sp>
        <p:nvSpPr>
          <p:cNvPr id="52" name="SUMMER_E_neck_up1"/>
          <p:cNvSpPr/>
          <p:nvPr/>
        </p:nvSpPr>
        <p:spPr>
          <a:xfrm>
            <a:off x="4667250" y="1651000"/>
            <a:ext cx="222250" cy="222250"/>
          </a:xfrm>
          <a:prstGeom prst="ellipse">
            <a:avLst/>
          </a:prstGeom>
          <a:solidFill>
            <a:srgbClr val="C4A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UMMER_E_neck_up1_text"/>
          <p:cNvSpPr txBox="1"/>
          <p:nvPr/>
        </p:nvSpPr>
        <p:spPr>
          <a:xfrm>
            <a:off x="4667250" y="1651000"/>
            <a:ext cx="222250" cy="2222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703EC8"/>
                </a:solidFill>
              </a:rPr>
              <a:t>UP</a:t>
            </a:r>
          </a:p>
        </p:txBody>
      </p:sp>
      <p:sp>
        <p:nvSpPr>
          <p:cNvPr id="54" name="SUMMER_E_neck_up2"/>
          <p:cNvSpPr/>
          <p:nvPr/>
        </p:nvSpPr>
        <p:spPr>
          <a:xfrm>
            <a:off x="4667250" y="2619375"/>
            <a:ext cx="222250" cy="222250"/>
          </a:xfrm>
          <a:prstGeom prst="ellipse">
            <a:avLst/>
          </a:prstGeom>
          <a:solidFill>
            <a:srgbClr val="C4A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UMMER_E_neck_up2_text"/>
          <p:cNvSpPr txBox="1"/>
          <p:nvPr/>
        </p:nvSpPr>
        <p:spPr>
          <a:xfrm>
            <a:off x="4667250" y="2619375"/>
            <a:ext cx="222250" cy="2222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703EC8"/>
                </a:solidFill>
              </a:rPr>
              <a:t>UP</a:t>
            </a:r>
          </a:p>
        </p:txBody>
      </p:sp>
      <p:sp>
        <p:nvSpPr>
          <p:cNvPr id="56" name="SUMMER_E_neck_add_td1"/>
          <p:cNvSpPr/>
          <p:nvPr/>
        </p:nvSpPr>
        <p:spPr>
          <a:xfrm>
            <a:off x="4675187" y="2119312"/>
            <a:ext cx="206375" cy="206375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UMMER_E_neck_add_td1_text"/>
          <p:cNvSpPr txBox="1"/>
          <p:nvPr/>
        </p:nvSpPr>
        <p:spPr>
          <a:xfrm>
            <a:off x="4675187" y="2119312"/>
            <a:ext cx="206375" cy="2063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8" name="SUMMER_E_neck_add_td2"/>
          <p:cNvSpPr/>
          <p:nvPr/>
        </p:nvSpPr>
        <p:spPr>
          <a:xfrm>
            <a:off x="4675187" y="3230562"/>
            <a:ext cx="206375" cy="206375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UMMER_E_neck_add_td2_text"/>
          <p:cNvSpPr txBox="1"/>
          <p:nvPr/>
        </p:nvSpPr>
        <p:spPr>
          <a:xfrm>
            <a:off x="4675187" y="3230562"/>
            <a:ext cx="206375" cy="2063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60" name="SUMMER_E_neck_fusion1"/>
          <p:cNvSpPr/>
          <p:nvPr/>
        </p:nvSpPr>
        <p:spPr>
          <a:xfrm>
            <a:off x="5238750" y="210343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SUMMER_T_neck_fusion1"/>
          <p:cNvSpPr txBox="1"/>
          <p:nvPr/>
        </p:nvSpPr>
        <p:spPr>
          <a:xfrm>
            <a:off x="5238750" y="2143125"/>
            <a:ext cx="7302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</a:rPr>
              <a:t>CGAFusion</a:t>
            </a:r>
          </a:p>
        </p:txBody>
      </p:sp>
      <p:sp>
        <p:nvSpPr>
          <p:cNvPr id="62" name="SUMMER_E_neck_fusion2"/>
          <p:cNvSpPr/>
          <p:nvPr/>
        </p:nvSpPr>
        <p:spPr>
          <a:xfrm>
            <a:off x="5238750" y="321468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SUMMER_T_neck_fusion2"/>
          <p:cNvSpPr txBox="1"/>
          <p:nvPr/>
        </p:nvSpPr>
        <p:spPr>
          <a:xfrm>
            <a:off x="5238750" y="3254375"/>
            <a:ext cx="7302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</a:rPr>
              <a:t>CGAFusion</a:t>
            </a:r>
          </a:p>
        </p:txBody>
      </p:sp>
      <p:sp>
        <p:nvSpPr>
          <p:cNvPr id="64" name="SUMMER_E_neck_add_p5"/>
          <p:cNvSpPr/>
          <p:nvPr/>
        </p:nvSpPr>
        <p:spPr>
          <a:xfrm>
            <a:off x="6977062" y="1341437"/>
            <a:ext cx="206375" cy="206375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UMMER_E_neck_add_p5_text"/>
          <p:cNvSpPr txBox="1"/>
          <p:nvPr/>
        </p:nvSpPr>
        <p:spPr>
          <a:xfrm>
            <a:off x="6977062" y="1341437"/>
            <a:ext cx="206375" cy="2063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66" name="SUMMER_E_neck_add_p4"/>
          <p:cNvSpPr/>
          <p:nvPr/>
        </p:nvSpPr>
        <p:spPr>
          <a:xfrm>
            <a:off x="6977062" y="2611437"/>
            <a:ext cx="206375" cy="206375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UMMER_E_neck_add_p4_text"/>
          <p:cNvSpPr txBox="1"/>
          <p:nvPr/>
        </p:nvSpPr>
        <p:spPr>
          <a:xfrm>
            <a:off x="6977062" y="2611437"/>
            <a:ext cx="206375" cy="2063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68" name="SUMMER_E_neck_add_p3"/>
          <p:cNvSpPr/>
          <p:nvPr/>
        </p:nvSpPr>
        <p:spPr>
          <a:xfrm>
            <a:off x="6977062" y="3611562"/>
            <a:ext cx="206375" cy="206375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UMMER_E_neck_add_p3_text"/>
          <p:cNvSpPr txBox="1"/>
          <p:nvPr/>
        </p:nvSpPr>
        <p:spPr>
          <a:xfrm>
            <a:off x="6977062" y="3611562"/>
            <a:ext cx="206375" cy="2063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70" name="SUMMER_E_neck_down1"/>
          <p:cNvSpPr/>
          <p:nvPr/>
        </p:nvSpPr>
        <p:spPr>
          <a:xfrm>
            <a:off x="6969125" y="1809750"/>
            <a:ext cx="222250" cy="22225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UMMER_E_neck_down1_text"/>
          <p:cNvSpPr txBox="1"/>
          <p:nvPr/>
        </p:nvSpPr>
        <p:spPr>
          <a:xfrm>
            <a:off x="6969125" y="1809750"/>
            <a:ext cx="222250" cy="2222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00" b="1">
                <a:solidFill>
                  <a:srgbClr val="783C0A"/>
                </a:solidFill>
              </a:rPr>
              <a:t>Down</a:t>
            </a:r>
          </a:p>
        </p:txBody>
      </p:sp>
      <p:sp>
        <p:nvSpPr>
          <p:cNvPr id="72" name="SUMMER_E_neck_down2"/>
          <p:cNvSpPr/>
          <p:nvPr/>
        </p:nvSpPr>
        <p:spPr>
          <a:xfrm>
            <a:off x="6969125" y="3095625"/>
            <a:ext cx="222250" cy="22225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UMMER_E_neck_down2_text"/>
          <p:cNvSpPr txBox="1"/>
          <p:nvPr/>
        </p:nvSpPr>
        <p:spPr>
          <a:xfrm>
            <a:off x="6969125" y="3095625"/>
            <a:ext cx="222250" cy="2222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00" b="1">
                <a:solidFill>
                  <a:srgbClr val="783C0A"/>
                </a:solidFill>
              </a:rPr>
              <a:t>Down</a:t>
            </a:r>
          </a:p>
        </p:txBody>
      </p:sp>
      <p:sp>
        <p:nvSpPr>
          <p:cNvPr id="74" name="SUMMER_E_neck_losc"/>
          <p:cNvSpPr/>
          <p:nvPr/>
        </p:nvSpPr>
        <p:spPr>
          <a:xfrm>
            <a:off x="6794500" y="2286000"/>
            <a:ext cx="571500" cy="206375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524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SUMMER_T_neck_losc"/>
          <p:cNvSpPr txBox="1"/>
          <p:nvPr/>
        </p:nvSpPr>
        <p:spPr>
          <a:xfrm>
            <a:off x="6794500" y="2309812"/>
            <a:ext cx="571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CE5A1E"/>
                </a:solidFill>
              </a:rPr>
              <a:t>LOSC</a:t>
            </a:r>
          </a:p>
        </p:txBody>
      </p:sp>
      <p:sp>
        <p:nvSpPr>
          <p:cNvPr id="76" name="SUMMER_E_neck_p5_top"/>
          <p:cNvSpPr/>
          <p:nvPr/>
        </p:nvSpPr>
        <p:spPr>
          <a:xfrm>
            <a:off x="7651750" y="1254125"/>
            <a:ext cx="269875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SUMMER_E_neck_p5_front"/>
          <p:cNvSpPr/>
          <p:nvPr/>
        </p:nvSpPr>
        <p:spPr>
          <a:xfrm>
            <a:off x="7651750" y="1317625"/>
            <a:ext cx="269875" cy="206375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SUMMER_E_neck_p5_right"/>
          <p:cNvSpPr/>
          <p:nvPr/>
        </p:nvSpPr>
        <p:spPr>
          <a:xfrm>
            <a:off x="7921625" y="1317625"/>
            <a:ext cx="63500" cy="206375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SUMMER_T_neck_p5"/>
          <p:cNvSpPr txBox="1"/>
          <p:nvPr/>
        </p:nvSpPr>
        <p:spPr>
          <a:xfrm>
            <a:off x="8032750" y="1222375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P5</a:t>
            </a:r>
          </a:p>
        </p:txBody>
      </p:sp>
      <p:sp>
        <p:nvSpPr>
          <p:cNvPr id="80" name="SUMMER_T_neck_p5_dim"/>
          <p:cNvSpPr txBox="1"/>
          <p:nvPr/>
        </p:nvSpPr>
        <p:spPr>
          <a:xfrm>
            <a:off x="8032750" y="1365250"/>
            <a:ext cx="412750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</a:rPr>
              <a:t>20×C</a:t>
            </a:r>
          </a:p>
        </p:txBody>
      </p:sp>
      <p:sp>
        <p:nvSpPr>
          <p:cNvPr id="81" name="SUMMER_E_neck_p4_top"/>
          <p:cNvSpPr/>
          <p:nvPr/>
        </p:nvSpPr>
        <p:spPr>
          <a:xfrm>
            <a:off x="7651750" y="2524125"/>
            <a:ext cx="269875" cy="63500"/>
          </a:xfrm>
          <a:prstGeom prst="rect">
            <a:avLst/>
          </a:prstGeom>
          <a:solidFill>
            <a:srgbClr val="98E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SUMMER_E_neck_p4_front"/>
          <p:cNvSpPr/>
          <p:nvPr/>
        </p:nvSpPr>
        <p:spPr>
          <a:xfrm>
            <a:off x="7651750" y="2587625"/>
            <a:ext cx="269875" cy="206375"/>
          </a:xfrm>
          <a:prstGeom prst="rect">
            <a:avLst/>
          </a:prstGeom>
          <a:solidFill>
            <a:srgbClr val="7CC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SUMMER_E_neck_p4_right"/>
          <p:cNvSpPr/>
          <p:nvPr/>
        </p:nvSpPr>
        <p:spPr>
          <a:xfrm>
            <a:off x="7921625" y="2587625"/>
            <a:ext cx="63500" cy="206375"/>
          </a:xfrm>
          <a:prstGeom prst="rect">
            <a:avLst/>
          </a:prstGeom>
          <a:solidFill>
            <a:srgbClr val="509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SUMMER_T_neck_p4"/>
          <p:cNvSpPr txBox="1"/>
          <p:nvPr/>
        </p:nvSpPr>
        <p:spPr>
          <a:xfrm>
            <a:off x="8032750" y="2492375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1C9454"/>
                </a:solidFill>
              </a:rPr>
              <a:t>P4</a:t>
            </a:r>
          </a:p>
        </p:txBody>
      </p:sp>
      <p:sp>
        <p:nvSpPr>
          <p:cNvPr id="85" name="SUMMER_T_neck_p4_dim"/>
          <p:cNvSpPr txBox="1"/>
          <p:nvPr/>
        </p:nvSpPr>
        <p:spPr>
          <a:xfrm>
            <a:off x="8032750" y="2635250"/>
            <a:ext cx="412750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1C9454"/>
                </a:solidFill>
              </a:rPr>
              <a:t>40×C</a:t>
            </a:r>
          </a:p>
        </p:txBody>
      </p:sp>
      <p:sp>
        <p:nvSpPr>
          <p:cNvPr id="86" name="SUMMER_E_neck_p3_top"/>
          <p:cNvSpPr/>
          <p:nvPr/>
        </p:nvSpPr>
        <p:spPr>
          <a:xfrm>
            <a:off x="7651750" y="3524250"/>
            <a:ext cx="269875" cy="63500"/>
          </a:xfrm>
          <a:prstGeom prst="rect">
            <a:avLst/>
          </a:prstGeom>
          <a:solidFill>
            <a:srgbClr val="FF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SUMMER_E_neck_p3_front"/>
          <p:cNvSpPr/>
          <p:nvPr/>
        </p:nvSpPr>
        <p:spPr>
          <a:xfrm>
            <a:off x="7651750" y="3587750"/>
            <a:ext cx="269875" cy="206375"/>
          </a:xfrm>
          <a:prstGeom prst="rect">
            <a:avLst/>
          </a:prstGeom>
          <a:solidFill>
            <a:srgbClr val="F07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SUMMER_E_neck_p3_right"/>
          <p:cNvSpPr/>
          <p:nvPr/>
        </p:nvSpPr>
        <p:spPr>
          <a:xfrm>
            <a:off x="7921625" y="3587750"/>
            <a:ext cx="63500" cy="206375"/>
          </a:xfrm>
          <a:prstGeom prst="rect">
            <a:avLst/>
          </a:prstGeom>
          <a:solidFill>
            <a:srgbClr val="C4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SUMMER_T_neck_p3"/>
          <p:cNvSpPr txBox="1"/>
          <p:nvPr/>
        </p:nvSpPr>
        <p:spPr>
          <a:xfrm>
            <a:off x="8032750" y="3492500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</a:rPr>
              <a:t>P3</a:t>
            </a:r>
          </a:p>
        </p:txBody>
      </p:sp>
      <p:sp>
        <p:nvSpPr>
          <p:cNvPr id="90" name="SUMMER_T_neck_p3_dim"/>
          <p:cNvSpPr txBox="1"/>
          <p:nvPr/>
        </p:nvSpPr>
        <p:spPr>
          <a:xfrm>
            <a:off x="8032750" y="3635375"/>
            <a:ext cx="412750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</a:rPr>
              <a:t>80×C</a:t>
            </a:r>
          </a:p>
        </p:txBody>
      </p:sp>
      <p:cxnSp>
        <p:nvCxnSpPr>
          <p:cNvPr id="91" name="SUMMER_L_neck_c5_up"/>
          <p:cNvCxnSpPr/>
          <p:nvPr/>
        </p:nvCxnSpPr>
        <p:spPr>
          <a:xfrm>
            <a:off x="4540250" y="1444625"/>
            <a:ext cx="230187" cy="206375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UMMER_L_neck_up1_add"/>
          <p:cNvCxnSpPr/>
          <p:nvPr/>
        </p:nvCxnSpPr>
        <p:spPr>
          <a:xfrm>
            <a:off x="4778375" y="1873250"/>
            <a:ext cx="0" cy="246062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UMMER_L_neck_c4_add"/>
          <p:cNvCxnSpPr/>
          <p:nvPr/>
        </p:nvCxnSpPr>
        <p:spPr>
          <a:xfrm>
            <a:off x="4349750" y="2222500"/>
            <a:ext cx="325437" cy="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UMMER_L_neck_add1_fusion"/>
          <p:cNvCxnSpPr/>
          <p:nvPr/>
        </p:nvCxnSpPr>
        <p:spPr>
          <a:xfrm>
            <a:off x="4881562" y="2222500"/>
            <a:ext cx="357188" cy="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UMMER_L_neck_up2_add"/>
          <p:cNvCxnSpPr/>
          <p:nvPr/>
        </p:nvCxnSpPr>
        <p:spPr>
          <a:xfrm>
            <a:off x="4778375" y="2841625"/>
            <a:ext cx="0" cy="388937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UMMER_L_neck_c3_add"/>
          <p:cNvCxnSpPr/>
          <p:nvPr/>
        </p:nvCxnSpPr>
        <p:spPr>
          <a:xfrm>
            <a:off x="4349750" y="3341687"/>
            <a:ext cx="325437" cy="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UMMER_L_neck_add2_fusion"/>
          <p:cNvCxnSpPr/>
          <p:nvPr/>
        </p:nvCxnSpPr>
        <p:spPr>
          <a:xfrm>
            <a:off x="4881562" y="3333750"/>
            <a:ext cx="357188" cy="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UMMER_L_neck_fusion1_add"/>
          <p:cNvCxnSpPr/>
          <p:nvPr/>
        </p:nvCxnSpPr>
        <p:spPr>
          <a:xfrm flipV="1">
            <a:off x="5969000" y="1500187"/>
            <a:ext cx="1023937" cy="722313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UMMER_L_neck_fusion2_add"/>
          <p:cNvCxnSpPr/>
          <p:nvPr/>
        </p:nvCxnSpPr>
        <p:spPr>
          <a:xfrm>
            <a:off x="5969000" y="3333750"/>
            <a:ext cx="1023937" cy="325437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UMMER_L_neck_addp5_cube"/>
          <p:cNvCxnSpPr/>
          <p:nvPr/>
        </p:nvCxnSpPr>
        <p:spPr>
          <a:xfrm flipV="1">
            <a:off x="7183437" y="1436687"/>
            <a:ext cx="468313" cy="7938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UMMER_L_neck_addp4_cube"/>
          <p:cNvCxnSpPr/>
          <p:nvPr/>
        </p:nvCxnSpPr>
        <p:spPr>
          <a:xfrm flipV="1">
            <a:off x="7183437" y="2706687"/>
            <a:ext cx="468313" cy="7938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UMMER_L_neck_addp3_cube"/>
          <p:cNvCxnSpPr/>
          <p:nvPr/>
        </p:nvCxnSpPr>
        <p:spPr>
          <a:xfrm flipV="1">
            <a:off x="7183437" y="3706812"/>
            <a:ext cx="468313" cy="7938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UMMER_L_neck_addp5_down"/>
          <p:cNvCxnSpPr/>
          <p:nvPr/>
        </p:nvCxnSpPr>
        <p:spPr>
          <a:xfrm>
            <a:off x="7080250" y="1547812"/>
            <a:ext cx="0" cy="261938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UMMER_L_neck_down_losc"/>
          <p:cNvCxnSpPr/>
          <p:nvPr/>
        </p:nvCxnSpPr>
        <p:spPr>
          <a:xfrm>
            <a:off x="7080250" y="2032000"/>
            <a:ext cx="0" cy="25400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UMMER_L_neck_losc_addp4"/>
          <p:cNvCxnSpPr/>
          <p:nvPr/>
        </p:nvCxnSpPr>
        <p:spPr>
          <a:xfrm>
            <a:off x="7080250" y="2492375"/>
            <a:ext cx="0" cy="119062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UMMER_L_neck_addp4_down2"/>
          <p:cNvCxnSpPr/>
          <p:nvPr/>
        </p:nvCxnSpPr>
        <p:spPr>
          <a:xfrm>
            <a:off x="7080250" y="2817812"/>
            <a:ext cx="0" cy="277813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UMMER_L_neck_down2_addp3"/>
          <p:cNvCxnSpPr/>
          <p:nvPr/>
        </p:nvCxnSpPr>
        <p:spPr>
          <a:xfrm>
            <a:off x="7080250" y="3317875"/>
            <a:ext cx="0" cy="293687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UMMER_LD_skip1"/>
          <p:cNvCxnSpPr/>
          <p:nvPr/>
        </p:nvCxnSpPr>
        <p:spPr>
          <a:xfrm>
            <a:off x="5603875" y="2349500"/>
            <a:ext cx="0" cy="865187"/>
          </a:xfrm>
          <a:prstGeom prst="line">
            <a:avLst/>
          </a:prstGeom>
          <a:ln w="12700">
            <a:solidFill>
              <a:srgbClr val="787E8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UMMER_LD_skip2"/>
          <p:cNvCxnSpPr/>
          <p:nvPr/>
        </p:nvCxnSpPr>
        <p:spPr>
          <a:xfrm>
            <a:off x="4921250" y="1206500"/>
            <a:ext cx="317500" cy="952500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SUMMER_E_neck_note_cga"/>
          <p:cNvSpPr/>
          <p:nvPr/>
        </p:nvSpPr>
        <p:spPr>
          <a:xfrm>
            <a:off x="401637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SUMMER_T_neck_note_cga"/>
          <p:cNvSpPr txBox="1"/>
          <p:nvPr/>
        </p:nvSpPr>
        <p:spPr>
          <a:xfrm>
            <a:off x="4016375" y="4064000"/>
            <a:ext cx="1984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0">
                <a:solidFill>
                  <a:srgbClr val="2550D8"/>
                </a:solidFill>
              </a:rPr>
              <a:t>CGAFusion（高低频自适应融合）</a:t>
            </a:r>
          </a:p>
        </p:txBody>
      </p:sp>
      <p:sp>
        <p:nvSpPr>
          <p:cNvPr id="112" name="SUMMER_E_neck_note_losc"/>
          <p:cNvSpPr/>
          <p:nvPr/>
        </p:nvSpPr>
        <p:spPr>
          <a:xfrm>
            <a:off x="614362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FDEEE8"/>
          </a:solidFill>
          <a:ln w="1016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SUMMER_T_neck_note_losc"/>
          <p:cNvSpPr txBox="1"/>
          <p:nvPr/>
        </p:nvSpPr>
        <p:spPr>
          <a:xfrm>
            <a:off x="6143625" y="4064000"/>
            <a:ext cx="1984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0">
                <a:solidFill>
                  <a:srgbClr val="E03A26"/>
                </a:solidFill>
              </a:rPr>
              <a:t>LOSC（方向性下采样建模）</a:t>
            </a:r>
          </a:p>
        </p:txBody>
      </p:sp>
      <p:sp>
        <p:nvSpPr>
          <p:cNvPr id="114" name="SUMMER_T_head_title"/>
          <p:cNvSpPr txBox="1"/>
          <p:nvPr/>
        </p:nvSpPr>
        <p:spPr>
          <a:xfrm>
            <a:off x="8620125" y="682625"/>
            <a:ext cx="19050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50" b="1">
                <a:solidFill>
                  <a:srgbClr val="703EC8"/>
                </a:solidFill>
              </a:rPr>
              <a:t>Head：RT-DETR 原始检测头</a:t>
            </a:r>
          </a:p>
        </p:txBody>
      </p:sp>
      <p:sp>
        <p:nvSpPr>
          <p:cNvPr id="115" name="SUMMER_E_head_iou"/>
          <p:cNvSpPr/>
          <p:nvPr/>
        </p:nvSpPr>
        <p:spPr>
          <a:xfrm>
            <a:off x="8715375" y="1127125"/>
            <a:ext cx="1714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SUMMER_T_head_iou"/>
          <p:cNvSpPr txBox="1"/>
          <p:nvPr/>
        </p:nvSpPr>
        <p:spPr>
          <a:xfrm>
            <a:off x="8715375" y="1206500"/>
            <a:ext cx="1714500" cy="285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282C3C"/>
                </a:solidFill>
              </a:rPr>
              <a:t>IoU-Aware</a:t>
            </a:r>
          </a:p>
          <a:p>
            <a:pPr algn="ctr"/>
            <a:r>
              <a:rPr sz="900" b="1">
                <a:solidFill>
                  <a:srgbClr val="282C3C"/>
                </a:solidFill>
              </a:rPr>
              <a:t>Query Selection</a:t>
            </a:r>
          </a:p>
        </p:txBody>
      </p:sp>
      <p:sp>
        <p:nvSpPr>
          <p:cNvPr id="117" name="SUMMER_E_head_iou_sq_0"/>
          <p:cNvSpPr/>
          <p:nvPr/>
        </p:nvSpPr>
        <p:spPr>
          <a:xfrm>
            <a:off x="8858250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SUMMER_E_head_iou_sq_1"/>
          <p:cNvSpPr/>
          <p:nvPr/>
        </p:nvSpPr>
        <p:spPr>
          <a:xfrm>
            <a:off x="8993187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SUMMER_E_head_iou_sq_2"/>
          <p:cNvSpPr/>
          <p:nvPr/>
        </p:nvSpPr>
        <p:spPr>
          <a:xfrm>
            <a:off x="9128125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SUMMER_E_head_iou_sq_3"/>
          <p:cNvSpPr/>
          <p:nvPr/>
        </p:nvSpPr>
        <p:spPr>
          <a:xfrm>
            <a:off x="9263062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SUMMER_E_head_iou_sq_4"/>
          <p:cNvSpPr/>
          <p:nvPr/>
        </p:nvSpPr>
        <p:spPr>
          <a:xfrm>
            <a:off x="9398000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SUMMER_E_head_iou_sq_5"/>
          <p:cNvSpPr/>
          <p:nvPr/>
        </p:nvSpPr>
        <p:spPr>
          <a:xfrm>
            <a:off x="9532937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SUMMER_E_head_iou_sq_6"/>
          <p:cNvSpPr/>
          <p:nvPr/>
        </p:nvSpPr>
        <p:spPr>
          <a:xfrm>
            <a:off x="9667875" y="160337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SUMMER_E_head_iou_sq_dots"/>
          <p:cNvSpPr txBox="1"/>
          <p:nvPr/>
        </p:nvSpPr>
        <p:spPr>
          <a:xfrm>
            <a:off x="9818687" y="1587500"/>
            <a:ext cx="238125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</a:rPr>
              <a:t>····</a:t>
            </a:r>
          </a:p>
        </p:txBody>
      </p:sp>
      <p:cxnSp>
        <p:nvCxnSpPr>
          <p:cNvPr id="125" name="SUMMER_L_head_iou_dec"/>
          <p:cNvCxnSpPr/>
          <p:nvPr/>
        </p:nvCxnSpPr>
        <p:spPr>
          <a:xfrm>
            <a:off x="9572625" y="1889125"/>
            <a:ext cx="0" cy="428625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SUMMER_E_head_dec"/>
          <p:cNvSpPr/>
          <p:nvPr/>
        </p:nvSpPr>
        <p:spPr>
          <a:xfrm>
            <a:off x="8715375" y="2317750"/>
            <a:ext cx="1714500" cy="857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SUMMER_T_head_dec"/>
          <p:cNvSpPr txBox="1"/>
          <p:nvPr/>
        </p:nvSpPr>
        <p:spPr>
          <a:xfrm>
            <a:off x="8715375" y="2381250"/>
            <a:ext cx="1714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282C3C"/>
                </a:solidFill>
              </a:rPr>
              <a:t>Transformer Decoder × 6 层</a:t>
            </a:r>
          </a:p>
        </p:txBody>
      </p:sp>
      <p:sp>
        <p:nvSpPr>
          <p:cNvPr id="128" name="SUMMER_E_head_dec_sq_0"/>
          <p:cNvSpPr/>
          <p:nvPr/>
        </p:nvSpPr>
        <p:spPr>
          <a:xfrm>
            <a:off x="8842375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SUMMER_E_head_dec_sq_1"/>
          <p:cNvSpPr/>
          <p:nvPr/>
        </p:nvSpPr>
        <p:spPr>
          <a:xfrm>
            <a:off x="9009062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SUMMER_E_head_dec_sq_2"/>
          <p:cNvSpPr/>
          <p:nvPr/>
        </p:nvSpPr>
        <p:spPr>
          <a:xfrm>
            <a:off x="9175750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SUMMER_E_head_dec_sq_3"/>
          <p:cNvSpPr/>
          <p:nvPr/>
        </p:nvSpPr>
        <p:spPr>
          <a:xfrm>
            <a:off x="9342437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SUMMER_E_head_dec_sq_4"/>
          <p:cNvSpPr/>
          <p:nvPr/>
        </p:nvSpPr>
        <p:spPr>
          <a:xfrm>
            <a:off x="9509125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SUMMER_E_head_dec_sq_5"/>
          <p:cNvSpPr/>
          <p:nvPr/>
        </p:nvSpPr>
        <p:spPr>
          <a:xfrm>
            <a:off x="9675812" y="2698750"/>
            <a:ext cx="111125" cy="111125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SUMMER_E_head_dec_sq_dots"/>
          <p:cNvSpPr txBox="1"/>
          <p:nvPr/>
        </p:nvSpPr>
        <p:spPr>
          <a:xfrm>
            <a:off x="9858375" y="2682875"/>
            <a:ext cx="23812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</a:rPr>
              <a:t>····</a:t>
            </a:r>
          </a:p>
        </p:txBody>
      </p:sp>
      <p:cxnSp>
        <p:nvCxnSpPr>
          <p:cNvPr id="135" name="SUMMER_L_head_dec_out"/>
          <p:cNvCxnSpPr/>
          <p:nvPr/>
        </p:nvCxnSpPr>
        <p:spPr>
          <a:xfrm>
            <a:off x="9572625" y="3175000"/>
            <a:ext cx="0" cy="25400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SUMMER_E_head_out"/>
          <p:cNvSpPr/>
          <p:nvPr/>
        </p:nvSpPr>
        <p:spPr>
          <a:xfrm>
            <a:off x="8715375" y="3429000"/>
            <a:ext cx="1714500" cy="73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SUMMER_T_head_out"/>
          <p:cNvSpPr txBox="1"/>
          <p:nvPr/>
        </p:nvSpPr>
        <p:spPr>
          <a:xfrm>
            <a:off x="8715375" y="3476625"/>
            <a:ext cx="1714500" cy="269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0">
                <a:solidFill>
                  <a:srgbClr val="282C3C"/>
                </a:solidFill>
              </a:rPr>
              <a:t>输出：</a:t>
            </a:r>
          </a:p>
          <a:p>
            <a:pPr algn="ctr"/>
            <a:r>
              <a:rPr sz="850" b="0">
                <a:solidFill>
                  <a:srgbClr val="282C3C"/>
                </a:solidFill>
              </a:rPr>
              <a:t>类别概率 + 归一化边界框坐标</a:t>
            </a:r>
          </a:p>
        </p:txBody>
      </p:sp>
      <p:sp>
        <p:nvSpPr>
          <p:cNvPr id="138" name="SUMMER_E_head_bars_0"/>
          <p:cNvSpPr/>
          <p:nvPr/>
        </p:nvSpPr>
        <p:spPr>
          <a:xfrm>
            <a:off x="9017000" y="3905250"/>
            <a:ext cx="55562" cy="1428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SUMMER_E_head_bars_1"/>
          <p:cNvSpPr/>
          <p:nvPr/>
        </p:nvSpPr>
        <p:spPr>
          <a:xfrm>
            <a:off x="9096375" y="3810000"/>
            <a:ext cx="55562" cy="23812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SUMMER_E_head_bars_2"/>
          <p:cNvSpPr/>
          <p:nvPr/>
        </p:nvSpPr>
        <p:spPr>
          <a:xfrm>
            <a:off x="9175750" y="3952875"/>
            <a:ext cx="55562" cy="9525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SUMMER_E_head_bars_3"/>
          <p:cNvSpPr/>
          <p:nvPr/>
        </p:nvSpPr>
        <p:spPr>
          <a:xfrm>
            <a:off x="9255125" y="3857625"/>
            <a:ext cx="55562" cy="19050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SUMMER_E_head_bbox"/>
          <p:cNvSpPr/>
          <p:nvPr/>
        </p:nvSpPr>
        <p:spPr>
          <a:xfrm>
            <a:off x="9652000" y="3794125"/>
            <a:ext cx="317500" cy="254000"/>
          </a:xfrm>
          <a:prstGeom prst="rect">
            <a:avLst/>
          </a:prstGeom>
          <a:noFill/>
          <a:ln w="15240">
            <a:solidFill>
              <a:srgbClr val="255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SUMMER_T_legend_title"/>
          <p:cNvSpPr txBox="1"/>
          <p:nvPr/>
        </p:nvSpPr>
        <p:spPr>
          <a:xfrm>
            <a:off x="10636250" y="682625"/>
            <a:ext cx="1476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50" b="1">
                <a:solidFill>
                  <a:srgbClr val="282C3C"/>
                </a:solidFill>
              </a:rPr>
              <a:t>图例说明</a:t>
            </a:r>
          </a:p>
        </p:txBody>
      </p:sp>
      <p:sp>
        <p:nvSpPr>
          <p:cNvPr id="144" name="SUMMER_E_lg_p5_top"/>
          <p:cNvSpPr/>
          <p:nvPr/>
        </p:nvSpPr>
        <p:spPr>
          <a:xfrm>
            <a:off x="10747375" y="1047750"/>
            <a:ext cx="158750" cy="39687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SUMMER_E_lg_p5_front"/>
          <p:cNvSpPr/>
          <p:nvPr/>
        </p:nvSpPr>
        <p:spPr>
          <a:xfrm>
            <a:off x="10747375" y="1087437"/>
            <a:ext cx="158750" cy="111125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SUMMER_E_lg_p5_right"/>
          <p:cNvSpPr/>
          <p:nvPr/>
        </p:nvSpPr>
        <p:spPr>
          <a:xfrm>
            <a:off x="10906125" y="1087437"/>
            <a:ext cx="39687" cy="111125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SUMMER_T_lg_p5"/>
          <p:cNvSpPr txBox="1"/>
          <p:nvPr/>
        </p:nvSpPr>
        <p:spPr>
          <a:xfrm>
            <a:off x="11017250" y="103187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P5 / C5 （20×C）</a:t>
            </a:r>
          </a:p>
        </p:txBody>
      </p:sp>
      <p:sp>
        <p:nvSpPr>
          <p:cNvPr id="148" name="SUMMER_E_lg_p4_top"/>
          <p:cNvSpPr/>
          <p:nvPr/>
        </p:nvSpPr>
        <p:spPr>
          <a:xfrm>
            <a:off x="10747375" y="1333500"/>
            <a:ext cx="158750" cy="39687"/>
          </a:xfrm>
          <a:prstGeom prst="rect">
            <a:avLst/>
          </a:prstGeom>
          <a:solidFill>
            <a:srgbClr val="98E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SUMMER_E_lg_p4_front"/>
          <p:cNvSpPr/>
          <p:nvPr/>
        </p:nvSpPr>
        <p:spPr>
          <a:xfrm>
            <a:off x="10747375" y="1373187"/>
            <a:ext cx="158750" cy="111125"/>
          </a:xfrm>
          <a:prstGeom prst="rect">
            <a:avLst/>
          </a:prstGeom>
          <a:solidFill>
            <a:srgbClr val="7CC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SUMMER_E_lg_p4_right"/>
          <p:cNvSpPr/>
          <p:nvPr/>
        </p:nvSpPr>
        <p:spPr>
          <a:xfrm>
            <a:off x="10906125" y="1373187"/>
            <a:ext cx="39687" cy="111125"/>
          </a:xfrm>
          <a:prstGeom prst="rect">
            <a:avLst/>
          </a:prstGeom>
          <a:solidFill>
            <a:srgbClr val="509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SUMMER_T_lg_p4"/>
          <p:cNvSpPr txBox="1"/>
          <p:nvPr/>
        </p:nvSpPr>
        <p:spPr>
          <a:xfrm>
            <a:off x="11017250" y="131762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P4 / C4 （40×C）</a:t>
            </a:r>
          </a:p>
        </p:txBody>
      </p:sp>
      <p:sp>
        <p:nvSpPr>
          <p:cNvPr id="152" name="SUMMER_E_lg_p3_top"/>
          <p:cNvSpPr/>
          <p:nvPr/>
        </p:nvSpPr>
        <p:spPr>
          <a:xfrm>
            <a:off x="10747375" y="1619250"/>
            <a:ext cx="158750" cy="39687"/>
          </a:xfrm>
          <a:prstGeom prst="rect">
            <a:avLst/>
          </a:prstGeom>
          <a:solidFill>
            <a:srgbClr val="FF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SUMMER_E_lg_p3_front"/>
          <p:cNvSpPr/>
          <p:nvPr/>
        </p:nvSpPr>
        <p:spPr>
          <a:xfrm>
            <a:off x="10747375" y="1658937"/>
            <a:ext cx="158750" cy="111125"/>
          </a:xfrm>
          <a:prstGeom prst="rect">
            <a:avLst/>
          </a:prstGeom>
          <a:solidFill>
            <a:srgbClr val="F07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SUMMER_E_lg_p3_right"/>
          <p:cNvSpPr/>
          <p:nvPr/>
        </p:nvSpPr>
        <p:spPr>
          <a:xfrm>
            <a:off x="10906125" y="1658937"/>
            <a:ext cx="39687" cy="111125"/>
          </a:xfrm>
          <a:prstGeom prst="rect">
            <a:avLst/>
          </a:prstGeom>
          <a:solidFill>
            <a:srgbClr val="C4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SUMMER_T_lg_p3"/>
          <p:cNvSpPr txBox="1"/>
          <p:nvPr/>
        </p:nvSpPr>
        <p:spPr>
          <a:xfrm>
            <a:off x="11017250" y="160337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P3 / C3 （80×C）</a:t>
            </a:r>
          </a:p>
        </p:txBody>
      </p:sp>
      <p:sp>
        <p:nvSpPr>
          <p:cNvPr id="156" name="SUMMER_E_lg_up"/>
          <p:cNvSpPr/>
          <p:nvPr/>
        </p:nvSpPr>
        <p:spPr>
          <a:xfrm>
            <a:off x="10747375" y="1905000"/>
            <a:ext cx="158750" cy="158750"/>
          </a:xfrm>
          <a:prstGeom prst="ellipse">
            <a:avLst/>
          </a:prstGeom>
          <a:solidFill>
            <a:srgbClr val="C4A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UMMER_E_lg_up_text"/>
          <p:cNvSpPr txBox="1"/>
          <p:nvPr/>
        </p:nvSpPr>
        <p:spPr>
          <a:xfrm>
            <a:off x="10747375" y="190500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50" b="1">
                <a:solidFill>
                  <a:srgbClr val="703EC8"/>
                </a:solidFill>
              </a:rPr>
              <a:t>UP</a:t>
            </a:r>
          </a:p>
        </p:txBody>
      </p:sp>
      <p:sp>
        <p:nvSpPr>
          <p:cNvPr id="158" name="SUMMER_T_lg_up"/>
          <p:cNvSpPr txBox="1"/>
          <p:nvPr/>
        </p:nvSpPr>
        <p:spPr>
          <a:xfrm>
            <a:off x="11017250" y="188912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上采样 （× 2）</a:t>
            </a:r>
          </a:p>
        </p:txBody>
      </p:sp>
      <p:sp>
        <p:nvSpPr>
          <p:cNvPr id="159" name="SUMMER_E_lg_down"/>
          <p:cNvSpPr/>
          <p:nvPr/>
        </p:nvSpPr>
        <p:spPr>
          <a:xfrm>
            <a:off x="10747375" y="2190750"/>
            <a:ext cx="158750" cy="15875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UMMER_E_lg_down_text"/>
          <p:cNvSpPr txBox="1"/>
          <p:nvPr/>
        </p:nvSpPr>
        <p:spPr>
          <a:xfrm>
            <a:off x="10747375" y="219075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450" b="1">
                <a:solidFill>
                  <a:srgbClr val="783C0A"/>
                </a:solidFill>
              </a:rPr>
              <a:t>Down</a:t>
            </a:r>
          </a:p>
        </p:txBody>
      </p:sp>
      <p:sp>
        <p:nvSpPr>
          <p:cNvPr id="161" name="SUMMER_T_lg_down"/>
          <p:cNvSpPr txBox="1"/>
          <p:nvPr/>
        </p:nvSpPr>
        <p:spPr>
          <a:xfrm>
            <a:off x="11017250" y="217487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下采样 （× 2）</a:t>
            </a:r>
          </a:p>
        </p:txBody>
      </p:sp>
      <p:sp>
        <p:nvSpPr>
          <p:cNvPr id="162" name="SUMMER_E_lg_add"/>
          <p:cNvSpPr/>
          <p:nvPr/>
        </p:nvSpPr>
        <p:spPr>
          <a:xfrm>
            <a:off x="10747375" y="2476500"/>
            <a:ext cx="158750" cy="158750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UMMER_E_lg_add_text"/>
          <p:cNvSpPr txBox="1"/>
          <p:nvPr/>
        </p:nvSpPr>
        <p:spPr>
          <a:xfrm>
            <a:off x="10747375" y="247650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64" name="SUMMER_T_lg_add"/>
          <p:cNvSpPr txBox="1"/>
          <p:nvPr/>
        </p:nvSpPr>
        <p:spPr>
          <a:xfrm>
            <a:off x="11017250" y="2460625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拼接 （Concat）</a:t>
            </a:r>
          </a:p>
        </p:txBody>
      </p:sp>
      <p:sp>
        <p:nvSpPr>
          <p:cNvPr id="165" name="SUMMER_E_lg_losc"/>
          <p:cNvSpPr/>
          <p:nvPr/>
        </p:nvSpPr>
        <p:spPr>
          <a:xfrm>
            <a:off x="10731500" y="2778125"/>
            <a:ext cx="254000" cy="127000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016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SUMMER_T_lg_losc_tag"/>
          <p:cNvSpPr txBox="1"/>
          <p:nvPr/>
        </p:nvSpPr>
        <p:spPr>
          <a:xfrm>
            <a:off x="10731500" y="2786062"/>
            <a:ext cx="254000" cy="1111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50" b="1">
                <a:solidFill>
                  <a:srgbClr val="CE5A1E"/>
                </a:solidFill>
              </a:rPr>
              <a:t>LOSC</a:t>
            </a:r>
          </a:p>
        </p:txBody>
      </p:sp>
      <p:sp>
        <p:nvSpPr>
          <p:cNvPr id="167" name="SUMMER_T_lg_losc"/>
          <p:cNvSpPr txBox="1"/>
          <p:nvPr/>
        </p:nvSpPr>
        <p:spPr>
          <a:xfrm>
            <a:off x="11017250" y="2754312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方向性下采样建模</a:t>
            </a:r>
          </a:p>
        </p:txBody>
      </p:sp>
      <p:sp>
        <p:nvSpPr>
          <p:cNvPr id="168" name="SUMMER_E_lg_cga"/>
          <p:cNvSpPr/>
          <p:nvPr/>
        </p:nvSpPr>
        <p:spPr>
          <a:xfrm>
            <a:off x="10731500" y="3048000"/>
            <a:ext cx="254000" cy="1270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SUMMER_T_lg_cga_tag"/>
          <p:cNvSpPr txBox="1"/>
          <p:nvPr/>
        </p:nvSpPr>
        <p:spPr>
          <a:xfrm>
            <a:off x="10731500" y="3055937"/>
            <a:ext cx="254000" cy="1111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400" b="1">
                <a:solidFill>
                  <a:srgbClr val="2550D8"/>
                </a:solidFill>
              </a:rPr>
              <a:t>CGAFusion</a:t>
            </a:r>
          </a:p>
        </p:txBody>
      </p:sp>
      <p:sp>
        <p:nvSpPr>
          <p:cNvPr id="170" name="SUMMER_T_lg_cga"/>
          <p:cNvSpPr txBox="1"/>
          <p:nvPr/>
        </p:nvSpPr>
        <p:spPr>
          <a:xfrm>
            <a:off x="11017250" y="3024187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高低频自适应融合</a:t>
            </a:r>
          </a:p>
        </p:txBody>
      </p:sp>
      <p:cxnSp>
        <p:nvCxnSpPr>
          <p:cNvPr id="171" name="SUMMER_LD_lg_solid"/>
          <p:cNvCxnSpPr/>
          <p:nvPr/>
        </p:nvCxnSpPr>
        <p:spPr>
          <a:xfrm>
            <a:off x="10747375" y="3397250"/>
            <a:ext cx="238125" cy="0"/>
          </a:xfrm>
          <a:prstGeom prst="line">
            <a:avLst/>
          </a:prstGeom>
          <a:ln w="1778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SUMMER_T_lg_solid"/>
          <p:cNvSpPr txBox="1"/>
          <p:nvPr/>
        </p:nvSpPr>
        <p:spPr>
          <a:xfrm>
            <a:off x="11017250" y="3309937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数据流向</a:t>
            </a:r>
          </a:p>
        </p:txBody>
      </p:sp>
      <p:cxnSp>
        <p:nvCxnSpPr>
          <p:cNvPr id="173" name="SUMMER_LD_lg_dash"/>
          <p:cNvCxnSpPr/>
          <p:nvPr/>
        </p:nvCxnSpPr>
        <p:spPr>
          <a:xfrm>
            <a:off x="10747375" y="3667125"/>
            <a:ext cx="238125" cy="0"/>
          </a:xfrm>
          <a:prstGeom prst="line">
            <a:avLst/>
          </a:prstGeom>
          <a:ln w="17780">
            <a:solidFill>
              <a:srgbClr val="282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SUMMER_T_lg_dash"/>
          <p:cNvSpPr txBox="1"/>
          <p:nvPr/>
        </p:nvSpPr>
        <p:spPr>
          <a:xfrm>
            <a:off x="11017250" y="3579812"/>
            <a:ext cx="1079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跨层连接</a:t>
            </a:r>
          </a:p>
        </p:txBody>
      </p:sp>
      <p:cxnSp>
        <p:nvCxnSpPr>
          <p:cNvPr id="175" name="SUMMER_L_input_backbone"/>
          <p:cNvCxnSpPr/>
          <p:nvPr/>
        </p:nvCxnSpPr>
        <p:spPr>
          <a:xfrm>
            <a:off x="1682750" y="2349500"/>
            <a:ext cx="127000" cy="0"/>
          </a:xfrm>
          <a:prstGeom prst="line">
            <a:avLst/>
          </a:prstGeom>
          <a:ln w="50800">
            <a:solidFill>
              <a:srgbClr val="2550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UMMER_L_backbone_neck"/>
          <p:cNvCxnSpPr/>
          <p:nvPr/>
        </p:nvCxnSpPr>
        <p:spPr>
          <a:xfrm>
            <a:off x="3857625" y="2349500"/>
            <a:ext cx="95250" cy="0"/>
          </a:xfrm>
          <a:prstGeom prst="line">
            <a:avLst/>
          </a:prstGeom>
          <a:ln w="50800">
            <a:solidFill>
              <a:srgbClr val="2550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UMMER_L_neck_head"/>
          <p:cNvCxnSpPr/>
          <p:nvPr/>
        </p:nvCxnSpPr>
        <p:spPr>
          <a:xfrm>
            <a:off x="8509000" y="2349500"/>
            <a:ext cx="111125" cy="0"/>
          </a:xfrm>
          <a:prstGeom prst="line">
            <a:avLst/>
          </a:prstGeom>
          <a:ln w="50800">
            <a:solidFill>
              <a:srgbClr val="2550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SUMMER_E_panel_m1"/>
          <p:cNvSpPr/>
          <p:nvPr/>
        </p:nvSpPr>
        <p:spPr>
          <a:xfrm>
            <a:off x="95250" y="4413250"/>
            <a:ext cx="3762375" cy="2254250"/>
          </a:xfrm>
          <a:prstGeom prst="roundRect">
            <a:avLst>
              <a:gd name="adj" fmla="val 4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SUMMER_E_panel_m2"/>
          <p:cNvSpPr/>
          <p:nvPr/>
        </p:nvSpPr>
        <p:spPr>
          <a:xfrm>
            <a:off x="3952875" y="4413250"/>
            <a:ext cx="3238500" cy="2254250"/>
          </a:xfrm>
          <a:prstGeom prst="roundRect">
            <a:avLst>
              <a:gd name="adj" fmla="val 4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SUMMER_E_panel_m3"/>
          <p:cNvSpPr/>
          <p:nvPr/>
        </p:nvSpPr>
        <p:spPr>
          <a:xfrm>
            <a:off x="7270750" y="4413250"/>
            <a:ext cx="4841875" cy="2254250"/>
          </a:xfrm>
          <a:prstGeom prst="roundRect">
            <a:avLst>
              <a:gd name="adj" fmla="val 4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SUMMER_T_m1_title"/>
          <p:cNvSpPr txBox="1"/>
          <p:nvPr/>
        </p:nvSpPr>
        <p:spPr>
          <a:xfrm>
            <a:off x="95250" y="4492625"/>
            <a:ext cx="3762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模块一：CSP-MEEM（多尺度细粒度特征提取）</a:t>
            </a:r>
          </a:p>
        </p:txBody>
      </p:sp>
      <p:sp>
        <p:nvSpPr>
          <p:cNvPr id="182" name="SUMMER_T_m1_in"/>
          <p:cNvSpPr txBox="1"/>
          <p:nvPr/>
        </p:nvSpPr>
        <p:spPr>
          <a:xfrm>
            <a:off x="476250" y="4730750"/>
            <a:ext cx="952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输入图像</a:t>
            </a:r>
          </a:p>
        </p:txBody>
      </p:sp>
      <p:sp>
        <p:nvSpPr>
          <p:cNvPr id="183" name="SUMMER_E_m1_csp"/>
          <p:cNvSpPr/>
          <p:nvPr/>
        </p:nvSpPr>
        <p:spPr>
          <a:xfrm>
            <a:off x="666750" y="4937125"/>
            <a:ext cx="571500" cy="238125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SUMMER_T_m1_csp"/>
          <p:cNvSpPr txBox="1"/>
          <p:nvPr/>
        </p:nvSpPr>
        <p:spPr>
          <a:xfrm>
            <a:off x="666750" y="4968875"/>
            <a:ext cx="571500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CSP 分割</a:t>
            </a:r>
          </a:p>
        </p:txBody>
      </p:sp>
      <p:sp>
        <p:nvSpPr>
          <p:cNvPr id="185" name="SUMMER_E_m1_b0"/>
          <p:cNvSpPr/>
          <p:nvPr/>
        </p:nvSpPr>
        <p:spPr>
          <a:xfrm>
            <a:off x="222250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SUMMER_T_m1_b0"/>
          <p:cNvSpPr txBox="1"/>
          <p:nvPr/>
        </p:nvSpPr>
        <p:spPr>
          <a:xfrm>
            <a:off x="222250" y="5373687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</a:rPr>
              <a:t>分支1</a:t>
            </a:r>
          </a:p>
        </p:txBody>
      </p:sp>
      <p:sp>
        <p:nvSpPr>
          <p:cNvPr id="187" name="SUMMER_E_m1_b1"/>
          <p:cNvSpPr/>
          <p:nvPr/>
        </p:nvSpPr>
        <p:spPr>
          <a:xfrm>
            <a:off x="746125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SUMMER_T_m1_b1"/>
          <p:cNvSpPr txBox="1"/>
          <p:nvPr/>
        </p:nvSpPr>
        <p:spPr>
          <a:xfrm>
            <a:off x="746125" y="5373687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</a:rPr>
              <a:t>分支2</a:t>
            </a:r>
          </a:p>
        </p:txBody>
      </p:sp>
      <p:sp>
        <p:nvSpPr>
          <p:cNvPr id="189" name="SUMMER_E_m1_b2"/>
          <p:cNvSpPr/>
          <p:nvPr/>
        </p:nvSpPr>
        <p:spPr>
          <a:xfrm>
            <a:off x="1270000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SUMMER_T_m1_b2"/>
          <p:cNvSpPr txBox="1"/>
          <p:nvPr/>
        </p:nvSpPr>
        <p:spPr>
          <a:xfrm>
            <a:off x="1270000" y="5373687"/>
            <a:ext cx="412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</a:rPr>
              <a:t>分支n</a:t>
            </a:r>
          </a:p>
        </p:txBody>
      </p:sp>
      <p:sp>
        <p:nvSpPr>
          <p:cNvPr id="191" name="SUMMER_T_m1_bdots"/>
          <p:cNvSpPr txBox="1"/>
          <p:nvPr/>
        </p:nvSpPr>
        <p:spPr>
          <a:xfrm>
            <a:off x="1238250" y="5373687"/>
            <a:ext cx="23812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787E8C"/>
                </a:solidFill>
              </a:rPr>
              <a:t>···</a:t>
            </a:r>
          </a:p>
        </p:txBody>
      </p:sp>
      <p:sp>
        <p:nvSpPr>
          <p:cNvPr id="192" name="SUMMER_E_m1_fuse"/>
          <p:cNvSpPr/>
          <p:nvPr/>
        </p:nvSpPr>
        <p:spPr>
          <a:xfrm>
            <a:off x="555625" y="5683250"/>
            <a:ext cx="793750" cy="206375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SUMMER_T_m1_fuse"/>
          <p:cNvSpPr txBox="1"/>
          <p:nvPr/>
        </p:nvSpPr>
        <p:spPr>
          <a:xfrm>
            <a:off x="555625" y="5707062"/>
            <a:ext cx="793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融合</a:t>
            </a:r>
          </a:p>
        </p:txBody>
      </p:sp>
      <p:sp>
        <p:nvSpPr>
          <p:cNvPr id="194" name="SUMMER_E_m1_ema"/>
          <p:cNvSpPr/>
          <p:nvPr/>
        </p:nvSpPr>
        <p:spPr>
          <a:xfrm>
            <a:off x="492125" y="5984875"/>
            <a:ext cx="920750" cy="206375"/>
          </a:xfrm>
          <a:prstGeom prst="roundRect">
            <a:avLst>
              <a:gd name="adj" fmla="val 8000"/>
            </a:avLst>
          </a:prstGeom>
          <a:solidFill>
            <a:srgbClr val="FFF0E2"/>
          </a:solidFill>
          <a:ln w="11430">
            <a:solidFill>
              <a:srgbClr val="E28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SUMMER_T_m1_ema"/>
          <p:cNvSpPr txBox="1"/>
          <p:nvPr/>
        </p:nvSpPr>
        <p:spPr>
          <a:xfrm>
            <a:off x="492125" y="6008687"/>
            <a:ext cx="920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C8641E"/>
                </a:solidFill>
              </a:rPr>
              <a:t>EMA 注意力</a:t>
            </a:r>
          </a:p>
        </p:txBody>
      </p:sp>
      <p:sp>
        <p:nvSpPr>
          <p:cNvPr id="196" name="SUMMER_T_m1_out"/>
          <p:cNvSpPr txBox="1"/>
          <p:nvPr/>
        </p:nvSpPr>
        <p:spPr>
          <a:xfrm>
            <a:off x="476250" y="6270625"/>
            <a:ext cx="952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输出特征</a:t>
            </a:r>
          </a:p>
        </p:txBody>
      </p:sp>
      <p:cxnSp>
        <p:nvCxnSpPr>
          <p:cNvPr id="197" name="SUMMER_L_m1_f1"/>
          <p:cNvCxnSpPr/>
          <p:nvPr/>
        </p:nvCxnSpPr>
        <p:spPr>
          <a:xfrm>
            <a:off x="952500" y="4889500"/>
            <a:ext cx="0" cy="47625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UMMER_L_m1_f2"/>
          <p:cNvCxnSpPr/>
          <p:nvPr/>
        </p:nvCxnSpPr>
        <p:spPr>
          <a:xfrm>
            <a:off x="952500" y="5175250"/>
            <a:ext cx="0" cy="174625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UMMER_L_m1_f3"/>
          <p:cNvCxnSpPr/>
          <p:nvPr/>
        </p:nvCxnSpPr>
        <p:spPr>
          <a:xfrm>
            <a:off x="952500" y="5556250"/>
            <a:ext cx="0" cy="127000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UMMER_L_m1_f4"/>
          <p:cNvCxnSpPr/>
          <p:nvPr/>
        </p:nvCxnSpPr>
        <p:spPr>
          <a:xfrm>
            <a:off x="952500" y="5889625"/>
            <a:ext cx="0" cy="95250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UMMER_L_m1_f5"/>
          <p:cNvCxnSpPr/>
          <p:nvPr/>
        </p:nvCxnSpPr>
        <p:spPr>
          <a:xfrm>
            <a:off x="952500" y="6191250"/>
            <a:ext cx="0" cy="79375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SUMMER_T_m1_p0"/>
          <p:cNvSpPr txBox="1"/>
          <p:nvPr/>
        </p:nvSpPr>
        <p:spPr>
          <a:xfrm>
            <a:off x="1793875" y="4810125"/>
            <a:ext cx="1952625" cy="4445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多尺度并行感知，捕获不同</a:t>
            </a:r>
          </a:p>
          <a:p>
            <a:pPr algn="l"/>
            <a:r>
              <a:rPr sz="850" b="0">
                <a:solidFill>
                  <a:srgbClr val="282C3C"/>
                </a:solidFill>
              </a:rPr>
              <a:t>大小的缺陷信息</a:t>
            </a:r>
          </a:p>
        </p:txBody>
      </p:sp>
      <p:sp>
        <p:nvSpPr>
          <p:cNvPr id="203" name="SUMMER_T_m1_p1"/>
          <p:cNvSpPr txBox="1"/>
          <p:nvPr/>
        </p:nvSpPr>
        <p:spPr>
          <a:xfrm>
            <a:off x="1793875" y="5334000"/>
            <a:ext cx="1952625" cy="4445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增强细节特征表达，保留</a:t>
            </a:r>
          </a:p>
          <a:p>
            <a:pPr algn="l"/>
            <a:r>
              <a:rPr sz="850" b="0">
                <a:solidFill>
                  <a:srgbClr val="282C3C"/>
                </a:solidFill>
              </a:rPr>
              <a:t>边缘和纹理</a:t>
            </a:r>
          </a:p>
        </p:txBody>
      </p:sp>
      <p:sp>
        <p:nvSpPr>
          <p:cNvPr id="204" name="SUMMER_T_m1_p2"/>
          <p:cNvSpPr txBox="1"/>
          <p:nvPr/>
        </p:nvSpPr>
        <p:spPr>
          <a:xfrm>
            <a:off x="1793875" y="5857875"/>
            <a:ext cx="1952625" cy="4445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EMA 注意力增强关键特征，</a:t>
            </a:r>
          </a:p>
          <a:p>
            <a:pPr algn="l"/>
            <a:r>
              <a:rPr sz="850" b="0">
                <a:solidFill>
                  <a:srgbClr val="282C3C"/>
                </a:solidFill>
              </a:rPr>
              <a:t>抑制冗余信息</a:t>
            </a:r>
          </a:p>
        </p:txBody>
      </p:sp>
      <p:sp>
        <p:nvSpPr>
          <p:cNvPr id="205" name="SUMMER_T_m2_title"/>
          <p:cNvSpPr txBox="1"/>
          <p:nvPr/>
        </p:nvSpPr>
        <p:spPr>
          <a:xfrm>
            <a:off x="3952875" y="4492625"/>
            <a:ext cx="3238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</a:rPr>
              <a:t>模块二：LOSC（方向性下采样建模）</a:t>
            </a:r>
          </a:p>
        </p:txBody>
      </p:sp>
      <p:sp>
        <p:nvSpPr>
          <p:cNvPr id="206" name="SUMMER_T_m2_in"/>
          <p:cNvSpPr txBox="1"/>
          <p:nvPr/>
        </p:nvSpPr>
        <p:spPr>
          <a:xfrm>
            <a:off x="4127500" y="4714875"/>
            <a:ext cx="952500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输入特征</a:t>
            </a:r>
          </a:p>
        </p:txBody>
      </p:sp>
      <p:sp>
        <p:nvSpPr>
          <p:cNvPr id="207" name="SUMMER_G_m2_in_bg"/>
          <p:cNvSpPr/>
          <p:nvPr/>
        </p:nvSpPr>
        <p:spPr>
          <a:xfrm>
            <a:off x="4286250" y="4873625"/>
            <a:ext cx="603250" cy="444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8" name="SUMMER_G_m2_in_v1"/>
          <p:cNvCxnSpPr/>
          <p:nvPr/>
        </p:nvCxnSpPr>
        <p:spPr>
          <a:xfrm>
            <a:off x="4437062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UMMER_G_m2_in_v2"/>
          <p:cNvCxnSpPr/>
          <p:nvPr/>
        </p:nvCxnSpPr>
        <p:spPr>
          <a:xfrm>
            <a:off x="4587875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UMMER_G_m2_in_v3"/>
          <p:cNvCxnSpPr/>
          <p:nvPr/>
        </p:nvCxnSpPr>
        <p:spPr>
          <a:xfrm>
            <a:off x="4738687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UMMER_G_m2_in_h1"/>
          <p:cNvCxnSpPr/>
          <p:nvPr/>
        </p:nvCxnSpPr>
        <p:spPr>
          <a:xfrm>
            <a:off x="4286250" y="5021791"/>
            <a:ext cx="6032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UMMER_G_m2_in_h2"/>
          <p:cNvCxnSpPr/>
          <p:nvPr/>
        </p:nvCxnSpPr>
        <p:spPr>
          <a:xfrm>
            <a:off x="4286250" y="5169958"/>
            <a:ext cx="6032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SUMMER_E_m2_down"/>
          <p:cNvSpPr/>
          <p:nvPr/>
        </p:nvSpPr>
        <p:spPr>
          <a:xfrm>
            <a:off x="4468812" y="5484812"/>
            <a:ext cx="238125" cy="238125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UMMER_E_m2_down_text"/>
          <p:cNvSpPr txBox="1"/>
          <p:nvPr/>
        </p:nvSpPr>
        <p:spPr>
          <a:xfrm>
            <a:off x="4468812" y="5484812"/>
            <a:ext cx="238125" cy="2381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50" b="1">
                <a:solidFill>
                  <a:srgbClr val="783C0A"/>
                </a:solidFill>
              </a:rPr>
              <a:t>Down</a:t>
            </a:r>
          </a:p>
        </p:txBody>
      </p:sp>
      <p:sp>
        <p:nvSpPr>
          <p:cNvPr id="215" name="SUMMER_G_m2_out_bg"/>
          <p:cNvSpPr/>
          <p:nvPr/>
        </p:nvSpPr>
        <p:spPr>
          <a:xfrm>
            <a:off x="4381500" y="5937250"/>
            <a:ext cx="412750" cy="317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16" name="SUMMER_G_m2_out_v1"/>
          <p:cNvCxnSpPr/>
          <p:nvPr/>
        </p:nvCxnSpPr>
        <p:spPr>
          <a:xfrm>
            <a:off x="4519083" y="5937250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UMMER_G_m2_out_v2"/>
          <p:cNvCxnSpPr/>
          <p:nvPr/>
        </p:nvCxnSpPr>
        <p:spPr>
          <a:xfrm>
            <a:off x="4656666" y="5937250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UMMER_G_m2_out_h1"/>
          <p:cNvCxnSpPr/>
          <p:nvPr/>
        </p:nvCxnSpPr>
        <p:spPr>
          <a:xfrm>
            <a:off x="4381500" y="6096000"/>
            <a:ext cx="4127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SUMMER_T_m2_out"/>
          <p:cNvSpPr txBox="1"/>
          <p:nvPr/>
        </p:nvSpPr>
        <p:spPr>
          <a:xfrm>
            <a:off x="4127500" y="6302375"/>
            <a:ext cx="952500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输出特征</a:t>
            </a:r>
          </a:p>
        </p:txBody>
      </p:sp>
      <p:cxnSp>
        <p:nvCxnSpPr>
          <p:cNvPr id="220" name="SUMMER_L_m2_f1"/>
          <p:cNvCxnSpPr/>
          <p:nvPr/>
        </p:nvCxnSpPr>
        <p:spPr>
          <a:xfrm>
            <a:off x="4587875" y="5318125"/>
            <a:ext cx="0" cy="158750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UMMER_L_m2_f2"/>
          <p:cNvCxnSpPr/>
          <p:nvPr/>
        </p:nvCxnSpPr>
        <p:spPr>
          <a:xfrm>
            <a:off x="4587875" y="5730875"/>
            <a:ext cx="0" cy="206375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SUMMER_T_m2_p0"/>
          <p:cNvSpPr txBox="1"/>
          <p:nvPr/>
        </p:nvSpPr>
        <p:spPr>
          <a:xfrm>
            <a:off x="5238750" y="4762500"/>
            <a:ext cx="1873250" cy="3810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引入方向性卷积核</a:t>
            </a:r>
          </a:p>
        </p:txBody>
      </p:sp>
      <p:sp>
        <p:nvSpPr>
          <p:cNvPr id="223" name="SUMMER_T_m2_p1"/>
          <p:cNvSpPr txBox="1"/>
          <p:nvPr/>
        </p:nvSpPr>
        <p:spPr>
          <a:xfrm>
            <a:off x="5238750" y="5175250"/>
            <a:ext cx="1873250" cy="3810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沿关键方向提取特征</a:t>
            </a:r>
          </a:p>
        </p:txBody>
      </p:sp>
      <p:sp>
        <p:nvSpPr>
          <p:cNvPr id="224" name="SUMMER_T_m2_p2"/>
          <p:cNvSpPr txBox="1"/>
          <p:nvPr/>
        </p:nvSpPr>
        <p:spPr>
          <a:xfrm>
            <a:off x="5238750" y="5588000"/>
            <a:ext cx="1873250" cy="3810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抑制无关干扰，保留方向信息</a:t>
            </a:r>
          </a:p>
        </p:txBody>
      </p:sp>
      <p:sp>
        <p:nvSpPr>
          <p:cNvPr id="225" name="SUMMER_T_m2_p3"/>
          <p:cNvSpPr txBox="1"/>
          <p:nvPr/>
        </p:nvSpPr>
        <p:spPr>
          <a:xfrm>
            <a:off x="5238750" y="6000750"/>
            <a:ext cx="1873250" cy="38100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增强对工业表面纹理与缺陷</a:t>
            </a:r>
          </a:p>
          <a:p>
            <a:pPr algn="l"/>
            <a:r>
              <a:rPr sz="850" b="0">
                <a:solidFill>
                  <a:srgbClr val="282C3C"/>
                </a:solidFill>
              </a:rPr>
              <a:t>形态的建模能力</a:t>
            </a:r>
          </a:p>
        </p:txBody>
      </p:sp>
      <p:sp>
        <p:nvSpPr>
          <p:cNvPr id="226" name="SUMMER_T_m3_title"/>
          <p:cNvSpPr txBox="1"/>
          <p:nvPr/>
        </p:nvSpPr>
        <p:spPr>
          <a:xfrm>
            <a:off x="7270750" y="4492625"/>
            <a:ext cx="4841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模块三：CGAFusion（高低频自适应融合）</a:t>
            </a:r>
          </a:p>
        </p:txBody>
      </p:sp>
      <p:sp>
        <p:nvSpPr>
          <p:cNvPr id="227" name="SUMMER_T_m3_fh"/>
          <p:cNvSpPr txBox="1"/>
          <p:nvPr/>
        </p:nvSpPr>
        <p:spPr>
          <a:xfrm>
            <a:off x="7381875" y="4746625"/>
            <a:ext cx="103187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输入特征 Fh（高频）</a:t>
            </a:r>
          </a:p>
        </p:txBody>
      </p:sp>
      <p:sp>
        <p:nvSpPr>
          <p:cNvPr id="228" name="SUMMER_G_m3_fh_bg"/>
          <p:cNvSpPr/>
          <p:nvPr/>
        </p:nvSpPr>
        <p:spPr>
          <a:xfrm>
            <a:off x="7508875" y="4905375"/>
            <a:ext cx="508000" cy="365125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9" name="SUMMER_G_m3_fh_v1"/>
          <p:cNvCxnSpPr/>
          <p:nvPr/>
        </p:nvCxnSpPr>
        <p:spPr>
          <a:xfrm>
            <a:off x="7635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UMMER_G_m3_fh_v2"/>
          <p:cNvCxnSpPr/>
          <p:nvPr/>
        </p:nvCxnSpPr>
        <p:spPr>
          <a:xfrm>
            <a:off x="7762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UMMER_G_m3_fh_v3"/>
          <p:cNvCxnSpPr/>
          <p:nvPr/>
        </p:nvCxnSpPr>
        <p:spPr>
          <a:xfrm>
            <a:off x="7889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UMMER_G_m3_fh_h1"/>
          <p:cNvCxnSpPr/>
          <p:nvPr/>
        </p:nvCxnSpPr>
        <p:spPr>
          <a:xfrm>
            <a:off x="7508875" y="5027083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UMMER_G_m3_fh_h2"/>
          <p:cNvCxnSpPr/>
          <p:nvPr/>
        </p:nvCxnSpPr>
        <p:spPr>
          <a:xfrm>
            <a:off x="7508875" y="5148791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SUMMER_E_m3_high"/>
          <p:cNvSpPr/>
          <p:nvPr/>
        </p:nvSpPr>
        <p:spPr>
          <a:xfrm>
            <a:off x="8302625" y="4921250"/>
            <a:ext cx="762000" cy="3175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5" name="SUMMER_T_m3_high"/>
          <p:cNvSpPr txBox="1"/>
          <p:nvPr/>
        </p:nvSpPr>
        <p:spPr>
          <a:xfrm>
            <a:off x="8302625" y="4953000"/>
            <a:ext cx="762000" cy="254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550D8"/>
                </a:solidFill>
              </a:rPr>
              <a:t>高频分支</a:t>
            </a:r>
          </a:p>
          <a:p>
            <a:pPr algn="ctr"/>
            <a:r>
              <a:rPr sz="750" b="0">
                <a:solidFill>
                  <a:srgbClr val="2550D8"/>
                </a:solidFill>
              </a:rPr>
              <a:t>（细节信息）</a:t>
            </a:r>
          </a:p>
        </p:txBody>
      </p:sp>
      <p:sp>
        <p:nvSpPr>
          <p:cNvPr id="236" name="SUMMER_T_m3_fl"/>
          <p:cNvSpPr txBox="1"/>
          <p:nvPr/>
        </p:nvSpPr>
        <p:spPr>
          <a:xfrm>
            <a:off x="7381875" y="5413375"/>
            <a:ext cx="103187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</a:rPr>
              <a:t>输入特征 Fl（低频）</a:t>
            </a:r>
          </a:p>
        </p:txBody>
      </p:sp>
      <p:sp>
        <p:nvSpPr>
          <p:cNvPr id="237" name="SUMMER_G_m3_fl_bg"/>
          <p:cNvSpPr/>
          <p:nvPr/>
        </p:nvSpPr>
        <p:spPr>
          <a:xfrm>
            <a:off x="7508875" y="5572125"/>
            <a:ext cx="508000" cy="365125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8" name="SUMMER_G_m3_fl_v1"/>
          <p:cNvCxnSpPr/>
          <p:nvPr/>
        </p:nvCxnSpPr>
        <p:spPr>
          <a:xfrm>
            <a:off x="7635875" y="557212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UMMER_G_m3_fl_v2"/>
          <p:cNvCxnSpPr/>
          <p:nvPr/>
        </p:nvCxnSpPr>
        <p:spPr>
          <a:xfrm>
            <a:off x="7762875" y="557212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UMMER_G_m3_fl_v3"/>
          <p:cNvCxnSpPr/>
          <p:nvPr/>
        </p:nvCxnSpPr>
        <p:spPr>
          <a:xfrm>
            <a:off x="7889875" y="557212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UMMER_G_m3_fl_h1"/>
          <p:cNvCxnSpPr/>
          <p:nvPr/>
        </p:nvCxnSpPr>
        <p:spPr>
          <a:xfrm>
            <a:off x="7508875" y="5693833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UMMER_G_m3_fl_h2"/>
          <p:cNvCxnSpPr/>
          <p:nvPr/>
        </p:nvCxnSpPr>
        <p:spPr>
          <a:xfrm>
            <a:off x="7508875" y="5815541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SUMMER_E_m3_low"/>
          <p:cNvSpPr/>
          <p:nvPr/>
        </p:nvSpPr>
        <p:spPr>
          <a:xfrm>
            <a:off x="8302625" y="5588000"/>
            <a:ext cx="762000" cy="317500"/>
          </a:xfrm>
          <a:prstGeom prst="roundRect">
            <a:avLst>
              <a:gd name="adj" fmla="val 8000"/>
            </a:avLst>
          </a:prstGeom>
          <a:solidFill>
            <a:srgbClr val="EBF8EE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4" name="SUMMER_T_m3_low"/>
          <p:cNvSpPr txBox="1"/>
          <p:nvPr/>
        </p:nvSpPr>
        <p:spPr>
          <a:xfrm>
            <a:off x="8302625" y="5619750"/>
            <a:ext cx="762000" cy="254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1C9454"/>
                </a:solidFill>
              </a:rPr>
              <a:t>低频分支</a:t>
            </a:r>
          </a:p>
          <a:p>
            <a:pPr algn="ctr"/>
            <a:r>
              <a:rPr sz="750" b="0">
                <a:solidFill>
                  <a:srgbClr val="1C9454"/>
                </a:solidFill>
              </a:rPr>
              <a:t>（结构信息）</a:t>
            </a:r>
          </a:p>
        </p:txBody>
      </p:sp>
      <p:sp>
        <p:nvSpPr>
          <p:cNvPr id="245" name="SUMMER_E_m3_add"/>
          <p:cNvSpPr/>
          <p:nvPr/>
        </p:nvSpPr>
        <p:spPr>
          <a:xfrm>
            <a:off x="9334500" y="5302250"/>
            <a:ext cx="222250" cy="222250"/>
          </a:xfrm>
          <a:prstGeom prst="ellipse">
            <a:avLst/>
          </a:prstGeom>
          <a:solidFill>
            <a:srgbClr val="34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UMMER_E_m3_add_text"/>
          <p:cNvSpPr txBox="1"/>
          <p:nvPr/>
        </p:nvSpPr>
        <p:spPr>
          <a:xfrm>
            <a:off x="9334500" y="5302250"/>
            <a:ext cx="222250" cy="2222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47" name="SUMMER_G_m3_out_bg"/>
          <p:cNvSpPr/>
          <p:nvPr/>
        </p:nvSpPr>
        <p:spPr>
          <a:xfrm>
            <a:off x="9255125" y="5794375"/>
            <a:ext cx="412750" cy="317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8" name="SUMMER_G_m3_out_v1"/>
          <p:cNvCxnSpPr/>
          <p:nvPr/>
        </p:nvCxnSpPr>
        <p:spPr>
          <a:xfrm>
            <a:off x="9392708" y="57943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UMMER_G_m3_out_v2"/>
          <p:cNvCxnSpPr/>
          <p:nvPr/>
        </p:nvCxnSpPr>
        <p:spPr>
          <a:xfrm>
            <a:off x="9530291" y="57943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UMMER_G_m3_out_h1"/>
          <p:cNvCxnSpPr/>
          <p:nvPr/>
        </p:nvCxnSpPr>
        <p:spPr>
          <a:xfrm>
            <a:off x="9255125" y="5953125"/>
            <a:ext cx="4127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UMMER_T_m3_out"/>
          <p:cNvSpPr txBox="1"/>
          <p:nvPr/>
        </p:nvSpPr>
        <p:spPr>
          <a:xfrm>
            <a:off x="9048750" y="6159500"/>
            <a:ext cx="873125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输出特征</a:t>
            </a:r>
          </a:p>
        </p:txBody>
      </p:sp>
      <p:cxnSp>
        <p:nvCxnSpPr>
          <p:cNvPr id="252" name="SUMMER_L_m3_f1"/>
          <p:cNvCxnSpPr/>
          <p:nvPr/>
        </p:nvCxnSpPr>
        <p:spPr>
          <a:xfrm>
            <a:off x="9064625" y="5080000"/>
            <a:ext cx="269875" cy="254000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UMMER_L_m3_f2"/>
          <p:cNvCxnSpPr/>
          <p:nvPr/>
        </p:nvCxnSpPr>
        <p:spPr>
          <a:xfrm flipV="1">
            <a:off x="9064625" y="5492750"/>
            <a:ext cx="269875" cy="254000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UMMER_L_m3_f3"/>
          <p:cNvCxnSpPr/>
          <p:nvPr/>
        </p:nvCxnSpPr>
        <p:spPr>
          <a:xfrm>
            <a:off x="9445625" y="5524500"/>
            <a:ext cx="0" cy="269875"/>
          </a:xfrm>
          <a:prstGeom prst="line">
            <a:avLst/>
          </a:prstGeom>
          <a:ln w="1270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SUMMER_T_m3_p0"/>
          <p:cNvSpPr txBox="1"/>
          <p:nvPr/>
        </p:nvSpPr>
        <p:spPr>
          <a:xfrm>
            <a:off x="10064750" y="4762500"/>
            <a:ext cx="1984375" cy="34925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分离高频细节与低频结构信息</a:t>
            </a:r>
          </a:p>
        </p:txBody>
      </p:sp>
      <p:sp>
        <p:nvSpPr>
          <p:cNvPr id="256" name="SUMMER_T_m3_p1"/>
          <p:cNvSpPr txBox="1"/>
          <p:nvPr/>
        </p:nvSpPr>
        <p:spPr>
          <a:xfrm>
            <a:off x="10064750" y="5175250"/>
            <a:ext cx="1984375" cy="34925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空间联合注意力自适应融合</a:t>
            </a:r>
          </a:p>
        </p:txBody>
      </p:sp>
      <p:sp>
        <p:nvSpPr>
          <p:cNvPr id="257" name="SUMMER_T_m3_p2"/>
          <p:cNvSpPr txBox="1"/>
          <p:nvPr/>
        </p:nvSpPr>
        <p:spPr>
          <a:xfrm>
            <a:off x="10064750" y="5588000"/>
            <a:ext cx="1984375" cy="34925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突出关键细节，抑制噪声干扰</a:t>
            </a:r>
          </a:p>
        </p:txBody>
      </p:sp>
      <p:sp>
        <p:nvSpPr>
          <p:cNvPr id="258" name="SUMMER_T_m3_p3"/>
          <p:cNvSpPr txBox="1"/>
          <p:nvPr/>
        </p:nvSpPr>
        <p:spPr>
          <a:xfrm>
            <a:off x="10064750" y="6000750"/>
            <a:ext cx="1984375" cy="349250"/>
          </a:xfrm>
          <a:prstGeom prst="rect">
            <a:avLst/>
          </a:prstGeom>
          <a:noFill/>
        </p:spPr>
        <p:txBody>
          <a:bodyPr wrap="square" anchor="t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•  提升特征表达与泛化能力</a:t>
            </a:r>
          </a:p>
        </p:txBody>
      </p:sp>
      <p:sp>
        <p:nvSpPr>
          <p:cNvPr id="259" name="SUMMER_E_panel_b1"/>
          <p:cNvSpPr/>
          <p:nvPr/>
        </p:nvSpPr>
        <p:spPr>
          <a:xfrm>
            <a:off x="95250" y="6762750"/>
            <a:ext cx="2555875" cy="1301750"/>
          </a:xfrm>
          <a:prstGeom prst="roundRect">
            <a:avLst>
              <a:gd name="adj" fmla="val 6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0" name="SUMMER_E_panel_b2"/>
          <p:cNvSpPr/>
          <p:nvPr/>
        </p:nvSpPr>
        <p:spPr>
          <a:xfrm>
            <a:off x="2762250" y="6762750"/>
            <a:ext cx="4302125" cy="1301750"/>
          </a:xfrm>
          <a:prstGeom prst="roundRect">
            <a:avLst>
              <a:gd name="adj" fmla="val 6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1" name="SUMMER_E_panel_b3"/>
          <p:cNvSpPr/>
          <p:nvPr/>
        </p:nvSpPr>
        <p:spPr>
          <a:xfrm>
            <a:off x="7207250" y="6762750"/>
            <a:ext cx="1793875" cy="1301750"/>
          </a:xfrm>
          <a:prstGeom prst="roundRect">
            <a:avLst>
              <a:gd name="adj" fmla="val 6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2" name="SUMMER_E_panel_b4"/>
          <p:cNvSpPr/>
          <p:nvPr/>
        </p:nvSpPr>
        <p:spPr>
          <a:xfrm>
            <a:off x="9112250" y="6762750"/>
            <a:ext cx="3000375" cy="1301750"/>
          </a:xfrm>
          <a:prstGeom prst="roundRect">
            <a:avLst>
              <a:gd name="adj" fmla="val 6000"/>
            </a:avLst>
          </a:prstGeom>
          <a:solidFill>
            <a:srgbClr val="FCFCFE"/>
          </a:solidFill>
          <a:ln w="1524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3" name="SUMMER_T_b1_title"/>
          <p:cNvSpPr txBox="1"/>
          <p:nvPr/>
        </p:nvSpPr>
        <p:spPr>
          <a:xfrm>
            <a:off x="95250" y="6826250"/>
            <a:ext cx="2555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输出多尺度特征金字塔</a:t>
            </a:r>
          </a:p>
        </p:txBody>
      </p:sp>
      <p:sp>
        <p:nvSpPr>
          <p:cNvPr id="264" name="SUMMER_E_out_p3_top"/>
          <p:cNvSpPr/>
          <p:nvPr/>
        </p:nvSpPr>
        <p:spPr>
          <a:xfrm>
            <a:off x="365125" y="7112000"/>
            <a:ext cx="492125" cy="63500"/>
          </a:xfrm>
          <a:prstGeom prst="rect">
            <a:avLst/>
          </a:prstGeom>
          <a:solidFill>
            <a:srgbClr val="FF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5" name="SUMMER_E_out_p3_front"/>
          <p:cNvSpPr/>
          <p:nvPr/>
        </p:nvSpPr>
        <p:spPr>
          <a:xfrm>
            <a:off x="365125" y="7175500"/>
            <a:ext cx="492125" cy="381000"/>
          </a:xfrm>
          <a:prstGeom prst="rect">
            <a:avLst/>
          </a:prstGeom>
          <a:solidFill>
            <a:srgbClr val="F07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6" name="SUMMER_E_out_p3_right"/>
          <p:cNvSpPr/>
          <p:nvPr/>
        </p:nvSpPr>
        <p:spPr>
          <a:xfrm>
            <a:off x="857250" y="7175500"/>
            <a:ext cx="63500" cy="381000"/>
          </a:xfrm>
          <a:prstGeom prst="rect">
            <a:avLst/>
          </a:prstGeom>
          <a:solidFill>
            <a:srgbClr val="C4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7" name="SUMMER_E_out_p3_label"/>
          <p:cNvSpPr txBox="1"/>
          <p:nvPr/>
        </p:nvSpPr>
        <p:spPr>
          <a:xfrm>
            <a:off x="269875" y="7604125"/>
            <a:ext cx="762000" cy="254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E03A26"/>
                </a:solidFill>
              </a:rPr>
              <a:t>P3</a:t>
            </a:r>
          </a:p>
          <a:p>
            <a:pPr algn="ctr"/>
            <a:r>
              <a:rPr sz="800" b="1">
                <a:solidFill>
                  <a:srgbClr val="E03A26"/>
                </a:solidFill>
              </a:rPr>
              <a:t>（80×C）</a:t>
            </a:r>
          </a:p>
        </p:txBody>
      </p:sp>
      <p:sp>
        <p:nvSpPr>
          <p:cNvPr id="268" name="SUMMER_E_out_p4_top"/>
          <p:cNvSpPr/>
          <p:nvPr/>
        </p:nvSpPr>
        <p:spPr>
          <a:xfrm>
            <a:off x="1127125" y="7175500"/>
            <a:ext cx="396875" cy="63500"/>
          </a:xfrm>
          <a:prstGeom prst="rect">
            <a:avLst/>
          </a:prstGeom>
          <a:solidFill>
            <a:srgbClr val="98E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9" name="SUMMER_E_out_p4_front"/>
          <p:cNvSpPr/>
          <p:nvPr/>
        </p:nvSpPr>
        <p:spPr>
          <a:xfrm>
            <a:off x="1127125" y="7239000"/>
            <a:ext cx="396875" cy="317500"/>
          </a:xfrm>
          <a:prstGeom prst="rect">
            <a:avLst/>
          </a:prstGeom>
          <a:solidFill>
            <a:srgbClr val="7CC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0" name="SUMMER_E_out_p4_right"/>
          <p:cNvSpPr/>
          <p:nvPr/>
        </p:nvSpPr>
        <p:spPr>
          <a:xfrm>
            <a:off x="1524000" y="7239000"/>
            <a:ext cx="63500" cy="317500"/>
          </a:xfrm>
          <a:prstGeom prst="rect">
            <a:avLst/>
          </a:prstGeom>
          <a:solidFill>
            <a:srgbClr val="509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1" name="SUMMER_E_out_p4_label"/>
          <p:cNvSpPr txBox="1"/>
          <p:nvPr/>
        </p:nvSpPr>
        <p:spPr>
          <a:xfrm>
            <a:off x="1031875" y="7604125"/>
            <a:ext cx="666750" cy="254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1C9454"/>
                </a:solidFill>
              </a:rPr>
              <a:t>P4</a:t>
            </a:r>
          </a:p>
          <a:p>
            <a:pPr algn="ctr"/>
            <a:r>
              <a:rPr sz="800" b="1">
                <a:solidFill>
                  <a:srgbClr val="1C9454"/>
                </a:solidFill>
              </a:rPr>
              <a:t>（40×C）</a:t>
            </a:r>
          </a:p>
        </p:txBody>
      </p:sp>
      <p:sp>
        <p:nvSpPr>
          <p:cNvPr id="272" name="SUMMER_E_out_p5_top"/>
          <p:cNvSpPr/>
          <p:nvPr/>
        </p:nvSpPr>
        <p:spPr>
          <a:xfrm>
            <a:off x="1793875" y="7239000"/>
            <a:ext cx="317500" cy="63500"/>
          </a:xfrm>
          <a:prstGeom prst="rect">
            <a:avLst/>
          </a:prstGeom>
          <a:solidFill>
            <a:srgbClr val="88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3" name="SUMMER_E_out_p5_front"/>
          <p:cNvSpPr/>
          <p:nvPr/>
        </p:nvSpPr>
        <p:spPr>
          <a:xfrm>
            <a:off x="1793875" y="7302500"/>
            <a:ext cx="317500" cy="254000"/>
          </a:xfrm>
          <a:prstGeom prst="rect">
            <a:avLst/>
          </a:prstGeom>
          <a:solidFill>
            <a:srgbClr val="6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4" name="SUMMER_E_out_p5_right"/>
          <p:cNvSpPr/>
          <p:nvPr/>
        </p:nvSpPr>
        <p:spPr>
          <a:xfrm>
            <a:off x="2111375" y="7302500"/>
            <a:ext cx="63500" cy="254000"/>
          </a:xfrm>
          <a:prstGeom prst="rect">
            <a:avLst/>
          </a:prstGeom>
          <a:solidFill>
            <a:srgbClr val="406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5" name="SUMMER_E_out_p5_label"/>
          <p:cNvSpPr txBox="1"/>
          <p:nvPr/>
        </p:nvSpPr>
        <p:spPr>
          <a:xfrm>
            <a:off x="1698625" y="7604125"/>
            <a:ext cx="587375" cy="254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2550D8"/>
                </a:solidFill>
              </a:rPr>
              <a:t>P5</a:t>
            </a:r>
          </a:p>
          <a:p>
            <a:pPr algn="ctr"/>
            <a:r>
              <a:rPr sz="800" b="1">
                <a:solidFill>
                  <a:srgbClr val="2550D8"/>
                </a:solidFill>
              </a:rPr>
              <a:t>（20×C）</a:t>
            </a:r>
          </a:p>
        </p:txBody>
      </p:sp>
      <p:sp>
        <p:nvSpPr>
          <p:cNvPr id="276" name="SUMMER_T_b2_title"/>
          <p:cNvSpPr txBox="1"/>
          <p:nvPr/>
        </p:nvSpPr>
        <p:spPr>
          <a:xfrm>
            <a:off x="2762250" y="6826250"/>
            <a:ext cx="430212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82C3C"/>
                </a:solidFill>
              </a:rPr>
              <a:t>输入到 RT-DETR Head</a:t>
            </a:r>
          </a:p>
        </p:txBody>
      </p:sp>
      <p:sp>
        <p:nvSpPr>
          <p:cNvPr id="277" name="SUMMER_T_b2_iou"/>
          <p:cNvSpPr txBox="1"/>
          <p:nvPr/>
        </p:nvSpPr>
        <p:spPr>
          <a:xfrm>
            <a:off x="3016250" y="7080250"/>
            <a:ext cx="1031875" cy="269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</a:rPr>
              <a:t>IoU-Aware</a:t>
            </a:r>
          </a:p>
          <a:p>
            <a:pPr algn="ctr"/>
            <a:r>
              <a:rPr sz="800" b="0">
                <a:solidFill>
                  <a:srgbClr val="282C3C"/>
                </a:solidFill>
              </a:rPr>
              <a:t>Query Selection</a:t>
            </a:r>
          </a:p>
        </p:txBody>
      </p:sp>
      <p:sp>
        <p:nvSpPr>
          <p:cNvPr id="278" name="SUMMER_E_b2_sq1_0"/>
          <p:cNvSpPr/>
          <p:nvPr/>
        </p:nvSpPr>
        <p:spPr>
          <a:xfrm>
            <a:off x="3063875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9" name="SUMMER_E_b2_sq1_1"/>
          <p:cNvSpPr/>
          <p:nvPr/>
        </p:nvSpPr>
        <p:spPr>
          <a:xfrm>
            <a:off x="3198812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0" name="SUMMER_E_b2_sq1_2"/>
          <p:cNvSpPr/>
          <p:nvPr/>
        </p:nvSpPr>
        <p:spPr>
          <a:xfrm>
            <a:off x="3333750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1" name="SUMMER_E_b2_sq1_3"/>
          <p:cNvSpPr/>
          <p:nvPr/>
        </p:nvSpPr>
        <p:spPr>
          <a:xfrm>
            <a:off x="3468687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2" name="SUMMER_E_b2_sq1_4"/>
          <p:cNvSpPr/>
          <p:nvPr/>
        </p:nvSpPr>
        <p:spPr>
          <a:xfrm>
            <a:off x="3603625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3" name="SUMMER_E_b2_sq1_5"/>
          <p:cNvSpPr/>
          <p:nvPr/>
        </p:nvSpPr>
        <p:spPr>
          <a:xfrm>
            <a:off x="3738562" y="7413625"/>
            <a:ext cx="95250" cy="95250"/>
          </a:xfrm>
          <a:prstGeom prst="rect">
            <a:avLst/>
          </a:prstGeom>
          <a:solidFill>
            <a:srgbClr val="967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4" name="SUMMER_E_b2_sq1_dots"/>
          <p:cNvSpPr txBox="1"/>
          <p:nvPr/>
        </p:nvSpPr>
        <p:spPr>
          <a:xfrm>
            <a:off x="3889375" y="7397750"/>
            <a:ext cx="238125" cy="12700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</a:rPr>
              <a:t>····</a:t>
            </a:r>
          </a:p>
        </p:txBody>
      </p:sp>
      <p:sp>
        <p:nvSpPr>
          <p:cNvPr id="285" name="SUMMER_T_b2_dec"/>
          <p:cNvSpPr txBox="1"/>
          <p:nvPr/>
        </p:nvSpPr>
        <p:spPr>
          <a:xfrm>
            <a:off x="4445000" y="6985000"/>
            <a:ext cx="1905000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50" b="0">
                <a:solidFill>
                  <a:srgbClr val="282C3C"/>
                </a:solidFill>
              </a:rPr>
              <a:t>Transformer Decoder × 6 层</a:t>
            </a:r>
          </a:p>
        </p:txBody>
      </p:sp>
      <p:sp>
        <p:nvSpPr>
          <p:cNvPr id="286" name="SUMMER_E_b2_sq2_0"/>
          <p:cNvSpPr/>
          <p:nvPr/>
        </p:nvSpPr>
        <p:spPr>
          <a:xfrm>
            <a:off x="4635500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7" name="SUMMER_E_b2_sq2_1"/>
          <p:cNvSpPr/>
          <p:nvPr/>
        </p:nvSpPr>
        <p:spPr>
          <a:xfrm>
            <a:off x="4833937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8" name="SUMMER_E_b2_sq2_2"/>
          <p:cNvSpPr/>
          <p:nvPr/>
        </p:nvSpPr>
        <p:spPr>
          <a:xfrm>
            <a:off x="5032375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9" name="SUMMER_E_b2_sq2_3"/>
          <p:cNvSpPr/>
          <p:nvPr/>
        </p:nvSpPr>
        <p:spPr>
          <a:xfrm>
            <a:off x="5230812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0" name="SUMMER_E_b2_sq2_4"/>
          <p:cNvSpPr/>
          <p:nvPr/>
        </p:nvSpPr>
        <p:spPr>
          <a:xfrm>
            <a:off x="5429250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1" name="SUMMER_E_b2_sq2_dots"/>
          <p:cNvSpPr txBox="1"/>
          <p:nvPr/>
        </p:nvSpPr>
        <p:spPr>
          <a:xfrm>
            <a:off x="5643562" y="7302500"/>
            <a:ext cx="23812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</a:rPr>
              <a:t>····</a:t>
            </a:r>
          </a:p>
        </p:txBody>
      </p:sp>
      <p:sp>
        <p:nvSpPr>
          <p:cNvPr id="292" name="SUMMER_T_b2_dots2"/>
          <p:cNvSpPr txBox="1"/>
          <p:nvPr/>
        </p:nvSpPr>
        <p:spPr>
          <a:xfrm>
            <a:off x="5889625" y="7318375"/>
            <a:ext cx="31750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900" b="1">
                <a:solidFill>
                  <a:srgbClr val="787E8C"/>
                </a:solidFill>
              </a:rPr>
              <a:t>····</a:t>
            </a:r>
          </a:p>
        </p:txBody>
      </p:sp>
      <p:sp>
        <p:nvSpPr>
          <p:cNvPr id="293" name="SUMMER_E_b2_last"/>
          <p:cNvSpPr/>
          <p:nvPr/>
        </p:nvSpPr>
        <p:spPr>
          <a:xfrm>
            <a:off x="6286500" y="7318375"/>
            <a:ext cx="127000" cy="127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4" name="SUMMER_L_b2_flow"/>
          <p:cNvCxnSpPr/>
          <p:nvPr/>
        </p:nvCxnSpPr>
        <p:spPr>
          <a:xfrm>
            <a:off x="4095750" y="7381875"/>
            <a:ext cx="539750" cy="0"/>
          </a:xfrm>
          <a:prstGeom prst="line">
            <a:avLst/>
          </a:prstGeom>
          <a:ln w="15240">
            <a:solidFill>
              <a:srgbClr val="282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UMMER_L_b1_b2"/>
          <p:cNvCxnSpPr/>
          <p:nvPr/>
        </p:nvCxnSpPr>
        <p:spPr>
          <a:xfrm>
            <a:off x="2651125" y="7413625"/>
            <a:ext cx="111125" cy="0"/>
          </a:xfrm>
          <a:prstGeom prst="line">
            <a:avLst/>
          </a:prstGeom>
          <a:ln w="31750">
            <a:solidFill>
              <a:srgbClr val="2550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UMMER_L_b2_b3"/>
          <p:cNvCxnSpPr/>
          <p:nvPr/>
        </p:nvCxnSpPr>
        <p:spPr>
          <a:xfrm>
            <a:off x="7064375" y="7413625"/>
            <a:ext cx="142875" cy="0"/>
          </a:xfrm>
          <a:prstGeom prst="line">
            <a:avLst/>
          </a:prstGeom>
          <a:ln w="31750">
            <a:solidFill>
              <a:srgbClr val="2550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SUMMER_T_b3_title"/>
          <p:cNvSpPr txBox="1"/>
          <p:nvPr/>
        </p:nvSpPr>
        <p:spPr>
          <a:xfrm>
            <a:off x="7207250" y="6826250"/>
            <a:ext cx="17938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82C3C"/>
                </a:solidFill>
              </a:rPr>
              <a:t>检测结果</a:t>
            </a:r>
          </a:p>
        </p:txBody>
      </p:sp>
      <p:sp>
        <p:nvSpPr>
          <p:cNvPr id="298" name="SUMMER_E_b3_bars_0"/>
          <p:cNvSpPr/>
          <p:nvPr/>
        </p:nvSpPr>
        <p:spPr>
          <a:xfrm>
            <a:off x="7429500" y="7223125"/>
            <a:ext cx="55562" cy="1428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9" name="SUMMER_E_b3_bars_1"/>
          <p:cNvSpPr/>
          <p:nvPr/>
        </p:nvSpPr>
        <p:spPr>
          <a:xfrm>
            <a:off x="7508875" y="7127875"/>
            <a:ext cx="55562" cy="23812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0" name="SUMMER_E_b3_bars_2"/>
          <p:cNvSpPr/>
          <p:nvPr/>
        </p:nvSpPr>
        <p:spPr>
          <a:xfrm>
            <a:off x="7588250" y="7270750"/>
            <a:ext cx="55562" cy="9525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1" name="SUMMER_E_b3_bars_3"/>
          <p:cNvSpPr/>
          <p:nvPr/>
        </p:nvSpPr>
        <p:spPr>
          <a:xfrm>
            <a:off x="7667625" y="7175500"/>
            <a:ext cx="55562" cy="19050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2" name="SUMMER_T_b3_bars"/>
          <p:cNvSpPr txBox="1"/>
          <p:nvPr/>
        </p:nvSpPr>
        <p:spPr>
          <a:xfrm>
            <a:off x="7270750" y="7508875"/>
            <a:ext cx="793750" cy="14287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</a:rPr>
              <a:t>类别概率</a:t>
            </a:r>
          </a:p>
        </p:txBody>
      </p:sp>
      <p:sp>
        <p:nvSpPr>
          <p:cNvPr id="303" name="SUMMER_E_b3_box1"/>
          <p:cNvSpPr/>
          <p:nvPr/>
        </p:nvSpPr>
        <p:spPr>
          <a:xfrm>
            <a:off x="8175625" y="7080250"/>
            <a:ext cx="365125" cy="285750"/>
          </a:xfrm>
          <a:prstGeom prst="rect">
            <a:avLst/>
          </a:prstGeom>
          <a:noFill/>
          <a:ln w="1524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4" name="SUMMER_E_b3_box2"/>
          <p:cNvSpPr/>
          <p:nvPr/>
        </p:nvSpPr>
        <p:spPr>
          <a:xfrm>
            <a:off x="8318500" y="7207250"/>
            <a:ext cx="365125" cy="285750"/>
          </a:xfrm>
          <a:prstGeom prst="rect">
            <a:avLst/>
          </a:prstGeom>
          <a:noFill/>
          <a:ln w="1524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5" name="SUMMER_T_b3_box"/>
          <p:cNvSpPr txBox="1"/>
          <p:nvPr/>
        </p:nvSpPr>
        <p:spPr>
          <a:xfrm>
            <a:off x="8016875" y="7508875"/>
            <a:ext cx="952500" cy="2381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</a:rPr>
              <a:t>归一化边界</a:t>
            </a:r>
          </a:p>
          <a:p>
            <a:pPr algn="ctr"/>
            <a:r>
              <a:rPr sz="750" b="0">
                <a:solidFill>
                  <a:srgbClr val="282C3C"/>
                </a:solidFill>
              </a:rPr>
              <a:t>框坐标</a:t>
            </a:r>
          </a:p>
        </p:txBody>
      </p:sp>
      <p:sp>
        <p:nvSpPr>
          <p:cNvPr id="306" name="SUMMER_T_b4_title"/>
          <p:cNvSpPr txBox="1"/>
          <p:nvPr/>
        </p:nvSpPr>
        <p:spPr>
          <a:xfrm>
            <a:off x="9112250" y="6826250"/>
            <a:ext cx="3000375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</a:rPr>
              <a:t>三模块协同优势</a:t>
            </a:r>
          </a:p>
        </p:txBody>
      </p:sp>
      <p:sp>
        <p:nvSpPr>
          <p:cNvPr id="307" name="SUMMER_E_b4_icon0"/>
          <p:cNvSpPr/>
          <p:nvPr/>
        </p:nvSpPr>
        <p:spPr>
          <a:xfrm>
            <a:off x="9286875" y="7048500"/>
            <a:ext cx="158750" cy="158750"/>
          </a:xfrm>
          <a:prstGeom prst="ellipse">
            <a:avLst/>
          </a:prstGeom>
          <a:solidFill>
            <a:srgbClr val="255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UMMER_E_b4_icon0_text"/>
          <p:cNvSpPr txBox="1"/>
          <p:nvPr/>
        </p:nvSpPr>
        <p:spPr>
          <a:xfrm>
            <a:off x="9286875" y="704850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9" name="SUMMER_T_b4_head0"/>
          <p:cNvSpPr txBox="1"/>
          <p:nvPr/>
        </p:nvSpPr>
        <p:spPr>
          <a:xfrm>
            <a:off x="9525000" y="7048500"/>
            <a:ext cx="55562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1">
                <a:solidFill>
                  <a:srgbClr val="2550D8"/>
                </a:solidFill>
              </a:rPr>
              <a:t>更精细：</a:t>
            </a:r>
          </a:p>
        </p:txBody>
      </p:sp>
      <p:sp>
        <p:nvSpPr>
          <p:cNvPr id="310" name="SUMMER_T_b4_tail0"/>
          <p:cNvSpPr txBox="1"/>
          <p:nvPr/>
        </p:nvSpPr>
        <p:spPr>
          <a:xfrm>
            <a:off x="10064750" y="7048500"/>
            <a:ext cx="198437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保留小目标细粒度特征</a:t>
            </a:r>
          </a:p>
        </p:txBody>
      </p:sp>
      <p:sp>
        <p:nvSpPr>
          <p:cNvPr id="311" name="SUMMER_E_b4_icon1"/>
          <p:cNvSpPr/>
          <p:nvPr/>
        </p:nvSpPr>
        <p:spPr>
          <a:xfrm>
            <a:off x="9286875" y="7366000"/>
            <a:ext cx="158750" cy="158750"/>
          </a:xfrm>
          <a:prstGeom prst="ellipse">
            <a:avLst/>
          </a:prstGeom>
          <a:solidFill>
            <a:srgbClr val="1C9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UMMER_E_b4_icon1_text"/>
          <p:cNvSpPr txBox="1"/>
          <p:nvPr/>
        </p:nvSpPr>
        <p:spPr>
          <a:xfrm>
            <a:off x="9286875" y="736600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3" name="SUMMER_T_b4_head1"/>
          <p:cNvSpPr txBox="1"/>
          <p:nvPr/>
        </p:nvSpPr>
        <p:spPr>
          <a:xfrm>
            <a:off x="9525000" y="7366000"/>
            <a:ext cx="55562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1">
                <a:solidFill>
                  <a:srgbClr val="1C9454"/>
                </a:solidFill>
              </a:rPr>
              <a:t>更鲁棒：</a:t>
            </a:r>
          </a:p>
        </p:txBody>
      </p:sp>
      <p:sp>
        <p:nvSpPr>
          <p:cNvPr id="314" name="SUMMER_T_b4_tail1"/>
          <p:cNvSpPr txBox="1"/>
          <p:nvPr/>
        </p:nvSpPr>
        <p:spPr>
          <a:xfrm>
            <a:off x="10064750" y="7366000"/>
            <a:ext cx="198437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增强方向性缺陷感知</a:t>
            </a:r>
          </a:p>
        </p:txBody>
      </p:sp>
      <p:sp>
        <p:nvSpPr>
          <p:cNvPr id="315" name="SUMMER_E_b4_icon2"/>
          <p:cNvSpPr/>
          <p:nvPr/>
        </p:nvSpPr>
        <p:spPr>
          <a:xfrm>
            <a:off x="9286875" y="7683500"/>
            <a:ext cx="158750" cy="158750"/>
          </a:xfrm>
          <a:prstGeom prst="ellipse">
            <a:avLst/>
          </a:prstGeom>
          <a:solidFill>
            <a:srgbClr val="E0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UMMER_E_b4_icon2_text"/>
          <p:cNvSpPr txBox="1"/>
          <p:nvPr/>
        </p:nvSpPr>
        <p:spPr>
          <a:xfrm>
            <a:off x="9286875" y="7683500"/>
            <a:ext cx="158750" cy="158750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7" name="SUMMER_T_b4_head2"/>
          <p:cNvSpPr txBox="1"/>
          <p:nvPr/>
        </p:nvSpPr>
        <p:spPr>
          <a:xfrm>
            <a:off x="9525000" y="7683500"/>
            <a:ext cx="55562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1">
                <a:solidFill>
                  <a:srgbClr val="E03A26"/>
                </a:solidFill>
              </a:rPr>
              <a:t>更高效：</a:t>
            </a:r>
          </a:p>
        </p:txBody>
      </p:sp>
      <p:sp>
        <p:nvSpPr>
          <p:cNvPr id="318" name="SUMMER_T_b4_tail2"/>
          <p:cNvSpPr txBox="1"/>
          <p:nvPr/>
        </p:nvSpPr>
        <p:spPr>
          <a:xfrm>
            <a:off x="10064750" y="7683500"/>
            <a:ext cx="1984375" cy="174625"/>
          </a:xfrm>
          <a:prstGeom prst="rect">
            <a:avLst/>
          </a:prstGeom>
          <a:noFill/>
        </p:spPr>
        <p:txBody>
          <a:bodyPr wrap="square" anchor="ctr" lIns="9525" rIns="9525" tIns="4762" bIns="4762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</a:rPr>
              <a:t>自适应融合多尺度特征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